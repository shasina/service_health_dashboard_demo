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72" r:id="rId3"/>
    <p:sldId id="259" r:id="rId4"/>
    <p:sldId id="262" r:id="rId5"/>
    <p:sldId id="263" r:id="rId6"/>
    <p:sldId id="265" r:id="rId7"/>
    <p:sldId id="264" r:id="rId8"/>
    <p:sldId id="267" r:id="rId9"/>
    <p:sldId id="266" r:id="rId10"/>
    <p:sldId id="268" r:id="rId11"/>
    <p:sldId id="270" r:id="rId12"/>
    <p:sldId id="258" r:id="rId13"/>
    <p:sldId id="260" r:id="rId14"/>
    <p:sldId id="261"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napToObjects="1">
      <p:cViewPr varScale="1">
        <p:scale>
          <a:sx n="71" d="100"/>
          <a:sy n="71" d="100"/>
        </p:scale>
        <p:origin x="7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1502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5022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5999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56958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6488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4966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5875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3269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18585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4008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8237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6038290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40080" y="1051560"/>
            <a:ext cx="128016" cy="128016"/>
          </a:xfrm>
          <a:prstGeom prst="ellipse">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77824" y="1005840"/>
            <a:ext cx="5486400" cy="274320"/>
          </a:xfrm>
          <a:prstGeom prst="rect">
            <a:avLst/>
          </a:prstGeom>
          <a:noFill/>
        </p:spPr>
        <p:txBody>
          <a:bodyPr wrap="square" lIns="0" tIns="0" rIns="0" bIns="0" anchor="t">
            <a:spAutoFit/>
          </a:bodyPr>
          <a:lstStyle/>
          <a:p>
            <a:pPr algn="l">
              <a:lnSpc>
                <a:spcPct val="100000"/>
              </a:lnSpc>
            </a:pPr>
            <a:r>
              <a:rPr sz="1100" b="0" i="0" spc="80" dirty="0">
                <a:solidFill>
                  <a:srgbClr val="8A97A2"/>
                </a:solidFill>
                <a:latin typeface="Consolas"/>
              </a:rPr>
              <a:t>SERVICE-HEALTH-DASHBOARD · LIVE IN KIND</a:t>
            </a:r>
          </a:p>
        </p:txBody>
      </p:sp>
      <p:sp>
        <p:nvSpPr>
          <p:cNvPr id="5" name="TextBox 4"/>
          <p:cNvSpPr txBox="1"/>
          <p:nvPr/>
        </p:nvSpPr>
        <p:spPr>
          <a:xfrm>
            <a:off x="640080" y="2377440"/>
            <a:ext cx="10515600" cy="1463040"/>
          </a:xfrm>
          <a:prstGeom prst="rect">
            <a:avLst/>
          </a:prstGeom>
          <a:noFill/>
        </p:spPr>
        <p:txBody>
          <a:bodyPr wrap="square" lIns="0" tIns="0" rIns="0" bIns="0" anchor="t">
            <a:spAutoFit/>
          </a:bodyPr>
          <a:lstStyle/>
          <a:p>
            <a:pPr algn="l">
              <a:lnSpc>
                <a:spcPct val="100000"/>
              </a:lnSpc>
            </a:pPr>
            <a:r>
              <a:rPr sz="4400" b="1" i="0" dirty="0">
                <a:solidFill>
                  <a:srgbClr val="16212C"/>
                </a:solidFill>
                <a:latin typeface="Consolas"/>
              </a:rPr>
              <a:t>Service Health Dashboard</a:t>
            </a:r>
          </a:p>
        </p:txBody>
      </p:sp>
      <p:sp>
        <p:nvSpPr>
          <p:cNvPr id="6" name="TextBox 5"/>
          <p:cNvSpPr txBox="1"/>
          <p:nvPr/>
        </p:nvSpPr>
        <p:spPr>
          <a:xfrm>
            <a:off x="640080" y="3520440"/>
            <a:ext cx="8686800" cy="934871"/>
          </a:xfrm>
          <a:prstGeom prst="rect">
            <a:avLst/>
          </a:prstGeom>
          <a:noFill/>
        </p:spPr>
        <p:txBody>
          <a:bodyPr wrap="square" lIns="0" tIns="0" rIns="0" bIns="0" anchor="t">
            <a:spAutoFit/>
          </a:bodyPr>
          <a:lstStyle/>
          <a:p>
            <a:pPr algn="l">
              <a:lnSpc>
                <a:spcPct val="135000"/>
              </a:lnSpc>
            </a:pPr>
            <a:r>
              <a:rPr sz="1500" b="0" i="0" dirty="0">
                <a:solidFill>
                  <a:srgbClr val="5B6B78"/>
                </a:solidFill>
                <a:latin typeface="Calibri"/>
              </a:rPr>
              <a:t>A concurrent, timeout-bounded health-check platform for three downstream services — </a:t>
            </a:r>
            <a:r>
              <a:rPr sz="1500" b="0" i="0" dirty="0" smtClean="0">
                <a:solidFill>
                  <a:srgbClr val="5B6B78"/>
                </a:solidFill>
                <a:latin typeface="Calibri"/>
              </a:rPr>
              <a:t> </a:t>
            </a:r>
            <a:r>
              <a:rPr sz="1500" b="0" i="0" dirty="0">
                <a:solidFill>
                  <a:srgbClr val="5B6B78"/>
                </a:solidFill>
                <a:latin typeface="Calibri"/>
              </a:rPr>
              <a:t>containerized, deployed to Kubernetes behind an </a:t>
            </a:r>
            <a:r>
              <a:rPr sz="1500" b="0" i="0" dirty="0" err="1">
                <a:solidFill>
                  <a:srgbClr val="5B6B78"/>
                </a:solidFill>
                <a:latin typeface="Calibri"/>
              </a:rPr>
              <a:t>Istio</a:t>
            </a:r>
            <a:r>
              <a:rPr sz="1500" b="0" i="0" dirty="0">
                <a:solidFill>
                  <a:srgbClr val="5B6B78"/>
                </a:solidFill>
                <a:latin typeface="Calibri"/>
              </a:rPr>
              <a:t> mesh, provisioned with Terraform, and gated by a three-workflow security pipeline.</a:t>
            </a:r>
          </a:p>
        </p:txBody>
      </p:sp>
      <p:sp>
        <p:nvSpPr>
          <p:cNvPr id="7" name="TextBox 6"/>
          <p:cNvSpPr txBox="1"/>
          <p:nvPr/>
        </p:nvSpPr>
        <p:spPr>
          <a:xfrm>
            <a:off x="640080" y="5806440"/>
            <a:ext cx="2468880" cy="274320"/>
          </a:xfrm>
          <a:prstGeom prst="rect">
            <a:avLst/>
          </a:prstGeom>
          <a:noFill/>
        </p:spPr>
        <p:txBody>
          <a:bodyPr wrap="square" lIns="0" tIns="0" rIns="0" bIns="0" anchor="t">
            <a:spAutoFit/>
          </a:bodyPr>
          <a:lstStyle/>
          <a:p>
            <a:pPr algn="l">
              <a:lnSpc>
                <a:spcPct val="100000"/>
              </a:lnSpc>
            </a:pPr>
            <a:r>
              <a:rPr sz="950" b="0" i="0" spc="70">
                <a:solidFill>
                  <a:srgbClr val="8A97A2"/>
                </a:solidFill>
                <a:latin typeface="Consolas"/>
              </a:rPr>
              <a:t>BACKEND</a:t>
            </a:r>
          </a:p>
        </p:txBody>
      </p:sp>
      <p:sp>
        <p:nvSpPr>
          <p:cNvPr id="8" name="TextBox 7"/>
          <p:cNvSpPr txBox="1"/>
          <p:nvPr/>
        </p:nvSpPr>
        <p:spPr>
          <a:xfrm>
            <a:off x="640080" y="6053328"/>
            <a:ext cx="2468880" cy="365760"/>
          </a:xfrm>
          <a:prstGeom prst="rect">
            <a:avLst/>
          </a:prstGeom>
          <a:noFill/>
        </p:spPr>
        <p:txBody>
          <a:bodyPr wrap="square" lIns="0" tIns="0" rIns="0" bIns="0" anchor="t">
            <a:spAutoFit/>
          </a:bodyPr>
          <a:lstStyle/>
          <a:p>
            <a:pPr algn="l">
              <a:lnSpc>
                <a:spcPct val="100000"/>
              </a:lnSpc>
            </a:pPr>
            <a:r>
              <a:rPr sz="1250" b="1" i="0">
                <a:solidFill>
                  <a:srgbClr val="16212C"/>
                </a:solidFill>
                <a:latin typeface="Calibri"/>
              </a:rPr>
              <a:t>FastAPI / Python 3.12</a:t>
            </a:r>
          </a:p>
        </p:txBody>
      </p:sp>
      <p:sp>
        <p:nvSpPr>
          <p:cNvPr id="9" name="TextBox 8"/>
          <p:cNvSpPr txBox="1"/>
          <p:nvPr/>
        </p:nvSpPr>
        <p:spPr>
          <a:xfrm>
            <a:off x="3246120" y="5806440"/>
            <a:ext cx="2468880" cy="274320"/>
          </a:xfrm>
          <a:prstGeom prst="rect">
            <a:avLst/>
          </a:prstGeom>
          <a:noFill/>
        </p:spPr>
        <p:txBody>
          <a:bodyPr wrap="square" lIns="0" tIns="0" rIns="0" bIns="0" anchor="t">
            <a:spAutoFit/>
          </a:bodyPr>
          <a:lstStyle/>
          <a:p>
            <a:pPr algn="l">
              <a:lnSpc>
                <a:spcPct val="100000"/>
              </a:lnSpc>
            </a:pPr>
            <a:r>
              <a:rPr sz="950" b="0" i="0" spc="70">
                <a:solidFill>
                  <a:srgbClr val="8A97A2"/>
                </a:solidFill>
                <a:latin typeface="Consolas"/>
              </a:rPr>
              <a:t>FRONTEND</a:t>
            </a:r>
          </a:p>
        </p:txBody>
      </p:sp>
      <p:sp>
        <p:nvSpPr>
          <p:cNvPr id="10" name="TextBox 9"/>
          <p:cNvSpPr txBox="1"/>
          <p:nvPr/>
        </p:nvSpPr>
        <p:spPr>
          <a:xfrm>
            <a:off x="3246120" y="6053328"/>
            <a:ext cx="2468880" cy="365760"/>
          </a:xfrm>
          <a:prstGeom prst="rect">
            <a:avLst/>
          </a:prstGeom>
          <a:noFill/>
        </p:spPr>
        <p:txBody>
          <a:bodyPr wrap="square" lIns="0" tIns="0" rIns="0" bIns="0" anchor="t">
            <a:spAutoFit/>
          </a:bodyPr>
          <a:lstStyle/>
          <a:p>
            <a:pPr algn="l">
              <a:lnSpc>
                <a:spcPct val="100000"/>
              </a:lnSpc>
            </a:pPr>
            <a:r>
              <a:rPr sz="1250" b="1" i="0">
                <a:solidFill>
                  <a:srgbClr val="16212C"/>
                </a:solidFill>
                <a:latin typeface="Calibri"/>
              </a:rPr>
              <a:t>React + TypeScript</a:t>
            </a:r>
          </a:p>
        </p:txBody>
      </p:sp>
      <p:sp>
        <p:nvSpPr>
          <p:cNvPr id="11" name="TextBox 10"/>
          <p:cNvSpPr txBox="1"/>
          <p:nvPr/>
        </p:nvSpPr>
        <p:spPr>
          <a:xfrm>
            <a:off x="5852160" y="5806440"/>
            <a:ext cx="2468880" cy="274320"/>
          </a:xfrm>
          <a:prstGeom prst="rect">
            <a:avLst/>
          </a:prstGeom>
          <a:noFill/>
        </p:spPr>
        <p:txBody>
          <a:bodyPr wrap="square" lIns="0" tIns="0" rIns="0" bIns="0" anchor="t">
            <a:spAutoFit/>
          </a:bodyPr>
          <a:lstStyle/>
          <a:p>
            <a:pPr algn="l">
              <a:lnSpc>
                <a:spcPct val="100000"/>
              </a:lnSpc>
            </a:pPr>
            <a:r>
              <a:rPr sz="950" b="0" i="0" spc="70">
                <a:solidFill>
                  <a:srgbClr val="8A97A2"/>
                </a:solidFill>
                <a:latin typeface="Consolas"/>
              </a:rPr>
              <a:t>PLATFORM</a:t>
            </a:r>
          </a:p>
        </p:txBody>
      </p:sp>
      <p:sp>
        <p:nvSpPr>
          <p:cNvPr id="12" name="TextBox 11"/>
          <p:cNvSpPr txBox="1"/>
          <p:nvPr/>
        </p:nvSpPr>
        <p:spPr>
          <a:xfrm>
            <a:off x="5852160" y="6053328"/>
            <a:ext cx="2468880" cy="365760"/>
          </a:xfrm>
          <a:prstGeom prst="rect">
            <a:avLst/>
          </a:prstGeom>
          <a:noFill/>
        </p:spPr>
        <p:txBody>
          <a:bodyPr wrap="square" lIns="0" tIns="0" rIns="0" bIns="0" anchor="t">
            <a:spAutoFit/>
          </a:bodyPr>
          <a:lstStyle/>
          <a:p>
            <a:pPr algn="l">
              <a:lnSpc>
                <a:spcPct val="100000"/>
              </a:lnSpc>
            </a:pPr>
            <a:r>
              <a:rPr sz="1250" b="1" i="0">
                <a:solidFill>
                  <a:srgbClr val="16212C"/>
                </a:solidFill>
                <a:latin typeface="Calibri"/>
              </a:rPr>
              <a:t>kind · Terraform · Istio</a:t>
            </a:r>
          </a:p>
        </p:txBody>
      </p:sp>
      <p:sp>
        <p:nvSpPr>
          <p:cNvPr id="13" name="TextBox 12"/>
          <p:cNvSpPr txBox="1"/>
          <p:nvPr/>
        </p:nvSpPr>
        <p:spPr>
          <a:xfrm>
            <a:off x="8458200" y="5806440"/>
            <a:ext cx="2468880" cy="274320"/>
          </a:xfrm>
          <a:prstGeom prst="rect">
            <a:avLst/>
          </a:prstGeom>
          <a:noFill/>
        </p:spPr>
        <p:txBody>
          <a:bodyPr wrap="square" lIns="0" tIns="0" rIns="0" bIns="0" anchor="t">
            <a:spAutoFit/>
          </a:bodyPr>
          <a:lstStyle/>
          <a:p>
            <a:pPr algn="l">
              <a:lnSpc>
                <a:spcPct val="100000"/>
              </a:lnSpc>
            </a:pPr>
            <a:r>
              <a:rPr sz="950" b="0" i="0" spc="70">
                <a:solidFill>
                  <a:srgbClr val="8A97A2"/>
                </a:solidFill>
                <a:latin typeface="Consolas"/>
              </a:rPr>
              <a:t>PIPELINE</a:t>
            </a:r>
          </a:p>
        </p:txBody>
      </p:sp>
      <p:sp>
        <p:nvSpPr>
          <p:cNvPr id="14" name="TextBox 13"/>
          <p:cNvSpPr txBox="1"/>
          <p:nvPr/>
        </p:nvSpPr>
        <p:spPr>
          <a:xfrm>
            <a:off x="8458200" y="6053328"/>
            <a:ext cx="2468880" cy="365760"/>
          </a:xfrm>
          <a:prstGeom prst="rect">
            <a:avLst/>
          </a:prstGeom>
          <a:noFill/>
        </p:spPr>
        <p:txBody>
          <a:bodyPr wrap="square" lIns="0" tIns="0" rIns="0" bIns="0" anchor="t">
            <a:spAutoFit/>
          </a:bodyPr>
          <a:lstStyle/>
          <a:p>
            <a:pPr algn="l">
              <a:lnSpc>
                <a:spcPct val="100000"/>
              </a:lnSpc>
            </a:pPr>
            <a:r>
              <a:rPr sz="1250" b="1" i="0">
                <a:solidFill>
                  <a:srgbClr val="16212C"/>
                </a:solidFill>
                <a:latin typeface="Calibri"/>
              </a:rPr>
              <a:t>GitHub Actions, 3 workflows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Platform Summary</a:t>
            </a:r>
            <a:endParaRPr lang="en-IN" dirty="0"/>
          </a:p>
        </p:txBody>
      </p:sp>
      <p:sp>
        <p:nvSpPr>
          <p:cNvPr id="3" name="Content Placeholder 2"/>
          <p:cNvSpPr>
            <a:spLocks noGrp="1"/>
          </p:cNvSpPr>
          <p:nvPr>
            <p:ph idx="1"/>
          </p:nvPr>
        </p:nvSpPr>
        <p:spPr>
          <a:xfrm>
            <a:off x="457199" y="1600200"/>
            <a:ext cx="10825089" cy="4525963"/>
          </a:xfrm>
        </p:spPr>
        <p:txBody>
          <a:bodyPr>
            <a:normAutofit fontScale="70000" lnSpcReduction="20000"/>
          </a:bodyPr>
          <a:lstStyle/>
          <a:p>
            <a:r>
              <a:rPr lang="en-US" dirty="0" smtClean="0"/>
              <a:t>Page </a:t>
            </a:r>
            <a:r>
              <a:rPr lang="en-US" dirty="0"/>
              <a:t>load or Refresh click → </a:t>
            </a:r>
            <a:r>
              <a:rPr lang="en-US" dirty="0" err="1"/>
              <a:t>App.tsx</a:t>
            </a:r>
            <a:r>
              <a:rPr lang="en-US" dirty="0"/>
              <a:t> calls load(), which calls </a:t>
            </a:r>
            <a:r>
              <a:rPr lang="en-US" dirty="0" err="1"/>
              <a:t>fetchHealth</a:t>
            </a:r>
            <a:r>
              <a:rPr lang="en-US" dirty="0"/>
              <a:t>() in healthClient.ts:5, which does fetch("/</a:t>
            </a:r>
            <a:r>
              <a:rPr lang="en-US" dirty="0" err="1"/>
              <a:t>api</a:t>
            </a:r>
            <a:r>
              <a:rPr lang="en-US" dirty="0"/>
              <a:t>/health").</a:t>
            </a:r>
          </a:p>
          <a:p>
            <a:r>
              <a:rPr lang="en-US" dirty="0" smtClean="0"/>
              <a:t>Browser </a:t>
            </a:r>
            <a:r>
              <a:rPr lang="en-US" dirty="0"/>
              <a:t>→ frontend </a:t>
            </a:r>
            <a:r>
              <a:rPr lang="en-US" dirty="0" err="1"/>
              <a:t>nginx</a:t>
            </a:r>
            <a:r>
              <a:rPr lang="en-US" dirty="0"/>
              <a:t>: that request hits </a:t>
            </a:r>
            <a:r>
              <a:rPr lang="en-US" dirty="0" err="1"/>
              <a:t>nginx</a:t>
            </a:r>
            <a:r>
              <a:rPr lang="en-US" dirty="0"/>
              <a:t> (frontend/nginx.conf:11), which reverse-proxies /</a:t>
            </a:r>
            <a:r>
              <a:rPr lang="en-US" dirty="0" err="1"/>
              <a:t>api</a:t>
            </a:r>
            <a:r>
              <a:rPr lang="en-US" dirty="0"/>
              <a:t>/ straight through to the backend Service — the browser only ever talks to its own origin (localhost:8080), never to the backend directly.</a:t>
            </a:r>
          </a:p>
          <a:p>
            <a:r>
              <a:rPr lang="en-US" dirty="0" smtClean="0"/>
              <a:t>Frontend </a:t>
            </a:r>
            <a:r>
              <a:rPr lang="en-US" dirty="0"/>
              <a:t>→ backend: the </a:t>
            </a:r>
            <a:r>
              <a:rPr lang="en-US" dirty="0" err="1"/>
              <a:t>backend's</a:t>
            </a:r>
            <a:r>
              <a:rPr lang="en-US" dirty="0"/>
              <a:t> /</a:t>
            </a:r>
            <a:r>
              <a:rPr lang="en-US" dirty="0" err="1"/>
              <a:t>api</a:t>
            </a:r>
            <a:r>
              <a:rPr lang="en-US" dirty="0"/>
              <a:t>/health route (backend/app/routers/health.py:9-14) receives the request and calls </a:t>
            </a:r>
            <a:r>
              <a:rPr lang="en-US" dirty="0" err="1"/>
              <a:t>check_all_services</a:t>
            </a:r>
            <a:r>
              <a:rPr lang="en-US" dirty="0"/>
              <a:t>().</a:t>
            </a:r>
          </a:p>
          <a:p>
            <a:r>
              <a:rPr lang="en-US" dirty="0" smtClean="0"/>
              <a:t>Backend </a:t>
            </a:r>
            <a:r>
              <a:rPr lang="en-US" dirty="0"/>
              <a:t>→ all 3 mocks, concurrently, not sequentially: health_checker.py:47-54 fires GET /health at user-service, order-service, and payment-service all at once via </a:t>
            </a:r>
            <a:r>
              <a:rPr lang="en-US" dirty="0" err="1"/>
              <a:t>asyncio.gather</a:t>
            </a:r>
            <a:r>
              <a:rPr lang="en-US" dirty="0"/>
              <a:t>, each with its own 5-second timeout. It does not wait for one to finish before starting the next.</a:t>
            </a:r>
          </a:p>
          <a:p>
            <a:r>
              <a:rPr lang="en-US" dirty="0" smtClean="0"/>
              <a:t>Aggregation</a:t>
            </a:r>
            <a:r>
              <a:rPr lang="en-US" dirty="0"/>
              <a:t>: as each mock responds (or times out / refuses / errors), the backend classifies the result — UP with a latency number, or DOWN with a specific reason (Timeout, Connection refused, HTTP 5xx).</a:t>
            </a:r>
          </a:p>
          <a:p>
            <a:r>
              <a:rPr lang="en-US" dirty="0" smtClean="0"/>
              <a:t>Backend </a:t>
            </a:r>
            <a:r>
              <a:rPr lang="en-US" dirty="0"/>
              <a:t>→ frontend: one JSON response (</a:t>
            </a:r>
            <a:r>
              <a:rPr lang="en-US" dirty="0" err="1"/>
              <a:t>HealthReport</a:t>
            </a:r>
            <a:r>
              <a:rPr lang="en-US" dirty="0"/>
              <a:t>) goes back down through </a:t>
            </a:r>
            <a:r>
              <a:rPr lang="en-US" dirty="0" err="1"/>
              <a:t>nginx</a:t>
            </a:r>
            <a:r>
              <a:rPr lang="en-US" dirty="0"/>
              <a:t> to the browser.</a:t>
            </a:r>
          </a:p>
          <a:p>
            <a:r>
              <a:rPr lang="en-US" dirty="0" smtClean="0"/>
              <a:t>Render</a:t>
            </a:r>
            <a:r>
              <a:rPr lang="en-US" dirty="0"/>
              <a:t>: </a:t>
            </a:r>
            <a:r>
              <a:rPr lang="en-US" dirty="0" err="1"/>
              <a:t>ServiceTable.tsx</a:t>
            </a:r>
            <a:r>
              <a:rPr lang="en-US" dirty="0"/>
              <a:t> renders the three rows.</a:t>
            </a:r>
            <a:endParaRPr lang="en-IN" dirty="0"/>
          </a:p>
        </p:txBody>
      </p:sp>
    </p:spTree>
    <p:extLst>
      <p:ext uri="{BB962C8B-B14F-4D97-AF65-F5344CB8AC3E}">
        <p14:creationId xmlns:p14="http://schemas.microsoft.com/office/powerpoint/2010/main" val="1995604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2688" y="457200"/>
            <a:ext cx="8229600" cy="320040"/>
          </a:xfrm>
          <a:prstGeom prst="rect">
            <a:avLst/>
          </a:prstGeom>
          <a:noFill/>
        </p:spPr>
        <p:txBody>
          <a:bodyPr wrap="square" lIns="0" tIns="0" rIns="0" bIns="0" anchor="t">
            <a:spAutoFit/>
          </a:bodyPr>
          <a:lstStyle/>
          <a:p>
            <a:pPr algn="l">
              <a:lnSpc>
                <a:spcPct val="100000"/>
              </a:lnSpc>
            </a:pPr>
            <a:r>
              <a:rPr sz="1100" b="1" i="0" spc="110">
                <a:solidFill>
                  <a:srgbClr val="B5661F"/>
                </a:solidFill>
                <a:latin typeface="Consolas"/>
              </a:rPr>
              <a:t>03 · SYSTEM ARCHITECTURE</a:t>
            </a:r>
          </a:p>
        </p:txBody>
      </p:sp>
      <p:sp>
        <p:nvSpPr>
          <p:cNvPr id="5" name="TextBox 4"/>
          <p:cNvSpPr txBox="1"/>
          <p:nvPr/>
        </p:nvSpPr>
        <p:spPr>
          <a:xfrm>
            <a:off x="640080" y="841248"/>
            <a:ext cx="10881360" cy="1005840"/>
          </a:xfrm>
          <a:prstGeom prst="rect">
            <a:avLst/>
          </a:prstGeom>
          <a:noFill/>
        </p:spPr>
        <p:txBody>
          <a:bodyPr wrap="square" lIns="0" tIns="0" rIns="0" bIns="0" anchor="t">
            <a:spAutoFit/>
          </a:bodyPr>
          <a:lstStyle/>
          <a:p>
            <a:pPr algn="l">
              <a:lnSpc>
                <a:spcPct val="105000"/>
              </a:lnSpc>
            </a:pPr>
            <a:r>
              <a:rPr sz="2400" b="1" i="0">
                <a:solidFill>
                  <a:srgbClr val="16212C"/>
                </a:solidFill>
                <a:latin typeface="Consolas"/>
              </a:rPr>
              <a:t>Browser to backend to three downstream services, end to end.</a:t>
            </a:r>
          </a:p>
        </p:txBody>
      </p:sp>
      <p:sp>
        <p:nvSpPr>
          <p:cNvPr id="6" name="Rounded Rectangle 5"/>
          <p:cNvSpPr/>
          <p:nvPr/>
        </p:nvSpPr>
        <p:spPr>
          <a:xfrm>
            <a:off x="640080" y="2286000"/>
            <a:ext cx="10911535" cy="393192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2697480"/>
            <a:ext cx="1828800" cy="731520"/>
          </a:xfrm>
          <a:prstGeom prst="roundRect">
            <a:avLst>
              <a:gd name="adj" fmla="val 12000"/>
            </a:avLst>
          </a:prstGeom>
          <a:solidFill>
            <a:srgbClr val="FFFFFF"/>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300" b="1" i="0">
                <a:solidFill>
                  <a:srgbClr val="16212C"/>
                </a:solidFill>
                <a:latin typeface="Consolas"/>
              </a:rPr>
              <a:t>Browser</a:t>
            </a:r>
          </a:p>
        </p:txBody>
      </p:sp>
      <p:cxnSp>
        <p:nvCxnSpPr>
          <p:cNvPr id="8" name="Connector 7"/>
          <p:cNvCxnSpPr/>
          <p:nvPr/>
        </p:nvCxnSpPr>
        <p:spPr>
          <a:xfrm>
            <a:off x="2697480" y="3063240"/>
            <a:ext cx="731520" cy="0"/>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697480" y="2788920"/>
            <a:ext cx="731520" cy="274320"/>
          </a:xfrm>
          <a:prstGeom prst="rect">
            <a:avLst/>
          </a:prstGeom>
          <a:noFill/>
        </p:spPr>
        <p:txBody>
          <a:bodyPr wrap="square" lIns="0" tIns="0" rIns="0" bIns="0" anchor="t">
            <a:spAutoFit/>
          </a:bodyPr>
          <a:lstStyle/>
          <a:p>
            <a:pPr algn="ctr">
              <a:lnSpc>
                <a:spcPct val="100000"/>
              </a:lnSpc>
            </a:pPr>
            <a:r>
              <a:rPr sz="800" b="0" i="0">
                <a:solidFill>
                  <a:srgbClr val="5B6B78"/>
                </a:solidFill>
                <a:latin typeface="Consolas"/>
              </a:rPr>
              <a:t>NodePort</a:t>
            </a:r>
          </a:p>
          <a:p>
            <a:pPr algn="ctr">
              <a:lnSpc>
                <a:spcPct val="100000"/>
              </a:lnSpc>
            </a:pPr>
            <a:r>
              <a:rPr sz="800" b="0" i="0">
                <a:solidFill>
                  <a:srgbClr val="5B6B78"/>
                </a:solidFill>
                <a:latin typeface="Consolas"/>
              </a:rPr>
              <a:t>30080</a:t>
            </a:r>
          </a:p>
        </p:txBody>
      </p:sp>
      <p:sp>
        <p:nvSpPr>
          <p:cNvPr id="10" name="Rounded Rectangle 9"/>
          <p:cNvSpPr/>
          <p:nvPr/>
        </p:nvSpPr>
        <p:spPr>
          <a:xfrm>
            <a:off x="3474720" y="2423160"/>
            <a:ext cx="7635240" cy="3566160"/>
          </a:xfrm>
          <a:prstGeom prst="roundRect">
            <a:avLst/>
          </a:prstGeom>
          <a:solidFill>
            <a:srgbClr val="F4E3D1"/>
          </a:solidFill>
          <a:ln w="12700">
            <a:solidFill>
              <a:srgbClr val="B566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2514600"/>
            <a:ext cx="7315200" cy="274320"/>
          </a:xfrm>
          <a:prstGeom prst="rect">
            <a:avLst/>
          </a:prstGeom>
          <a:noFill/>
        </p:spPr>
        <p:txBody>
          <a:bodyPr wrap="square" lIns="0" tIns="0" rIns="0" bIns="0" anchor="t">
            <a:spAutoFit/>
          </a:bodyPr>
          <a:lstStyle/>
          <a:p>
            <a:pPr algn="l">
              <a:lnSpc>
                <a:spcPct val="100000"/>
              </a:lnSpc>
            </a:pPr>
            <a:r>
              <a:rPr sz="950" b="1" i="0" spc="60">
                <a:solidFill>
                  <a:srgbClr val="B5661F"/>
                </a:solidFill>
                <a:latin typeface="Consolas"/>
              </a:rPr>
              <a:t>HEALTH-DASHBOARD NAMESPACE · mTLS STRICT</a:t>
            </a:r>
          </a:p>
        </p:txBody>
      </p:sp>
      <p:sp>
        <p:nvSpPr>
          <p:cNvPr id="12" name="Rounded Rectangle 11"/>
          <p:cNvSpPr/>
          <p:nvPr/>
        </p:nvSpPr>
        <p:spPr>
          <a:xfrm>
            <a:off x="3794760" y="3017520"/>
            <a:ext cx="1737360" cy="685800"/>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150" b="1" i="0">
                <a:solidFill>
                  <a:srgbClr val="16212C"/>
                </a:solidFill>
                <a:latin typeface="Consolas"/>
              </a:rPr>
              <a:t>frontend</a:t>
            </a:r>
          </a:p>
          <a:p>
            <a:pPr algn="ctr">
              <a:lnSpc>
                <a:spcPct val="105000"/>
              </a:lnSpc>
            </a:pPr>
            <a:r>
              <a:rPr sz="1150" b="0" i="0">
                <a:solidFill>
                  <a:srgbClr val="16212C"/>
                </a:solidFill>
                <a:latin typeface="Consolas"/>
              </a:rPr>
              <a:t>(nginx)</a:t>
            </a:r>
          </a:p>
        </p:txBody>
      </p:sp>
      <p:sp>
        <p:nvSpPr>
          <p:cNvPr id="13" name="Rounded Rectangle 12"/>
          <p:cNvSpPr/>
          <p:nvPr/>
        </p:nvSpPr>
        <p:spPr>
          <a:xfrm>
            <a:off x="6035040" y="3017520"/>
            <a:ext cx="1737360" cy="685800"/>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150" b="1" i="0">
                <a:solidFill>
                  <a:srgbClr val="16212C"/>
                </a:solidFill>
                <a:latin typeface="Consolas"/>
              </a:rPr>
              <a:t>backend</a:t>
            </a:r>
          </a:p>
          <a:p>
            <a:pPr algn="ctr">
              <a:lnSpc>
                <a:spcPct val="105000"/>
              </a:lnSpc>
            </a:pPr>
            <a:r>
              <a:rPr sz="1150" b="0" i="0">
                <a:solidFill>
                  <a:srgbClr val="16212C"/>
                </a:solidFill>
                <a:latin typeface="Consolas"/>
              </a:rPr>
              <a:t>(FastAPI)</a:t>
            </a:r>
          </a:p>
        </p:txBody>
      </p:sp>
      <p:cxnSp>
        <p:nvCxnSpPr>
          <p:cNvPr id="14" name="Connector 13"/>
          <p:cNvCxnSpPr/>
          <p:nvPr/>
        </p:nvCxnSpPr>
        <p:spPr>
          <a:xfrm>
            <a:off x="5532120" y="3360420"/>
            <a:ext cx="502920" cy="0"/>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532120" y="3730752"/>
            <a:ext cx="548640" cy="228600"/>
          </a:xfrm>
          <a:prstGeom prst="rect">
            <a:avLst/>
          </a:prstGeom>
          <a:noFill/>
        </p:spPr>
        <p:txBody>
          <a:bodyPr wrap="square" lIns="0" tIns="0" rIns="0" bIns="0" anchor="t">
            <a:spAutoFit/>
          </a:bodyPr>
          <a:lstStyle/>
          <a:p>
            <a:pPr algn="ctr">
              <a:lnSpc>
                <a:spcPct val="100000"/>
              </a:lnSpc>
            </a:pPr>
            <a:r>
              <a:rPr sz="800" b="0" i="0">
                <a:solidFill>
                  <a:srgbClr val="5B6B78"/>
                </a:solidFill>
                <a:latin typeface="Consolas"/>
              </a:rPr>
              <a:t>/api/*</a:t>
            </a:r>
          </a:p>
        </p:txBody>
      </p:sp>
      <p:sp>
        <p:nvSpPr>
          <p:cNvPr id="16" name="Rounded Rectangle 15"/>
          <p:cNvSpPr/>
          <p:nvPr/>
        </p:nvSpPr>
        <p:spPr>
          <a:xfrm>
            <a:off x="3749039" y="4709160"/>
            <a:ext cx="1828800" cy="658368"/>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100" b="1" i="0">
                <a:solidFill>
                  <a:srgbClr val="16212C"/>
                </a:solidFill>
                <a:latin typeface="Consolas"/>
              </a:rPr>
              <a:t>user-service</a:t>
            </a:r>
          </a:p>
        </p:txBody>
      </p:sp>
      <p:cxnSp>
        <p:nvCxnSpPr>
          <p:cNvPr id="17" name="Connector 16"/>
          <p:cNvCxnSpPr/>
          <p:nvPr/>
        </p:nvCxnSpPr>
        <p:spPr>
          <a:xfrm flipH="1">
            <a:off x="4663440" y="3703320"/>
            <a:ext cx="2240280" cy="1005840"/>
          </a:xfrm>
          <a:prstGeom prst="bentConnector3">
            <a:avLst/>
          </a:prstGeom>
          <a:ln w="15875">
            <a:solidFill>
              <a:srgbClr val="B5661F"/>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943600" y="4709160"/>
            <a:ext cx="1828800" cy="658368"/>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100" b="1" i="0">
                <a:solidFill>
                  <a:srgbClr val="16212C"/>
                </a:solidFill>
                <a:latin typeface="Consolas"/>
              </a:rPr>
              <a:t>order-service</a:t>
            </a:r>
          </a:p>
        </p:txBody>
      </p:sp>
      <p:cxnSp>
        <p:nvCxnSpPr>
          <p:cNvPr id="19" name="Connector 18"/>
          <p:cNvCxnSpPr/>
          <p:nvPr/>
        </p:nvCxnSpPr>
        <p:spPr>
          <a:xfrm flipH="1">
            <a:off x="6858000" y="3703320"/>
            <a:ext cx="45720" cy="1005840"/>
          </a:xfrm>
          <a:prstGeom prst="bentConnector3">
            <a:avLst/>
          </a:prstGeom>
          <a:ln w="15875">
            <a:solidFill>
              <a:srgbClr val="B5661F"/>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138160" y="4709160"/>
            <a:ext cx="1828800" cy="658368"/>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100" b="1" i="0">
                <a:solidFill>
                  <a:srgbClr val="16212C"/>
                </a:solidFill>
                <a:latin typeface="Consolas"/>
              </a:rPr>
              <a:t>payment-service</a:t>
            </a:r>
          </a:p>
        </p:txBody>
      </p:sp>
      <p:cxnSp>
        <p:nvCxnSpPr>
          <p:cNvPr id="21" name="Connector 20"/>
          <p:cNvCxnSpPr/>
          <p:nvPr/>
        </p:nvCxnSpPr>
        <p:spPr>
          <a:xfrm>
            <a:off x="6903720" y="3703320"/>
            <a:ext cx="2148840" cy="1005840"/>
          </a:xfrm>
          <a:prstGeom prst="bentConnector3">
            <a:avLst/>
          </a:prstGeom>
          <a:ln w="15875">
            <a:solidFill>
              <a:srgbClr val="B5661F"/>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749039" y="5440680"/>
            <a:ext cx="6217920" cy="274320"/>
          </a:xfrm>
          <a:prstGeom prst="rect">
            <a:avLst/>
          </a:prstGeom>
          <a:noFill/>
        </p:spPr>
        <p:txBody>
          <a:bodyPr wrap="square" lIns="0" tIns="0" rIns="0" bIns="0" anchor="t">
            <a:spAutoFit/>
          </a:bodyPr>
          <a:lstStyle/>
          <a:p>
            <a:pPr algn="ctr">
              <a:lnSpc>
                <a:spcPct val="100000"/>
              </a:lnSpc>
            </a:pPr>
            <a:r>
              <a:rPr sz="1000" b="0" i="0">
                <a:solidFill>
                  <a:srgbClr val="5B6B78"/>
                </a:solidFill>
                <a:latin typeface="Consolas"/>
              </a:rPr>
              <a:t>GET /health, 5s client-side timeout per service</a:t>
            </a:r>
          </a:p>
        </p:txBody>
      </p:sp>
      <p:sp>
        <p:nvSpPr>
          <p:cNvPr id="23" name="TextBox 22"/>
          <p:cNvSpPr txBox="1"/>
          <p:nvPr/>
        </p:nvSpPr>
        <p:spPr>
          <a:xfrm>
            <a:off x="10820095" y="6446520"/>
            <a:ext cx="1005840" cy="274320"/>
          </a:xfrm>
          <a:prstGeom prst="rect">
            <a:avLst/>
          </a:prstGeom>
          <a:noFill/>
        </p:spPr>
        <p:txBody>
          <a:bodyPr wrap="square" lIns="0" tIns="0" rIns="0" bIns="0" anchor="t">
            <a:spAutoFit/>
          </a:bodyPr>
          <a:lstStyle/>
          <a:p>
            <a:pPr algn="r">
              <a:lnSpc>
                <a:spcPct val="100000"/>
              </a:lnSpc>
            </a:pPr>
            <a:r>
              <a:rPr sz="900" b="0" i="0">
                <a:solidFill>
                  <a:srgbClr val="8A97A2"/>
                </a:solidFill>
                <a:latin typeface="Consolas"/>
              </a:rPr>
              <a:t>04 / 16</a:t>
            </a:r>
          </a:p>
        </p:txBody>
      </p:sp>
      <p:sp>
        <p:nvSpPr>
          <p:cNvPr id="24" name="TextBox 23"/>
          <p:cNvSpPr txBox="1"/>
          <p:nvPr/>
        </p:nvSpPr>
        <p:spPr>
          <a:xfrm>
            <a:off x="640080" y="6446520"/>
            <a:ext cx="3657600" cy="274320"/>
          </a:xfrm>
          <a:prstGeom prst="rect">
            <a:avLst/>
          </a:prstGeom>
          <a:noFill/>
        </p:spPr>
        <p:txBody>
          <a:bodyPr wrap="square" lIns="0" tIns="0" rIns="0" bIns="0" anchor="t">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2688" y="457200"/>
            <a:ext cx="8229600" cy="169277"/>
          </a:xfrm>
          <a:prstGeom prst="rect">
            <a:avLst/>
          </a:prstGeom>
          <a:noFill/>
        </p:spPr>
        <p:txBody>
          <a:bodyPr wrap="square" lIns="0" tIns="0" rIns="0" bIns="0" anchor="t">
            <a:spAutoFit/>
          </a:bodyPr>
          <a:lstStyle/>
          <a:p>
            <a:pPr algn="l">
              <a:lnSpc>
                <a:spcPct val="100000"/>
              </a:lnSpc>
            </a:pPr>
            <a:r>
              <a:rPr sz="1100" b="1" i="0" spc="110" dirty="0" smtClean="0">
                <a:solidFill>
                  <a:srgbClr val="B5661F"/>
                </a:solidFill>
                <a:latin typeface="Consolas"/>
              </a:rPr>
              <a:t>0</a:t>
            </a:r>
            <a:r>
              <a:rPr lang="en-US" sz="1100" b="1" spc="110" dirty="0">
                <a:solidFill>
                  <a:srgbClr val="B5661F"/>
                </a:solidFill>
                <a:latin typeface="Consolas"/>
              </a:rPr>
              <a:t>6</a:t>
            </a:r>
            <a:r>
              <a:rPr sz="1100" b="1" i="0" spc="110" dirty="0" smtClean="0">
                <a:solidFill>
                  <a:srgbClr val="B5661F"/>
                </a:solidFill>
                <a:latin typeface="Consolas"/>
              </a:rPr>
              <a:t>· </a:t>
            </a:r>
            <a:r>
              <a:rPr sz="1100" b="1" i="0" spc="110" dirty="0">
                <a:solidFill>
                  <a:srgbClr val="B5661F"/>
                </a:solidFill>
                <a:latin typeface="Consolas"/>
              </a:rPr>
              <a:t>INFRASTRUCTURE AS CODE</a:t>
            </a:r>
          </a:p>
        </p:txBody>
      </p:sp>
      <p:sp>
        <p:nvSpPr>
          <p:cNvPr id="5" name="TextBox 4"/>
          <p:cNvSpPr txBox="1"/>
          <p:nvPr/>
        </p:nvSpPr>
        <p:spPr>
          <a:xfrm>
            <a:off x="640080" y="841248"/>
            <a:ext cx="10881360" cy="1005840"/>
          </a:xfrm>
          <a:prstGeom prst="rect">
            <a:avLst/>
          </a:prstGeom>
          <a:noFill/>
        </p:spPr>
        <p:txBody>
          <a:bodyPr wrap="square" lIns="0" tIns="0" rIns="0" bIns="0" anchor="t">
            <a:spAutoFit/>
          </a:bodyPr>
          <a:lstStyle/>
          <a:p>
            <a:pPr algn="l">
              <a:lnSpc>
                <a:spcPct val="105000"/>
              </a:lnSpc>
            </a:pPr>
            <a:r>
              <a:rPr sz="2400" b="1" i="0" dirty="0">
                <a:solidFill>
                  <a:srgbClr val="16212C"/>
                </a:solidFill>
                <a:latin typeface="Consolas"/>
              </a:rPr>
              <a:t>Three Terraform modules; two providers; no cloud account.</a:t>
            </a:r>
          </a:p>
        </p:txBody>
      </p:sp>
      <p:graphicFrame>
        <p:nvGraphicFramePr>
          <p:cNvPr id="6" name="Table 5"/>
          <p:cNvGraphicFramePr>
            <a:graphicFrameLocks noGrp="1"/>
          </p:cNvGraphicFramePr>
          <p:nvPr>
            <p:extLst>
              <p:ext uri="{D42A27DB-BD31-4B8C-83A1-F6EECF244321}">
                <p14:modId xmlns:p14="http://schemas.microsoft.com/office/powerpoint/2010/main" val="4132437564"/>
              </p:ext>
            </p:extLst>
          </p:nvPr>
        </p:nvGraphicFramePr>
        <p:xfrm>
          <a:off x="640080" y="2331720"/>
          <a:ext cx="5943600" cy="1828800"/>
        </p:xfrm>
        <a:graphic>
          <a:graphicData uri="http://schemas.openxmlformats.org/drawingml/2006/table">
            <a:tbl>
              <a:tblPr>
                <a:tableStyleId>{5C22544A-7EE6-4342-B048-85BDC9FD1C3A}</a:tableStyleId>
              </a:tblPr>
              <a:tblGrid>
                <a:gridCol w="14630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457200">
                <a:tc>
                  <a:txBody>
                    <a:bodyPr/>
                    <a:lstStyle/>
                    <a:p>
                      <a:r>
                        <a:rPr sz="950" b="1" i="0" spc="50">
                          <a:solidFill>
                            <a:srgbClr val="8A97A2"/>
                          </a:solidFill>
                          <a:latin typeface="Consolas"/>
                        </a:rPr>
                        <a:t>MODULE</a:t>
                      </a:r>
                    </a:p>
                  </a:txBody>
                  <a:tcPr marL="73152" marR="73152" marT="36576" marB="36576" anchor="ctr">
                    <a:solidFill>
                      <a:srgbClr val="E9EEF1"/>
                    </a:solidFill>
                  </a:tcPr>
                </a:tc>
                <a:tc>
                  <a:txBody>
                    <a:bodyPr/>
                    <a:lstStyle/>
                    <a:p>
                      <a:r>
                        <a:rPr sz="950" b="1" i="0" spc="50">
                          <a:solidFill>
                            <a:srgbClr val="8A97A2"/>
                          </a:solidFill>
                          <a:latin typeface="Consolas"/>
                        </a:rPr>
                        <a:t>MANAGES</a:t>
                      </a:r>
                    </a:p>
                  </a:txBody>
                  <a:tcPr marL="73152" marR="73152" marT="36576" marB="36576" anchor="ctr">
                    <a:solidFill>
                      <a:srgbClr val="E9EEF1"/>
                    </a:solidFill>
                  </a:tcPr>
                </a:tc>
                <a:extLst>
                  <a:ext uri="{0D108BD9-81ED-4DB2-BD59-A6C34878D82A}">
                    <a16:rowId xmlns:a16="http://schemas.microsoft.com/office/drawing/2014/main" val="10000"/>
                  </a:ext>
                </a:extLst>
              </a:tr>
              <a:tr h="457200">
                <a:tc>
                  <a:txBody>
                    <a:bodyPr/>
                    <a:lstStyle/>
                    <a:p>
                      <a:r>
                        <a:rPr sz="1150" b="0" i="0">
                          <a:solidFill>
                            <a:srgbClr val="16212C"/>
                          </a:solidFill>
                          <a:latin typeface="Consolas"/>
                        </a:rPr>
                        <a:t>namespace</a:t>
                      </a:r>
                    </a:p>
                  </a:txBody>
                  <a:tcPr marL="73152" marR="73152" marT="36576" marB="36576" anchor="ctr">
                    <a:solidFill>
                      <a:srgbClr val="FFFFFF"/>
                    </a:solidFill>
                  </a:tcPr>
                </a:tc>
                <a:tc>
                  <a:txBody>
                    <a:bodyPr/>
                    <a:lstStyle/>
                    <a:p>
                      <a:r>
                        <a:rPr sz="1150" b="0" i="0">
                          <a:solidFill>
                            <a:srgbClr val="16212C"/>
                          </a:solidFill>
                          <a:latin typeface="Calibri"/>
                        </a:rPr>
                        <a:t>Restricted PSA labels, mesh injection label</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150" b="0" i="0">
                          <a:solidFill>
                            <a:srgbClr val="16212C"/>
                          </a:solidFill>
                          <a:latin typeface="Consolas"/>
                        </a:rPr>
                        <a:t>app</a:t>
                      </a:r>
                    </a:p>
                  </a:txBody>
                  <a:tcPr marL="73152" marR="73152" marT="36576" marB="36576" anchor="ctr">
                    <a:solidFill>
                      <a:srgbClr val="FFFFFF"/>
                    </a:solidFill>
                  </a:tcPr>
                </a:tc>
                <a:tc>
                  <a:txBody>
                    <a:bodyPr/>
                    <a:lstStyle/>
                    <a:p>
                      <a:r>
                        <a:rPr sz="1150" b="0" i="0">
                          <a:solidFill>
                            <a:srgbClr val="16212C"/>
                          </a:solidFill>
                          <a:latin typeface="Calibri"/>
                        </a:rPr>
                        <a:t>ServiceAccounts, Deployments, Services, ConfigMap, NetworkPolicies</a:t>
                      </a:r>
                    </a:p>
                  </a:txBody>
                  <a:tcPr marL="73152" marR="73152" marT="36576" marB="36576" anchor="ctr">
                    <a:solidFill>
                      <a:srgbClr val="FFFFFF"/>
                    </a:solidFill>
                  </a:tcPr>
                </a:tc>
                <a:extLst>
                  <a:ext uri="{0D108BD9-81ED-4DB2-BD59-A6C34878D82A}">
                    <a16:rowId xmlns:a16="http://schemas.microsoft.com/office/drawing/2014/main" val="10002"/>
                  </a:ext>
                </a:extLst>
              </a:tr>
              <a:tr h="457200">
                <a:tc>
                  <a:txBody>
                    <a:bodyPr/>
                    <a:lstStyle/>
                    <a:p>
                      <a:r>
                        <a:rPr sz="1150" b="0" i="0">
                          <a:solidFill>
                            <a:srgbClr val="16212C"/>
                          </a:solidFill>
                          <a:latin typeface="Consolas"/>
                        </a:rPr>
                        <a:t>istio</a:t>
                      </a:r>
                    </a:p>
                  </a:txBody>
                  <a:tcPr marL="73152" marR="73152" marT="36576" marB="36576" anchor="ctr">
                    <a:solidFill>
                      <a:srgbClr val="FFFFFF"/>
                    </a:solidFill>
                  </a:tcPr>
                </a:tc>
                <a:tc>
                  <a:txBody>
                    <a:bodyPr/>
                    <a:lstStyle/>
                    <a:p>
                      <a:r>
                        <a:rPr lang="en-US" sz="1150" b="0" i="0" dirty="0" smtClean="0">
                          <a:solidFill>
                            <a:srgbClr val="16212C"/>
                          </a:solidFill>
                          <a:latin typeface="Calibri"/>
                        </a:rPr>
                        <a:t>Gateway,</a:t>
                      </a:r>
                      <a:r>
                        <a:rPr lang="en-US" sz="1150" b="0" i="0" baseline="0" dirty="0" smtClean="0">
                          <a:solidFill>
                            <a:srgbClr val="16212C"/>
                          </a:solidFill>
                          <a:latin typeface="Calibri"/>
                        </a:rPr>
                        <a:t> Virtual Service PeerAuthentication, EnvoyFilter, AuthorizationPolicy</a:t>
                      </a:r>
                      <a:endParaRPr sz="1150" b="0" i="0" dirty="0">
                        <a:solidFill>
                          <a:srgbClr val="16212C"/>
                        </a:solidFill>
                        <a:latin typeface="Calibri"/>
                      </a:endParaRP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7223760" y="2286000"/>
            <a:ext cx="4297680" cy="3931920"/>
          </a:xfrm>
          <a:prstGeom prst="rect">
            <a:avLst/>
          </a:prstGeom>
          <a:noFill/>
        </p:spPr>
        <p:txBody>
          <a:bodyPr wrap="square" lIns="0" tIns="0" rIns="0" bIns="0">
            <a:spAutoFit/>
          </a:bodyPr>
          <a:lstStyle/>
          <a:p>
            <a:pPr marL="182880" indent="-182880">
              <a:lnSpc>
                <a:spcPct val="122000"/>
              </a:lnSpc>
              <a:spcAft>
                <a:spcPts val="1008"/>
              </a:spcAft>
              <a:buFont typeface="Arial"/>
              <a:buChar char="•"/>
            </a:pPr>
            <a:r>
              <a:rPr sz="1300" b="1" i="0" dirty="0">
                <a:solidFill>
                  <a:srgbClr val="B5661F"/>
                </a:solidFill>
                <a:latin typeface="Calibri"/>
              </a:rPr>
              <a:t>  </a:t>
            </a:r>
            <a:r>
              <a:rPr sz="1300" b="1" i="0" dirty="0">
                <a:solidFill>
                  <a:srgbClr val="16212C"/>
                </a:solidFill>
                <a:latin typeface="Calibri"/>
              </a:rPr>
              <a:t>Providers: </a:t>
            </a:r>
            <a:r>
              <a:rPr sz="1300" b="0" i="0" dirty="0" err="1">
                <a:solidFill>
                  <a:srgbClr val="5B6B78"/>
                </a:solidFill>
                <a:latin typeface="Calibri"/>
              </a:rPr>
              <a:t>hashicorp</a:t>
            </a:r>
            <a:r>
              <a:rPr sz="1300" b="0" i="0" dirty="0">
                <a:solidFill>
                  <a:srgbClr val="5B6B78"/>
                </a:solidFill>
                <a:latin typeface="Calibri"/>
              </a:rPr>
              <a:t>/</a:t>
            </a:r>
            <a:r>
              <a:rPr sz="1300" b="0" i="0" dirty="0" err="1">
                <a:solidFill>
                  <a:srgbClr val="5B6B78"/>
                </a:solidFill>
                <a:latin typeface="Calibri"/>
              </a:rPr>
              <a:t>kubernetes</a:t>
            </a:r>
            <a:r>
              <a:rPr sz="1300" b="0" i="0" dirty="0">
                <a:solidFill>
                  <a:srgbClr val="5B6B78"/>
                </a:solidFill>
                <a:latin typeface="Calibri"/>
              </a:rPr>
              <a:t> + </a:t>
            </a:r>
            <a:r>
              <a:rPr sz="1300" b="0" i="0" dirty="0" err="1">
                <a:solidFill>
                  <a:srgbClr val="5B6B78"/>
                </a:solidFill>
                <a:latin typeface="Calibri"/>
              </a:rPr>
              <a:t>hashicorp</a:t>
            </a:r>
            <a:r>
              <a:rPr sz="1300" b="0" i="0" dirty="0">
                <a:solidFill>
                  <a:srgbClr val="5B6B78"/>
                </a:solidFill>
                <a:latin typeface="Calibri"/>
              </a:rPr>
              <a:t>/helm only — no cloud provider block. Entirely local infrastructure.</a:t>
            </a:r>
          </a:p>
          <a:p>
            <a:pPr marL="182880" indent="-182880">
              <a:lnSpc>
                <a:spcPct val="122000"/>
              </a:lnSpc>
              <a:spcAft>
                <a:spcPts val="1008"/>
              </a:spcAft>
              <a:buFont typeface="Arial"/>
              <a:buChar char="•"/>
            </a:pPr>
            <a:r>
              <a:rPr sz="1300" b="1" i="0" dirty="0">
                <a:solidFill>
                  <a:srgbClr val="B5661F"/>
                </a:solidFill>
                <a:latin typeface="Calibri"/>
              </a:rPr>
              <a:t>  </a:t>
            </a:r>
            <a:r>
              <a:rPr sz="1300" b="1" i="0" dirty="0">
                <a:solidFill>
                  <a:srgbClr val="16212C"/>
                </a:solidFill>
                <a:latin typeface="Calibri"/>
              </a:rPr>
              <a:t>State is local </a:t>
            </a:r>
            <a:r>
              <a:rPr sz="1300" b="0" i="0" dirty="0">
                <a:solidFill>
                  <a:srgbClr val="5B6B78"/>
                </a:solidFill>
                <a:latin typeface="Calibri"/>
              </a:rPr>
              <a:t>and </a:t>
            </a:r>
            <a:r>
              <a:rPr sz="1300" b="0" i="0" dirty="0" err="1">
                <a:solidFill>
                  <a:srgbClr val="5B6B78"/>
                </a:solidFill>
                <a:latin typeface="Calibri"/>
              </a:rPr>
              <a:t>gitignored</a:t>
            </a:r>
            <a:r>
              <a:rPr sz="1300" b="0" i="0" dirty="0">
                <a:solidFill>
                  <a:srgbClr val="5B6B78"/>
                </a:solidFill>
                <a:latin typeface="Calibri"/>
              </a:rPr>
              <a:t> — correctly scoped for one operator and one disposable cluster, not an oversight.</a:t>
            </a:r>
          </a:p>
          <a:p>
            <a:pPr marL="182880" indent="-182880">
              <a:lnSpc>
                <a:spcPct val="122000"/>
              </a:lnSpc>
              <a:spcAft>
                <a:spcPts val="1008"/>
              </a:spcAft>
              <a:buFont typeface="Arial"/>
              <a:buChar char="•"/>
            </a:pPr>
            <a:r>
              <a:rPr sz="1300" b="1" i="0" dirty="0">
                <a:solidFill>
                  <a:srgbClr val="B5661F"/>
                </a:solidFill>
                <a:latin typeface="Calibri"/>
              </a:rPr>
              <a:t>  </a:t>
            </a:r>
            <a:r>
              <a:rPr sz="1300" b="1" i="0" dirty="0">
                <a:solidFill>
                  <a:srgbClr val="16212C"/>
                </a:solidFill>
                <a:latin typeface="Calibri"/>
              </a:rPr>
              <a:t>Two-phase apply: </a:t>
            </a:r>
            <a:r>
              <a:rPr sz="1300" b="0" i="0" dirty="0">
                <a:solidFill>
                  <a:srgbClr val="5B6B78"/>
                </a:solidFill>
                <a:latin typeface="Calibri"/>
              </a:rPr>
              <a:t>namespace + app + </a:t>
            </a:r>
            <a:r>
              <a:rPr sz="1300" b="0" i="0" dirty="0" err="1">
                <a:solidFill>
                  <a:srgbClr val="5B6B78"/>
                </a:solidFill>
                <a:latin typeface="Calibri"/>
              </a:rPr>
              <a:t>Istio</a:t>
            </a:r>
            <a:r>
              <a:rPr sz="1300" b="0" i="0" dirty="0">
                <a:solidFill>
                  <a:srgbClr val="5B6B78"/>
                </a:solidFill>
                <a:latin typeface="Calibri"/>
              </a:rPr>
              <a:t> control plane first, then mesh policies — </a:t>
            </a:r>
            <a:r>
              <a:rPr sz="1300" b="0" i="0" dirty="0" err="1">
                <a:solidFill>
                  <a:srgbClr val="5B6B78"/>
                </a:solidFill>
                <a:latin typeface="Calibri"/>
              </a:rPr>
              <a:t>Istio's</a:t>
            </a:r>
            <a:r>
              <a:rPr sz="1300" b="0" i="0" dirty="0">
                <a:solidFill>
                  <a:srgbClr val="5B6B78"/>
                </a:solidFill>
                <a:latin typeface="Calibri"/>
              </a:rPr>
              <a:t> CRDs don't exist until the first Helm releases succeed.</a:t>
            </a:r>
          </a:p>
        </p:txBody>
      </p:sp>
      <p:sp>
        <p:nvSpPr>
          <p:cNvPr id="8" name="TextBox 7"/>
          <p:cNvSpPr txBox="1"/>
          <p:nvPr/>
        </p:nvSpPr>
        <p:spPr>
          <a:xfrm>
            <a:off x="10820095" y="6446520"/>
            <a:ext cx="1005840" cy="274320"/>
          </a:xfrm>
          <a:prstGeom prst="rect">
            <a:avLst/>
          </a:prstGeom>
          <a:noFill/>
        </p:spPr>
        <p:txBody>
          <a:bodyPr wrap="square" lIns="0" tIns="0" rIns="0" bIns="0" anchor="t">
            <a:spAutoFit/>
          </a:bodyPr>
          <a:lstStyle/>
          <a:p>
            <a:pPr algn="r">
              <a:lnSpc>
                <a:spcPct val="100000"/>
              </a:lnSpc>
            </a:pPr>
            <a:r>
              <a:rPr sz="900" b="0" i="0">
                <a:solidFill>
                  <a:srgbClr val="8A97A2"/>
                </a:solidFill>
                <a:latin typeface="Consolas"/>
              </a:rPr>
              <a:t>07 / 16</a:t>
            </a:r>
          </a:p>
        </p:txBody>
      </p:sp>
      <p:sp>
        <p:nvSpPr>
          <p:cNvPr id="9" name="TextBox 8"/>
          <p:cNvSpPr txBox="1"/>
          <p:nvPr/>
        </p:nvSpPr>
        <p:spPr>
          <a:xfrm>
            <a:off x="640080" y="6446520"/>
            <a:ext cx="3657600" cy="274320"/>
          </a:xfrm>
          <a:prstGeom prst="rect">
            <a:avLst/>
          </a:prstGeom>
          <a:noFill/>
        </p:spPr>
        <p:txBody>
          <a:bodyPr wrap="square" lIns="0" tIns="0" rIns="0" bIns="0" anchor="t">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2688" y="457200"/>
            <a:ext cx="8229600" cy="169277"/>
          </a:xfrm>
          <a:prstGeom prst="rect">
            <a:avLst/>
          </a:prstGeom>
          <a:noFill/>
        </p:spPr>
        <p:txBody>
          <a:bodyPr wrap="square" lIns="0" tIns="0" rIns="0" bIns="0" anchor="t">
            <a:spAutoFit/>
          </a:bodyPr>
          <a:lstStyle/>
          <a:p>
            <a:pPr algn="l">
              <a:lnSpc>
                <a:spcPct val="100000"/>
              </a:lnSpc>
            </a:pPr>
            <a:r>
              <a:rPr sz="1100" b="1" i="0" spc="110" dirty="0" smtClean="0">
                <a:solidFill>
                  <a:srgbClr val="B5661F"/>
                </a:solidFill>
                <a:latin typeface="Consolas"/>
              </a:rPr>
              <a:t>0</a:t>
            </a:r>
            <a:r>
              <a:rPr lang="en-US" sz="1100" b="1" spc="110" dirty="0">
                <a:solidFill>
                  <a:srgbClr val="B5661F"/>
                </a:solidFill>
                <a:latin typeface="Consolas"/>
              </a:rPr>
              <a:t>7</a:t>
            </a:r>
            <a:r>
              <a:rPr sz="1100" b="1" i="0" spc="110" dirty="0" smtClean="0">
                <a:solidFill>
                  <a:srgbClr val="B5661F"/>
                </a:solidFill>
                <a:latin typeface="Consolas"/>
              </a:rPr>
              <a:t> </a:t>
            </a:r>
            <a:r>
              <a:rPr sz="1100" b="1" i="0" spc="110" dirty="0">
                <a:solidFill>
                  <a:srgbClr val="B5661F"/>
                </a:solidFill>
                <a:latin typeface="Consolas"/>
              </a:rPr>
              <a:t>· KUBERNETES PLATFORM</a:t>
            </a:r>
          </a:p>
        </p:txBody>
      </p:sp>
      <p:sp>
        <p:nvSpPr>
          <p:cNvPr id="5" name="TextBox 4"/>
          <p:cNvSpPr txBox="1"/>
          <p:nvPr/>
        </p:nvSpPr>
        <p:spPr>
          <a:xfrm>
            <a:off x="640080" y="841248"/>
            <a:ext cx="10881360" cy="1005840"/>
          </a:xfrm>
          <a:prstGeom prst="rect">
            <a:avLst/>
          </a:prstGeom>
          <a:noFill/>
        </p:spPr>
        <p:txBody>
          <a:bodyPr wrap="square" lIns="0" tIns="0" rIns="0" bIns="0" anchor="t">
            <a:spAutoFit/>
          </a:bodyPr>
          <a:lstStyle/>
          <a:p>
            <a:pPr algn="l">
              <a:lnSpc>
                <a:spcPct val="105000"/>
              </a:lnSpc>
            </a:pPr>
            <a:r>
              <a:rPr sz="2300" b="1" i="0">
                <a:solidFill>
                  <a:srgbClr val="16212C"/>
                </a:solidFill>
                <a:latin typeface="Consolas"/>
              </a:rPr>
              <a:t>kind: a real API server, entirely inside Docker —</a:t>
            </a:r>
          </a:p>
          <a:p>
            <a:pPr algn="l">
              <a:lnSpc>
                <a:spcPct val="105000"/>
              </a:lnSpc>
            </a:pPr>
            <a:r>
              <a:rPr sz="2300" b="1" i="0">
                <a:solidFill>
                  <a:srgbClr val="16212C"/>
                </a:solidFill>
                <a:latin typeface="Consolas"/>
              </a:rPr>
              <a:t>no cloud account required.</a:t>
            </a:r>
          </a:p>
        </p:txBody>
      </p:sp>
      <p:sp>
        <p:nvSpPr>
          <p:cNvPr id="6" name="TextBox 5"/>
          <p:cNvSpPr txBox="1"/>
          <p:nvPr/>
        </p:nvSpPr>
        <p:spPr>
          <a:xfrm>
            <a:off x="640080" y="2377440"/>
            <a:ext cx="6035040" cy="3749039"/>
          </a:xfrm>
          <a:prstGeom prst="rect">
            <a:avLst/>
          </a:prstGeom>
          <a:noFill/>
        </p:spPr>
        <p:txBody>
          <a:bodyPr wrap="square" lIns="0" tIns="0" rIns="0" bIns="0">
            <a:spAutoFit/>
          </a:bodyPr>
          <a:lstStyle/>
          <a:p>
            <a:pPr marL="182880" indent="-182880">
              <a:lnSpc>
                <a:spcPct val="122000"/>
              </a:lnSpc>
              <a:spcAft>
                <a:spcPts val="1008"/>
              </a:spcAft>
              <a:buFont typeface="Arial"/>
              <a:buChar char="•"/>
            </a:pPr>
            <a:r>
              <a:rPr sz="1350" b="1" i="0">
                <a:solidFill>
                  <a:srgbClr val="B5661F"/>
                </a:solidFill>
                <a:latin typeface="Calibri"/>
              </a:rPr>
              <a:t>  </a:t>
            </a:r>
            <a:r>
              <a:rPr sz="1350" b="1" i="0">
                <a:solidFill>
                  <a:srgbClr val="16212C"/>
                </a:solidFill>
                <a:latin typeface="Calibri"/>
              </a:rPr>
              <a:t>kind (Kubernetes IN Docker): </a:t>
            </a:r>
            <a:r>
              <a:rPr sz="1350" b="0" i="0">
                <a:solidFill>
                  <a:srgbClr val="5B6B78"/>
                </a:solidFill>
                <a:latin typeface="Calibri"/>
              </a:rPr>
              <a:t>each “node” is itself a Docker container running a full kubelet/containerd stack.</a:t>
            </a:r>
          </a:p>
          <a:p>
            <a:pPr marL="182880" indent="-182880">
              <a:lnSpc>
                <a:spcPct val="122000"/>
              </a:lnSpc>
              <a:spcAft>
                <a:spcPts val="1008"/>
              </a:spcAft>
              <a:buFont typeface="Arial"/>
              <a:buChar char="•"/>
            </a:pPr>
            <a:r>
              <a:rPr sz="1350" b="1" i="0">
                <a:solidFill>
                  <a:srgbClr val="B5661F"/>
                </a:solidFill>
                <a:latin typeface="Calibri"/>
              </a:rPr>
              <a:t>  </a:t>
            </a:r>
            <a:r>
              <a:rPr sz="1350" b="1" i="0">
                <a:solidFill>
                  <a:srgbClr val="16212C"/>
                </a:solidFill>
                <a:latin typeface="Calibri"/>
              </a:rPr>
              <a:t>Single control-plane node </a:t>
            </a:r>
            <a:r>
              <a:rPr sz="1350" b="0" i="0">
                <a:solidFill>
                  <a:srgbClr val="5B6B78"/>
                </a:solidFill>
                <a:latin typeface="Calibri"/>
              </a:rPr>
              <a:t>in this environment — sized to this host's memory budget. kind does not taint a lone control-plane node, so it stays schedulable.</a:t>
            </a:r>
          </a:p>
          <a:p>
            <a:pPr marL="182880" indent="-182880">
              <a:lnSpc>
                <a:spcPct val="122000"/>
              </a:lnSpc>
              <a:spcAft>
                <a:spcPts val="1008"/>
              </a:spcAft>
              <a:buFont typeface="Arial"/>
              <a:buChar char="•"/>
            </a:pPr>
            <a:r>
              <a:rPr sz="1350" b="1" i="0">
                <a:solidFill>
                  <a:srgbClr val="B5661F"/>
                </a:solidFill>
                <a:latin typeface="Calibri"/>
              </a:rPr>
              <a:t>  </a:t>
            </a:r>
            <a:r>
              <a:rPr sz="1350" b="1" i="0">
                <a:solidFill>
                  <a:srgbClr val="16212C"/>
                </a:solidFill>
                <a:latin typeface="Calibri"/>
              </a:rPr>
              <a:t>Exposure: </a:t>
            </a:r>
            <a:r>
              <a:rPr sz="1350" b="0" i="0">
                <a:solidFill>
                  <a:srgbClr val="5B6B78"/>
                </a:solidFill>
                <a:latin typeface="Calibri"/>
              </a:rPr>
              <a:t>the frontend's NodePort (30080) is mapped to localhost:8080 via kind-config.yaml — no LoadBalancer, no DNS, no cloud IP.</a:t>
            </a:r>
          </a:p>
        </p:txBody>
      </p:sp>
      <p:sp>
        <p:nvSpPr>
          <p:cNvPr id="7" name="Rounded Rectangle 6"/>
          <p:cNvSpPr/>
          <p:nvPr/>
        </p:nvSpPr>
        <p:spPr>
          <a:xfrm>
            <a:off x="7223760" y="2377440"/>
            <a:ext cx="4297680" cy="365760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24928" y="2523744"/>
            <a:ext cx="3895344" cy="274320"/>
          </a:xfrm>
          <a:prstGeom prst="rect">
            <a:avLst/>
          </a:prstGeom>
          <a:noFill/>
        </p:spPr>
        <p:txBody>
          <a:bodyPr wrap="square" lIns="0" tIns="0" rIns="0" bIns="0" anchor="t">
            <a:spAutoFit/>
          </a:bodyPr>
          <a:lstStyle/>
          <a:p>
            <a:pPr algn="l">
              <a:lnSpc>
                <a:spcPct val="100000"/>
              </a:lnSpc>
            </a:pPr>
            <a:r>
              <a:rPr sz="1000" b="1" i="0" spc="80">
                <a:solidFill>
                  <a:srgbClr val="8A97A2"/>
                </a:solidFill>
                <a:latin typeface="Consolas"/>
              </a:rPr>
              <a:t>KIND VS. A CONTAINER REGISTRY — NOT A PIPELINE</a:t>
            </a:r>
          </a:p>
        </p:txBody>
      </p:sp>
      <p:sp>
        <p:nvSpPr>
          <p:cNvPr id="9" name="TextBox 8"/>
          <p:cNvSpPr txBox="1"/>
          <p:nvPr/>
        </p:nvSpPr>
        <p:spPr>
          <a:xfrm>
            <a:off x="7424928" y="2834640"/>
            <a:ext cx="3895344" cy="3054096"/>
          </a:xfrm>
          <a:prstGeom prst="rect">
            <a:avLst/>
          </a:prstGeom>
          <a:noFill/>
        </p:spPr>
        <p:txBody>
          <a:bodyPr wrap="square" lIns="0" tIns="0" rIns="0" bIns="0" anchor="t">
            <a:spAutoFit/>
          </a:bodyPr>
          <a:lstStyle/>
          <a:p>
            <a:pPr algn="l">
              <a:lnSpc>
                <a:spcPct val="125000"/>
              </a:lnSpc>
            </a:pPr>
            <a:r>
              <a:rPr sz="1200" b="0" i="0" dirty="0">
                <a:solidFill>
                  <a:srgbClr val="16212C"/>
                </a:solidFill>
                <a:latin typeface="Calibri"/>
              </a:rPr>
              <a:t>Docker Hub is a registry: storage and distribution for built images. kind is a way to run real Kubernetes. This project never uses a registry — images are built locally and copied straight into kind's </a:t>
            </a:r>
            <a:r>
              <a:rPr sz="1200" b="0" i="0" dirty="0" err="1">
                <a:solidFill>
                  <a:srgbClr val="16212C"/>
                </a:solidFill>
                <a:latin typeface="Calibri"/>
              </a:rPr>
              <a:t>containerd</a:t>
            </a:r>
            <a:r>
              <a:rPr sz="1200" b="0" i="0" dirty="0">
                <a:solidFill>
                  <a:srgbClr val="16212C"/>
                </a:solidFill>
                <a:latin typeface="Calibri"/>
              </a:rPr>
              <a:t> with kind load </a:t>
            </a:r>
            <a:r>
              <a:rPr sz="1200" b="0" i="0" dirty="0" err="1">
                <a:solidFill>
                  <a:srgbClr val="16212C"/>
                </a:solidFill>
                <a:latin typeface="Calibri"/>
              </a:rPr>
              <a:t>docker</a:t>
            </a:r>
            <a:r>
              <a:rPr sz="1200" b="0" i="0" dirty="0">
                <a:solidFill>
                  <a:srgbClr val="16212C"/>
                </a:solidFill>
                <a:latin typeface="Calibri"/>
              </a:rPr>
              <a:t>-image. A registry only enters the picture once more than one machine needs the same image.</a:t>
            </a:r>
          </a:p>
        </p:txBody>
      </p:sp>
      <p:sp>
        <p:nvSpPr>
          <p:cNvPr id="10" name="TextBox 9"/>
          <p:cNvSpPr txBox="1"/>
          <p:nvPr/>
        </p:nvSpPr>
        <p:spPr>
          <a:xfrm>
            <a:off x="10820095" y="6446520"/>
            <a:ext cx="1005840" cy="274320"/>
          </a:xfrm>
          <a:prstGeom prst="rect">
            <a:avLst/>
          </a:prstGeom>
          <a:noFill/>
        </p:spPr>
        <p:txBody>
          <a:bodyPr wrap="square" lIns="0" tIns="0" rIns="0" bIns="0" anchor="t">
            <a:spAutoFit/>
          </a:bodyPr>
          <a:lstStyle/>
          <a:p>
            <a:pPr algn="r">
              <a:lnSpc>
                <a:spcPct val="100000"/>
              </a:lnSpc>
            </a:pPr>
            <a:r>
              <a:rPr sz="900" b="0" i="0">
                <a:solidFill>
                  <a:srgbClr val="8A97A2"/>
                </a:solidFill>
                <a:latin typeface="Consolas"/>
              </a:rPr>
              <a:t>08 / 16</a:t>
            </a:r>
          </a:p>
        </p:txBody>
      </p:sp>
      <p:sp>
        <p:nvSpPr>
          <p:cNvPr id="11" name="TextBox 10"/>
          <p:cNvSpPr txBox="1"/>
          <p:nvPr/>
        </p:nvSpPr>
        <p:spPr>
          <a:xfrm>
            <a:off x="640080" y="6446520"/>
            <a:ext cx="3657600" cy="274320"/>
          </a:xfrm>
          <a:prstGeom prst="rect">
            <a:avLst/>
          </a:prstGeom>
          <a:noFill/>
        </p:spPr>
        <p:txBody>
          <a:bodyPr wrap="square" lIns="0" tIns="0" rIns="0" bIns="0" anchor="t">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2688" y="457200"/>
            <a:ext cx="8229600" cy="169277"/>
          </a:xfrm>
          <a:prstGeom prst="rect">
            <a:avLst/>
          </a:prstGeom>
          <a:noFill/>
        </p:spPr>
        <p:txBody>
          <a:bodyPr wrap="square" lIns="0" tIns="0" rIns="0" bIns="0" anchor="t">
            <a:spAutoFit/>
          </a:bodyPr>
          <a:lstStyle/>
          <a:p>
            <a:pPr algn="l">
              <a:lnSpc>
                <a:spcPct val="100000"/>
              </a:lnSpc>
            </a:pPr>
            <a:r>
              <a:rPr sz="1100" b="1" i="0" spc="110" dirty="0" smtClean="0">
                <a:solidFill>
                  <a:srgbClr val="B5661F"/>
                </a:solidFill>
                <a:latin typeface="Consolas"/>
              </a:rPr>
              <a:t>0</a:t>
            </a:r>
            <a:r>
              <a:rPr lang="en-US" sz="1100" b="1" i="0" spc="110" dirty="0" smtClean="0">
                <a:solidFill>
                  <a:srgbClr val="B5661F"/>
                </a:solidFill>
                <a:latin typeface="Consolas"/>
              </a:rPr>
              <a:t>8</a:t>
            </a:r>
            <a:r>
              <a:rPr sz="1100" b="1" i="0" spc="110" dirty="0" smtClean="0">
                <a:solidFill>
                  <a:srgbClr val="B5661F"/>
                </a:solidFill>
                <a:latin typeface="Consolas"/>
              </a:rPr>
              <a:t> </a:t>
            </a:r>
            <a:r>
              <a:rPr sz="1100" b="1" i="0" spc="110" dirty="0">
                <a:solidFill>
                  <a:srgbClr val="B5661F"/>
                </a:solidFill>
                <a:latin typeface="Consolas"/>
              </a:rPr>
              <a:t>· SERVICE MESH</a:t>
            </a:r>
          </a:p>
        </p:txBody>
      </p:sp>
      <p:sp>
        <p:nvSpPr>
          <p:cNvPr id="5" name="TextBox 4"/>
          <p:cNvSpPr txBox="1"/>
          <p:nvPr/>
        </p:nvSpPr>
        <p:spPr>
          <a:xfrm>
            <a:off x="640080" y="841248"/>
            <a:ext cx="10881360" cy="1005840"/>
          </a:xfrm>
          <a:prstGeom prst="rect">
            <a:avLst/>
          </a:prstGeom>
          <a:noFill/>
        </p:spPr>
        <p:txBody>
          <a:bodyPr wrap="square" lIns="0" tIns="0" rIns="0" bIns="0" anchor="t">
            <a:spAutoFit/>
          </a:bodyPr>
          <a:lstStyle/>
          <a:p>
            <a:pPr algn="l">
              <a:lnSpc>
                <a:spcPct val="105000"/>
              </a:lnSpc>
            </a:pPr>
            <a:r>
              <a:rPr sz="2200" b="1" i="0">
                <a:solidFill>
                  <a:srgbClr val="16212C"/>
                </a:solidFill>
                <a:latin typeface="Consolas"/>
              </a:rPr>
              <a:t>Istio: mTLS, identity-based authorization, and rate</a:t>
            </a:r>
          </a:p>
          <a:p>
            <a:pPr algn="l">
              <a:lnSpc>
                <a:spcPct val="105000"/>
              </a:lnSpc>
            </a:pPr>
            <a:r>
              <a:rPr sz="2200" b="1" i="0">
                <a:solidFill>
                  <a:srgbClr val="16212C"/>
                </a:solidFill>
                <a:latin typeface="Consolas"/>
              </a:rPr>
              <a:t>limiting from one control plane.</a:t>
            </a:r>
          </a:p>
        </p:txBody>
      </p:sp>
      <p:graphicFrame>
        <p:nvGraphicFramePr>
          <p:cNvPr id="6" name="Table 5"/>
          <p:cNvGraphicFramePr>
            <a:graphicFrameLocks noGrp="1"/>
          </p:cNvGraphicFramePr>
          <p:nvPr/>
        </p:nvGraphicFramePr>
        <p:xfrm>
          <a:off x="640080" y="2468880"/>
          <a:ext cx="6858000" cy="3566160"/>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594360">
                <a:tc>
                  <a:txBody>
                    <a:bodyPr/>
                    <a:lstStyle/>
                    <a:p>
                      <a:r>
                        <a:rPr sz="950" b="1" i="0" spc="50">
                          <a:solidFill>
                            <a:srgbClr val="8A97A2"/>
                          </a:solidFill>
                          <a:latin typeface="Consolas"/>
                        </a:rPr>
                        <a:t>COMPONENT</a:t>
                      </a:r>
                    </a:p>
                  </a:txBody>
                  <a:tcPr marL="73152" marR="73152" marT="36576" marB="36576" anchor="ctr">
                    <a:solidFill>
                      <a:srgbClr val="E9EEF1"/>
                    </a:solidFill>
                  </a:tcPr>
                </a:tc>
                <a:tc>
                  <a:txBody>
                    <a:bodyPr/>
                    <a:lstStyle/>
                    <a:p>
                      <a:r>
                        <a:rPr sz="950" b="1" i="0" spc="50">
                          <a:solidFill>
                            <a:srgbClr val="8A97A2"/>
                          </a:solidFill>
                          <a:latin typeface="Consolas"/>
                        </a:rPr>
                        <a:t>ROLE</a:t>
                      </a:r>
                    </a:p>
                  </a:txBody>
                  <a:tcPr marL="73152" marR="73152" marT="36576" marB="36576" anchor="ctr">
                    <a:solidFill>
                      <a:srgbClr val="E9EEF1"/>
                    </a:solidFill>
                  </a:tcPr>
                </a:tc>
                <a:extLst>
                  <a:ext uri="{0D108BD9-81ED-4DB2-BD59-A6C34878D82A}">
                    <a16:rowId xmlns:a16="http://schemas.microsoft.com/office/drawing/2014/main" val="10000"/>
                  </a:ext>
                </a:extLst>
              </a:tr>
              <a:tr h="594360">
                <a:tc>
                  <a:txBody>
                    <a:bodyPr/>
                    <a:lstStyle/>
                    <a:p>
                      <a:r>
                        <a:rPr sz="1100" b="0" i="0">
                          <a:solidFill>
                            <a:srgbClr val="16212C"/>
                          </a:solidFill>
                          <a:latin typeface="Consolas"/>
                        </a:rPr>
                        <a:t>istiod</a:t>
                      </a:r>
                    </a:p>
                  </a:txBody>
                  <a:tcPr marL="73152" marR="73152" marT="36576" marB="36576" anchor="ctr">
                    <a:solidFill>
                      <a:srgbClr val="FFFFFF"/>
                    </a:solidFill>
                  </a:tcPr>
                </a:tc>
                <a:tc>
                  <a:txBody>
                    <a:bodyPr/>
                    <a:lstStyle/>
                    <a:p>
                      <a:r>
                        <a:rPr sz="1100" b="0" i="0">
                          <a:solidFill>
                            <a:srgbClr val="16212C"/>
                          </a:solidFill>
                          <a:latin typeface="Calibri"/>
                        </a:rPr>
                        <a:t>Config distribution (xDS) + short-lived mTLS cert issuance</a:t>
                      </a:r>
                    </a:p>
                  </a:txBody>
                  <a:tcPr marL="73152" marR="73152" marT="36576" marB="36576" anchor="ctr">
                    <a:solidFill>
                      <a:srgbClr val="FFFFFF"/>
                    </a:solidFill>
                  </a:tcPr>
                </a:tc>
                <a:extLst>
                  <a:ext uri="{0D108BD9-81ED-4DB2-BD59-A6C34878D82A}">
                    <a16:rowId xmlns:a16="http://schemas.microsoft.com/office/drawing/2014/main" val="10001"/>
                  </a:ext>
                </a:extLst>
              </a:tr>
              <a:tr h="594360">
                <a:tc>
                  <a:txBody>
                    <a:bodyPr/>
                    <a:lstStyle/>
                    <a:p>
                      <a:r>
                        <a:rPr sz="1100" b="0" i="0">
                          <a:solidFill>
                            <a:srgbClr val="16212C"/>
                          </a:solidFill>
                          <a:latin typeface="Consolas"/>
                        </a:rPr>
                        <a:t>istio-cni</a:t>
                      </a:r>
                    </a:p>
                  </a:txBody>
                  <a:tcPr marL="73152" marR="73152" marT="36576" marB="36576" anchor="ctr">
                    <a:solidFill>
                      <a:srgbClr val="FFFFFF"/>
                    </a:solidFill>
                  </a:tcPr>
                </a:tc>
                <a:tc>
                  <a:txBody>
                    <a:bodyPr/>
                    <a:lstStyle/>
                    <a:p>
                      <a:r>
                        <a:rPr sz="1100" b="0" i="0">
                          <a:solidFill>
                            <a:srgbClr val="16212C"/>
                          </a:solidFill>
                          <a:latin typeface="Calibri"/>
                        </a:rPr>
                        <a:t>Node-level traffic redirection — no privileged per-pod init container</a:t>
                      </a:r>
                    </a:p>
                  </a:txBody>
                  <a:tcPr marL="73152" marR="73152" marT="36576" marB="36576" anchor="ctr">
                    <a:solidFill>
                      <a:srgbClr val="FFFFFF"/>
                    </a:solidFill>
                  </a:tcPr>
                </a:tc>
                <a:extLst>
                  <a:ext uri="{0D108BD9-81ED-4DB2-BD59-A6C34878D82A}">
                    <a16:rowId xmlns:a16="http://schemas.microsoft.com/office/drawing/2014/main" val="10002"/>
                  </a:ext>
                </a:extLst>
              </a:tr>
              <a:tr h="594360">
                <a:tc>
                  <a:txBody>
                    <a:bodyPr/>
                    <a:lstStyle/>
                    <a:p>
                      <a:r>
                        <a:rPr sz="1100" b="0" i="0" dirty="0">
                          <a:solidFill>
                            <a:srgbClr val="16212C"/>
                          </a:solidFill>
                          <a:latin typeface="Consolas"/>
                        </a:rPr>
                        <a:t>PeerAuthentication</a:t>
                      </a:r>
                    </a:p>
                  </a:txBody>
                  <a:tcPr marL="73152" marR="73152" marT="36576" marB="36576" anchor="ctr">
                    <a:solidFill>
                      <a:srgbClr val="FFFFFF"/>
                    </a:solidFill>
                  </a:tcPr>
                </a:tc>
                <a:tc>
                  <a:txBody>
                    <a:bodyPr/>
                    <a:lstStyle/>
                    <a:p>
                      <a:r>
                        <a:rPr sz="1100" b="0" i="0">
                          <a:solidFill>
                            <a:srgbClr val="16212C"/>
                          </a:solidFill>
                          <a:latin typeface="Calibri"/>
                        </a:rPr>
                        <a:t>STRICT mTLS mesh-wide; PERMISSIVE override on the NodePort-facing port</a:t>
                      </a:r>
                    </a:p>
                  </a:txBody>
                  <a:tcPr marL="73152" marR="73152" marT="36576" marB="36576" anchor="ctr">
                    <a:solidFill>
                      <a:srgbClr val="FFFFFF"/>
                    </a:solidFill>
                  </a:tcPr>
                </a:tc>
                <a:extLst>
                  <a:ext uri="{0D108BD9-81ED-4DB2-BD59-A6C34878D82A}">
                    <a16:rowId xmlns:a16="http://schemas.microsoft.com/office/drawing/2014/main" val="10003"/>
                  </a:ext>
                </a:extLst>
              </a:tr>
              <a:tr h="594360">
                <a:tc>
                  <a:txBody>
                    <a:bodyPr/>
                    <a:lstStyle/>
                    <a:p>
                      <a:r>
                        <a:rPr sz="1100" b="0" i="0" dirty="0">
                          <a:solidFill>
                            <a:srgbClr val="16212C"/>
                          </a:solidFill>
                          <a:latin typeface="Consolas"/>
                        </a:rPr>
                        <a:t>AuthorizationPolicy</a:t>
                      </a:r>
                    </a:p>
                  </a:txBody>
                  <a:tcPr marL="73152" marR="73152" marT="36576" marB="36576" anchor="ctr">
                    <a:solidFill>
                      <a:srgbClr val="FFFFFF"/>
                    </a:solidFill>
                  </a:tcPr>
                </a:tc>
                <a:tc>
                  <a:txBody>
                    <a:bodyPr/>
                    <a:lstStyle/>
                    <a:p>
                      <a:r>
                        <a:rPr sz="1100" b="0" i="0">
                          <a:solidFill>
                            <a:srgbClr val="16212C"/>
                          </a:solidFill>
                          <a:latin typeface="Calibri"/>
                        </a:rPr>
                        <a:t>SPIFFE-identity allow-list: frontend→backend, backend→each mock</a:t>
                      </a:r>
                    </a:p>
                  </a:txBody>
                  <a:tcPr marL="73152" marR="73152" marT="36576" marB="36576" anchor="ctr">
                    <a:solidFill>
                      <a:srgbClr val="FFFFFF"/>
                    </a:solidFill>
                  </a:tcPr>
                </a:tc>
                <a:extLst>
                  <a:ext uri="{0D108BD9-81ED-4DB2-BD59-A6C34878D82A}">
                    <a16:rowId xmlns:a16="http://schemas.microsoft.com/office/drawing/2014/main" val="10004"/>
                  </a:ext>
                </a:extLst>
              </a:tr>
              <a:tr h="594360">
                <a:tc>
                  <a:txBody>
                    <a:bodyPr/>
                    <a:lstStyle/>
                    <a:p>
                      <a:r>
                        <a:rPr sz="1100" b="0" i="0" dirty="0">
                          <a:solidFill>
                            <a:srgbClr val="16212C"/>
                          </a:solidFill>
                          <a:latin typeface="Consolas"/>
                        </a:rPr>
                        <a:t>EnvoyFilter</a:t>
                      </a:r>
                    </a:p>
                  </a:txBody>
                  <a:tcPr marL="73152" marR="73152" marT="36576" marB="36576" anchor="ctr">
                    <a:solidFill>
                      <a:srgbClr val="FFFFFF"/>
                    </a:solidFill>
                  </a:tcPr>
                </a:tc>
                <a:tc>
                  <a:txBody>
                    <a:bodyPr/>
                    <a:lstStyle/>
                    <a:p>
                      <a:r>
                        <a:rPr sz="1100" b="0" i="0">
                          <a:solidFill>
                            <a:srgbClr val="16212C"/>
                          </a:solidFill>
                          <a:latin typeface="Calibri"/>
                        </a:rPr>
                        <a:t>Local rate limit — 20 requests / 10s on backend's inbound listener</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8001000" y="2468880"/>
            <a:ext cx="3520440" cy="356616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02168" y="2615184"/>
            <a:ext cx="3118104" cy="274320"/>
          </a:xfrm>
          <a:prstGeom prst="rect">
            <a:avLst/>
          </a:prstGeom>
          <a:noFill/>
        </p:spPr>
        <p:txBody>
          <a:bodyPr wrap="square" lIns="0" tIns="0" rIns="0" bIns="0" anchor="t">
            <a:spAutoFit/>
          </a:bodyPr>
          <a:lstStyle/>
          <a:p>
            <a:pPr algn="l">
              <a:lnSpc>
                <a:spcPct val="100000"/>
              </a:lnSpc>
            </a:pPr>
            <a:r>
              <a:rPr sz="1000" b="1" i="0" spc="80">
                <a:solidFill>
                  <a:srgbClr val="8A97A2"/>
                </a:solidFill>
                <a:latin typeface="Consolas"/>
              </a:rPr>
              <a:t>“ISN'T THIS OVERKILL FOR THREE MOCKS?”</a:t>
            </a:r>
          </a:p>
        </p:txBody>
      </p:sp>
      <p:sp>
        <p:nvSpPr>
          <p:cNvPr id="9" name="TextBox 8"/>
          <p:cNvSpPr txBox="1"/>
          <p:nvPr/>
        </p:nvSpPr>
        <p:spPr>
          <a:xfrm>
            <a:off x="8202168" y="2926080"/>
            <a:ext cx="3118104" cy="2962656"/>
          </a:xfrm>
          <a:prstGeom prst="rect">
            <a:avLst/>
          </a:prstGeom>
          <a:noFill/>
        </p:spPr>
        <p:txBody>
          <a:bodyPr wrap="square" lIns="0" tIns="0" rIns="0" bIns="0" anchor="t">
            <a:spAutoFit/>
          </a:bodyPr>
          <a:lstStyle/>
          <a:p>
            <a:pPr algn="l">
              <a:lnSpc>
                <a:spcPct val="125000"/>
              </a:lnSpc>
            </a:pPr>
            <a:r>
              <a:rPr sz="1150" b="0" i="0">
                <a:solidFill>
                  <a:srgbClr val="16212C"/>
                </a:solidFill>
                <a:latin typeface="Calibri"/>
              </a:rPr>
              <a:t>Fair question. The exercise explicitly asks for rate limiting, and Istio delivers mTLS, authz, and rate limiting from one control plane rather than three bespoke mechanisms. The real value demonstrated is operating a mesh under genuine constraints — PSA, network policy interaction, cert lifecycle.</a:t>
            </a:r>
          </a:p>
        </p:txBody>
      </p:sp>
      <p:sp>
        <p:nvSpPr>
          <p:cNvPr id="10" name="TextBox 9"/>
          <p:cNvSpPr txBox="1"/>
          <p:nvPr/>
        </p:nvSpPr>
        <p:spPr>
          <a:xfrm>
            <a:off x="10820095" y="6446520"/>
            <a:ext cx="1005840" cy="274320"/>
          </a:xfrm>
          <a:prstGeom prst="rect">
            <a:avLst/>
          </a:prstGeom>
          <a:noFill/>
        </p:spPr>
        <p:txBody>
          <a:bodyPr wrap="square" lIns="0" tIns="0" rIns="0" bIns="0" anchor="t">
            <a:spAutoFit/>
          </a:bodyPr>
          <a:lstStyle/>
          <a:p>
            <a:pPr algn="r">
              <a:lnSpc>
                <a:spcPct val="100000"/>
              </a:lnSpc>
            </a:pPr>
            <a:r>
              <a:rPr sz="900" b="0" i="0">
                <a:solidFill>
                  <a:srgbClr val="8A97A2"/>
                </a:solidFill>
                <a:latin typeface="Consolas"/>
              </a:rPr>
              <a:t>10 / 16</a:t>
            </a:r>
          </a:p>
        </p:txBody>
      </p:sp>
      <p:sp>
        <p:nvSpPr>
          <p:cNvPr id="11" name="TextBox 10"/>
          <p:cNvSpPr txBox="1"/>
          <p:nvPr/>
        </p:nvSpPr>
        <p:spPr>
          <a:xfrm>
            <a:off x="640080" y="6446520"/>
            <a:ext cx="3657600" cy="274320"/>
          </a:xfrm>
          <a:prstGeom prst="rect">
            <a:avLst/>
          </a:prstGeom>
          <a:noFill/>
        </p:spPr>
        <p:txBody>
          <a:bodyPr wrap="square" lIns="0" tIns="0" rIns="0" bIns="0" anchor="t">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2688" y="457200"/>
            <a:ext cx="8229600" cy="169277"/>
          </a:xfrm>
          <a:prstGeom prst="rect">
            <a:avLst/>
          </a:prstGeom>
          <a:noFill/>
        </p:spPr>
        <p:txBody>
          <a:bodyPr wrap="square" lIns="0" tIns="0" rIns="0" bIns="0" anchor="t">
            <a:spAutoFit/>
          </a:bodyPr>
          <a:lstStyle/>
          <a:p>
            <a:pPr algn="l">
              <a:lnSpc>
                <a:spcPct val="100000"/>
              </a:lnSpc>
            </a:pPr>
            <a:r>
              <a:rPr sz="1100" b="1" i="0" spc="110" dirty="0" smtClean="0">
                <a:solidFill>
                  <a:srgbClr val="B5661F"/>
                </a:solidFill>
                <a:latin typeface="Consolas"/>
              </a:rPr>
              <a:t>0</a:t>
            </a:r>
            <a:r>
              <a:rPr lang="en-US" sz="1100" b="1" i="0" spc="110" dirty="0" smtClean="0">
                <a:solidFill>
                  <a:srgbClr val="B5661F"/>
                </a:solidFill>
                <a:latin typeface="Consolas"/>
              </a:rPr>
              <a:t>9</a:t>
            </a:r>
            <a:r>
              <a:rPr sz="1100" b="1" i="0" spc="110" dirty="0" smtClean="0">
                <a:solidFill>
                  <a:srgbClr val="B5661F"/>
                </a:solidFill>
                <a:latin typeface="Consolas"/>
              </a:rPr>
              <a:t> </a:t>
            </a:r>
            <a:r>
              <a:rPr sz="1100" b="1" i="0" spc="110" dirty="0">
                <a:solidFill>
                  <a:srgbClr val="B5661F"/>
                </a:solidFill>
                <a:latin typeface="Consolas"/>
              </a:rPr>
              <a:t>· DEPLOYMENT FLOW</a:t>
            </a:r>
          </a:p>
        </p:txBody>
      </p:sp>
      <p:sp>
        <p:nvSpPr>
          <p:cNvPr id="5" name="TextBox 4"/>
          <p:cNvSpPr txBox="1"/>
          <p:nvPr/>
        </p:nvSpPr>
        <p:spPr>
          <a:xfrm>
            <a:off x="640080" y="841248"/>
            <a:ext cx="10881360" cy="1005840"/>
          </a:xfrm>
          <a:prstGeom prst="rect">
            <a:avLst/>
          </a:prstGeom>
          <a:noFill/>
        </p:spPr>
        <p:txBody>
          <a:bodyPr wrap="square" lIns="0" tIns="0" rIns="0" bIns="0" anchor="t">
            <a:spAutoFit/>
          </a:bodyPr>
          <a:lstStyle/>
          <a:p>
            <a:pPr algn="l">
              <a:lnSpc>
                <a:spcPct val="105000"/>
              </a:lnSpc>
            </a:pPr>
            <a:r>
              <a:rPr sz="2400" b="1" i="0">
                <a:solidFill>
                  <a:srgbClr val="16212C"/>
                </a:solidFill>
                <a:latin typeface="Consolas"/>
              </a:rPr>
              <a:t>Build local, load direct, apply in two phases.</a:t>
            </a:r>
          </a:p>
        </p:txBody>
      </p:sp>
      <p:sp>
        <p:nvSpPr>
          <p:cNvPr id="6" name="Rounded Rectangle 5"/>
          <p:cNvSpPr/>
          <p:nvPr/>
        </p:nvSpPr>
        <p:spPr>
          <a:xfrm>
            <a:off x="640080" y="3291840"/>
            <a:ext cx="1965960" cy="1005840"/>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100" b="1" i="0">
                <a:solidFill>
                  <a:srgbClr val="16212C"/>
                </a:solidFill>
                <a:latin typeface="Consolas"/>
              </a:rPr>
              <a:t>docker build</a:t>
            </a:r>
          </a:p>
          <a:p>
            <a:pPr algn="ctr">
              <a:lnSpc>
                <a:spcPct val="105000"/>
              </a:lnSpc>
            </a:pPr>
            <a:r>
              <a:rPr sz="1100" b="0" i="0">
                <a:solidFill>
                  <a:srgbClr val="16212C"/>
                </a:solidFill>
                <a:latin typeface="Consolas"/>
              </a:rPr>
              <a:t>(3 images, local only)</a:t>
            </a:r>
          </a:p>
        </p:txBody>
      </p:sp>
      <p:cxnSp>
        <p:nvCxnSpPr>
          <p:cNvPr id="7" name="Connector 6"/>
          <p:cNvCxnSpPr/>
          <p:nvPr/>
        </p:nvCxnSpPr>
        <p:spPr>
          <a:xfrm>
            <a:off x="2606039" y="3794760"/>
            <a:ext cx="256033" cy="0"/>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62072" y="3291840"/>
            <a:ext cx="1965960" cy="1005840"/>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100" b="1" i="0">
                <a:solidFill>
                  <a:srgbClr val="16212C"/>
                </a:solidFill>
                <a:latin typeface="Consolas"/>
              </a:rPr>
              <a:t>kind load</a:t>
            </a:r>
          </a:p>
          <a:p>
            <a:pPr algn="ctr">
              <a:lnSpc>
                <a:spcPct val="105000"/>
              </a:lnSpc>
            </a:pPr>
            <a:r>
              <a:rPr sz="1100" b="0" i="0">
                <a:solidFill>
                  <a:srgbClr val="16212C"/>
                </a:solidFill>
                <a:latin typeface="Consolas"/>
              </a:rPr>
              <a:t>docker-image</a:t>
            </a:r>
          </a:p>
        </p:txBody>
      </p:sp>
      <p:cxnSp>
        <p:nvCxnSpPr>
          <p:cNvPr id="9" name="Connector 8"/>
          <p:cNvCxnSpPr/>
          <p:nvPr/>
        </p:nvCxnSpPr>
        <p:spPr>
          <a:xfrm>
            <a:off x="4828031" y="3794760"/>
            <a:ext cx="256033" cy="0"/>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84064" y="3291840"/>
            <a:ext cx="1965960" cy="1005840"/>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100" b="1" i="0">
                <a:solidFill>
                  <a:srgbClr val="16212C"/>
                </a:solidFill>
                <a:latin typeface="Consolas"/>
              </a:rPr>
              <a:t>terraform apply</a:t>
            </a:r>
          </a:p>
          <a:p>
            <a:pPr algn="ctr">
              <a:lnSpc>
                <a:spcPct val="105000"/>
              </a:lnSpc>
            </a:pPr>
            <a:r>
              <a:rPr sz="1100" b="0" i="0">
                <a:solidFill>
                  <a:srgbClr val="16212C"/>
                </a:solidFill>
                <a:latin typeface="Consolas"/>
              </a:rPr>
              <a:t>namespace + app + istio</a:t>
            </a:r>
          </a:p>
        </p:txBody>
      </p:sp>
      <p:cxnSp>
        <p:nvCxnSpPr>
          <p:cNvPr id="11" name="Connector 10"/>
          <p:cNvCxnSpPr/>
          <p:nvPr/>
        </p:nvCxnSpPr>
        <p:spPr>
          <a:xfrm>
            <a:off x="7050023" y="3794760"/>
            <a:ext cx="256032" cy="0"/>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06055" y="3291840"/>
            <a:ext cx="1965960" cy="1005840"/>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100" b="1" i="0">
                <a:solidFill>
                  <a:srgbClr val="16212C"/>
                </a:solidFill>
                <a:latin typeface="Consolas"/>
              </a:rPr>
              <a:t>terraform apply</a:t>
            </a:r>
          </a:p>
          <a:p>
            <a:pPr algn="ctr">
              <a:lnSpc>
                <a:spcPct val="105000"/>
              </a:lnSpc>
            </a:pPr>
            <a:r>
              <a:rPr sz="1100" b="0" i="0">
                <a:solidFill>
                  <a:srgbClr val="16212C"/>
                </a:solidFill>
                <a:latin typeface="Consolas"/>
              </a:rPr>
              <a:t>mesh policies + rollout</a:t>
            </a:r>
          </a:p>
        </p:txBody>
      </p:sp>
      <p:cxnSp>
        <p:nvCxnSpPr>
          <p:cNvPr id="13" name="Connector 12"/>
          <p:cNvCxnSpPr/>
          <p:nvPr/>
        </p:nvCxnSpPr>
        <p:spPr>
          <a:xfrm>
            <a:off x="9272015" y="3794760"/>
            <a:ext cx="256032" cy="0"/>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528047" y="3291840"/>
            <a:ext cx="1965960" cy="1005840"/>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100" b="1" i="0">
                <a:solidFill>
                  <a:srgbClr val="16212C"/>
                </a:solidFill>
                <a:latin typeface="Consolas"/>
              </a:rPr>
              <a:t>kubectl get pods</a:t>
            </a:r>
          </a:p>
          <a:p>
            <a:pPr algn="ctr">
              <a:lnSpc>
                <a:spcPct val="105000"/>
              </a:lnSpc>
            </a:pPr>
            <a:r>
              <a:rPr sz="1100" b="0" i="0">
                <a:solidFill>
                  <a:srgbClr val="16212C"/>
                </a:solidFill>
                <a:latin typeface="Consolas"/>
              </a:rPr>
              <a:t>verify 2/2 Ready</a:t>
            </a:r>
          </a:p>
        </p:txBody>
      </p:sp>
      <p:sp>
        <p:nvSpPr>
          <p:cNvPr id="15" name="TextBox 14"/>
          <p:cNvSpPr txBox="1"/>
          <p:nvPr/>
        </p:nvSpPr>
        <p:spPr>
          <a:xfrm>
            <a:off x="10820095" y="6446520"/>
            <a:ext cx="1005840" cy="274320"/>
          </a:xfrm>
          <a:prstGeom prst="rect">
            <a:avLst/>
          </a:prstGeom>
          <a:noFill/>
        </p:spPr>
        <p:txBody>
          <a:bodyPr wrap="square" lIns="0" tIns="0" rIns="0" bIns="0" anchor="t">
            <a:spAutoFit/>
          </a:bodyPr>
          <a:lstStyle/>
          <a:p>
            <a:pPr algn="r">
              <a:lnSpc>
                <a:spcPct val="100000"/>
              </a:lnSpc>
            </a:pPr>
            <a:r>
              <a:rPr sz="900" b="0" i="0">
                <a:solidFill>
                  <a:srgbClr val="8A97A2"/>
                </a:solidFill>
                <a:latin typeface="Consolas"/>
              </a:rPr>
              <a:t>09 / 16</a:t>
            </a:r>
          </a:p>
        </p:txBody>
      </p:sp>
      <p:sp>
        <p:nvSpPr>
          <p:cNvPr id="16" name="TextBox 15"/>
          <p:cNvSpPr txBox="1"/>
          <p:nvPr/>
        </p:nvSpPr>
        <p:spPr>
          <a:xfrm>
            <a:off x="640080" y="6446520"/>
            <a:ext cx="3657600" cy="274320"/>
          </a:xfrm>
          <a:prstGeom prst="rect">
            <a:avLst/>
          </a:prstGeom>
          <a:noFill/>
        </p:spPr>
        <p:txBody>
          <a:bodyPr wrap="square" lIns="0" tIns="0" rIns="0" bIns="0" anchor="t">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2688" y="457200"/>
            <a:ext cx="8229600" cy="169277"/>
          </a:xfrm>
          <a:prstGeom prst="rect">
            <a:avLst/>
          </a:prstGeom>
          <a:noFill/>
        </p:spPr>
        <p:txBody>
          <a:bodyPr wrap="square" lIns="0" tIns="0" rIns="0" bIns="0" anchor="t">
            <a:spAutoFit/>
          </a:bodyPr>
          <a:lstStyle/>
          <a:p>
            <a:pPr algn="l">
              <a:lnSpc>
                <a:spcPct val="100000"/>
              </a:lnSpc>
            </a:pPr>
            <a:r>
              <a:rPr sz="1100" b="1" i="0" spc="110" dirty="0" smtClean="0">
                <a:solidFill>
                  <a:srgbClr val="B5661F"/>
                </a:solidFill>
                <a:latin typeface="Consolas"/>
              </a:rPr>
              <a:t>1</a:t>
            </a:r>
            <a:r>
              <a:rPr lang="en-US" sz="1100" b="1" i="0" spc="110" dirty="0" smtClean="0">
                <a:solidFill>
                  <a:srgbClr val="B5661F"/>
                </a:solidFill>
                <a:latin typeface="Consolas"/>
              </a:rPr>
              <a:t>0</a:t>
            </a:r>
            <a:r>
              <a:rPr sz="1100" b="1" i="0" spc="110" dirty="0" smtClean="0">
                <a:solidFill>
                  <a:srgbClr val="B5661F"/>
                </a:solidFill>
                <a:latin typeface="Consolas"/>
              </a:rPr>
              <a:t> </a:t>
            </a:r>
            <a:r>
              <a:rPr sz="1100" b="1" i="0" spc="110" dirty="0">
                <a:solidFill>
                  <a:srgbClr val="B5661F"/>
                </a:solidFill>
                <a:latin typeface="Consolas"/>
              </a:rPr>
              <a:t>· SECURITY TOOLING &amp; CI/CD</a:t>
            </a:r>
          </a:p>
        </p:txBody>
      </p:sp>
      <p:sp>
        <p:nvSpPr>
          <p:cNvPr id="5" name="TextBox 4"/>
          <p:cNvSpPr txBox="1"/>
          <p:nvPr/>
        </p:nvSpPr>
        <p:spPr>
          <a:xfrm>
            <a:off x="640080" y="841248"/>
            <a:ext cx="10881360" cy="339132"/>
          </a:xfrm>
          <a:prstGeom prst="rect">
            <a:avLst/>
          </a:prstGeom>
          <a:noFill/>
        </p:spPr>
        <p:txBody>
          <a:bodyPr wrap="square" lIns="0" tIns="0" rIns="0" bIns="0" anchor="t">
            <a:spAutoFit/>
          </a:bodyPr>
          <a:lstStyle/>
          <a:p>
            <a:pPr algn="l">
              <a:lnSpc>
                <a:spcPct val="105000"/>
              </a:lnSpc>
            </a:pPr>
            <a:r>
              <a:rPr lang="en-US" sz="2200" b="1" i="0" dirty="0" smtClean="0">
                <a:solidFill>
                  <a:srgbClr val="16212C"/>
                </a:solidFill>
                <a:latin typeface="Consolas"/>
              </a:rPr>
              <a:t>Security in CICD</a:t>
            </a:r>
            <a:endParaRPr sz="2200" b="1" i="0" dirty="0">
              <a:solidFill>
                <a:srgbClr val="16212C"/>
              </a:solidFill>
              <a:latin typeface="Consolas"/>
            </a:endParaRPr>
          </a:p>
        </p:txBody>
      </p:sp>
      <p:graphicFrame>
        <p:nvGraphicFramePr>
          <p:cNvPr id="6" name="Table 5"/>
          <p:cNvGraphicFramePr>
            <a:graphicFrameLocks noGrp="1"/>
          </p:cNvGraphicFramePr>
          <p:nvPr>
            <p:extLst>
              <p:ext uri="{D42A27DB-BD31-4B8C-83A1-F6EECF244321}">
                <p14:modId xmlns:p14="http://schemas.microsoft.com/office/powerpoint/2010/main" val="280410022"/>
              </p:ext>
            </p:extLst>
          </p:nvPr>
        </p:nvGraphicFramePr>
        <p:xfrm>
          <a:off x="640080" y="2423160"/>
          <a:ext cx="6675120" cy="1874519"/>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tblGrid>
              <a:tr h="468629">
                <a:tc>
                  <a:txBody>
                    <a:bodyPr/>
                    <a:lstStyle/>
                    <a:p>
                      <a:r>
                        <a:rPr sz="950" b="1" i="0" spc="50">
                          <a:solidFill>
                            <a:srgbClr val="8A97A2"/>
                          </a:solidFill>
                          <a:latin typeface="Consolas"/>
                        </a:rPr>
                        <a:t>WORKFLOW</a:t>
                      </a:r>
                    </a:p>
                  </a:txBody>
                  <a:tcPr marL="73152" marR="73152" marT="36576" marB="36576" anchor="ctr">
                    <a:solidFill>
                      <a:srgbClr val="E9EEF1"/>
                    </a:solidFill>
                  </a:tcPr>
                </a:tc>
                <a:tc>
                  <a:txBody>
                    <a:bodyPr/>
                    <a:lstStyle/>
                    <a:p>
                      <a:r>
                        <a:rPr sz="950" b="1" i="0" spc="50">
                          <a:solidFill>
                            <a:srgbClr val="8A97A2"/>
                          </a:solidFill>
                          <a:latin typeface="Consolas"/>
                        </a:rPr>
                        <a:t>GATES</a:t>
                      </a:r>
                    </a:p>
                  </a:txBody>
                  <a:tcPr marL="73152" marR="73152" marT="36576" marB="36576" anchor="ctr">
                    <a:solidFill>
                      <a:srgbClr val="E9EEF1"/>
                    </a:solidFill>
                  </a:tcPr>
                </a:tc>
                <a:extLst>
                  <a:ext uri="{0D108BD9-81ED-4DB2-BD59-A6C34878D82A}">
                    <a16:rowId xmlns:a16="http://schemas.microsoft.com/office/drawing/2014/main" val="10000"/>
                  </a:ext>
                </a:extLst>
              </a:tr>
              <a:tr h="468629">
                <a:tc>
                  <a:txBody>
                    <a:bodyPr/>
                    <a:lstStyle/>
                    <a:p>
                      <a:r>
                        <a:rPr sz="1050" b="0" i="0">
                          <a:solidFill>
                            <a:srgbClr val="16212C"/>
                          </a:solidFill>
                          <a:latin typeface="Consolas"/>
                        </a:rPr>
                        <a:t>ci.yml</a:t>
                      </a:r>
                    </a:p>
                  </a:txBody>
                  <a:tcPr marL="73152" marR="73152" marT="36576" marB="36576" anchor="ctr">
                    <a:solidFill>
                      <a:srgbClr val="FFFFFF"/>
                    </a:solidFill>
                  </a:tcPr>
                </a:tc>
                <a:tc>
                  <a:txBody>
                    <a:bodyPr/>
                    <a:lstStyle/>
                    <a:p>
                      <a:r>
                        <a:rPr sz="1050" b="0" i="0" dirty="0">
                          <a:solidFill>
                            <a:srgbClr val="16212C"/>
                          </a:solidFill>
                          <a:latin typeface="Calibri"/>
                        </a:rPr>
                        <a:t>ruff, black, </a:t>
                      </a:r>
                      <a:r>
                        <a:rPr sz="1050" b="0" i="0" dirty="0" err="1">
                          <a:solidFill>
                            <a:srgbClr val="16212C"/>
                          </a:solidFill>
                          <a:latin typeface="Calibri"/>
                        </a:rPr>
                        <a:t>mypy</a:t>
                      </a:r>
                      <a:r>
                        <a:rPr sz="1050" b="0" i="0" dirty="0">
                          <a:solidFill>
                            <a:srgbClr val="16212C"/>
                          </a:solidFill>
                          <a:latin typeface="Calibri"/>
                        </a:rPr>
                        <a:t>, </a:t>
                      </a:r>
                      <a:r>
                        <a:rPr sz="1050" b="0" i="0" dirty="0" err="1">
                          <a:solidFill>
                            <a:srgbClr val="16212C"/>
                          </a:solidFill>
                          <a:latin typeface="Calibri"/>
                        </a:rPr>
                        <a:t>pytest</a:t>
                      </a:r>
                      <a:r>
                        <a:rPr sz="1050" b="0" i="0" dirty="0">
                          <a:solidFill>
                            <a:srgbClr val="16212C"/>
                          </a:solidFill>
                          <a:latin typeface="Calibri"/>
                        </a:rPr>
                        <a:t> · </a:t>
                      </a:r>
                      <a:r>
                        <a:rPr sz="1050" b="0" i="0" dirty="0" err="1">
                          <a:solidFill>
                            <a:srgbClr val="16212C"/>
                          </a:solidFill>
                          <a:latin typeface="Calibri"/>
                        </a:rPr>
                        <a:t>eslint</a:t>
                      </a:r>
                      <a:r>
                        <a:rPr sz="1050" b="0" i="0" dirty="0">
                          <a:solidFill>
                            <a:srgbClr val="16212C"/>
                          </a:solidFill>
                          <a:latin typeface="Calibri"/>
                        </a:rPr>
                        <a:t>, build, </a:t>
                      </a:r>
                      <a:r>
                        <a:rPr sz="1050" b="0" i="0" dirty="0" err="1" smtClean="0">
                          <a:solidFill>
                            <a:srgbClr val="16212C"/>
                          </a:solidFill>
                          <a:latin typeface="Calibri"/>
                        </a:rPr>
                        <a:t>vitest</a:t>
                      </a:r>
                      <a:endParaRPr sz="1050" b="0" i="0" dirty="0">
                        <a:solidFill>
                          <a:srgbClr val="16212C"/>
                        </a:solidFill>
                        <a:latin typeface="Calibri"/>
                      </a:endParaRPr>
                    </a:p>
                  </a:txBody>
                  <a:tcPr marL="73152" marR="73152" marT="36576" marB="36576" anchor="ctr">
                    <a:solidFill>
                      <a:srgbClr val="FFFFFF"/>
                    </a:solidFill>
                  </a:tcPr>
                </a:tc>
                <a:extLst>
                  <a:ext uri="{0D108BD9-81ED-4DB2-BD59-A6C34878D82A}">
                    <a16:rowId xmlns:a16="http://schemas.microsoft.com/office/drawing/2014/main" val="10001"/>
                  </a:ext>
                </a:extLst>
              </a:tr>
              <a:tr h="468629">
                <a:tc>
                  <a:txBody>
                    <a:bodyPr/>
                    <a:lstStyle/>
                    <a:p>
                      <a:r>
                        <a:rPr sz="1050" b="0" i="0">
                          <a:solidFill>
                            <a:srgbClr val="16212C"/>
                          </a:solidFill>
                          <a:latin typeface="Consolas"/>
                        </a:rPr>
                        <a:t>security-scan.yml</a:t>
                      </a:r>
                    </a:p>
                  </a:txBody>
                  <a:tcPr marL="73152" marR="73152" marT="36576" marB="36576" anchor="ctr">
                    <a:solidFill>
                      <a:srgbClr val="FFFFFF"/>
                    </a:solidFill>
                  </a:tcPr>
                </a:tc>
                <a:tc>
                  <a:txBody>
                    <a:bodyPr/>
                    <a:lstStyle/>
                    <a:p>
                      <a:r>
                        <a:rPr sz="1050" b="0" i="0">
                          <a:solidFill>
                            <a:srgbClr val="16212C"/>
                          </a:solidFill>
                          <a:latin typeface="Calibri"/>
                        </a:rPr>
                        <a:t>gitleaks · Semgrep+Bandit · pip-audit+npm audit · tfsec · kube-linter</a:t>
                      </a:r>
                    </a:p>
                  </a:txBody>
                  <a:tcPr marL="73152" marR="73152" marT="36576" marB="36576" anchor="ctr">
                    <a:solidFill>
                      <a:srgbClr val="FFFFFF"/>
                    </a:solidFill>
                  </a:tcPr>
                </a:tc>
                <a:extLst>
                  <a:ext uri="{0D108BD9-81ED-4DB2-BD59-A6C34878D82A}">
                    <a16:rowId xmlns:a16="http://schemas.microsoft.com/office/drawing/2014/main" val="10002"/>
                  </a:ext>
                </a:extLst>
              </a:tr>
              <a:tr h="468632">
                <a:tc>
                  <a:txBody>
                    <a:bodyPr/>
                    <a:lstStyle/>
                    <a:p>
                      <a:r>
                        <a:rPr sz="1050" b="0" i="0">
                          <a:solidFill>
                            <a:srgbClr val="16212C"/>
                          </a:solidFill>
                          <a:latin typeface="Consolas"/>
                        </a:rPr>
                        <a:t>docker-build-scan.yml</a:t>
                      </a:r>
                    </a:p>
                  </a:txBody>
                  <a:tcPr marL="73152" marR="73152" marT="36576" marB="36576" anchor="ctr">
                    <a:solidFill>
                      <a:srgbClr val="FFFFFF"/>
                    </a:solidFill>
                  </a:tcPr>
                </a:tc>
                <a:tc>
                  <a:txBody>
                    <a:bodyPr/>
                    <a:lstStyle/>
                    <a:p>
                      <a:r>
                        <a:rPr sz="1050" b="0" i="0" dirty="0" err="1">
                          <a:solidFill>
                            <a:srgbClr val="16212C"/>
                          </a:solidFill>
                          <a:latin typeface="Calibri"/>
                        </a:rPr>
                        <a:t>Trivy</a:t>
                      </a:r>
                      <a:r>
                        <a:rPr sz="1050" b="0" i="0" dirty="0">
                          <a:solidFill>
                            <a:srgbClr val="16212C"/>
                          </a:solidFill>
                          <a:latin typeface="Calibri"/>
                        </a:rPr>
                        <a:t> (HIGH/CRITICAL) · SBOM via </a:t>
                      </a:r>
                      <a:r>
                        <a:rPr sz="1050" b="0" i="0" dirty="0" err="1">
                          <a:solidFill>
                            <a:srgbClr val="16212C"/>
                          </a:solidFill>
                          <a:latin typeface="Calibri"/>
                        </a:rPr>
                        <a:t>Syft</a:t>
                      </a:r>
                      <a:r>
                        <a:rPr sz="1050" b="0" i="0" dirty="0">
                          <a:solidFill>
                            <a:srgbClr val="16212C"/>
                          </a:solidFill>
                          <a:latin typeface="Calibri"/>
                        </a:rPr>
                        <a:t>, all 3 images</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640080" y="4526280"/>
            <a:ext cx="1344168"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lIns="0" tIns="0" rtlCol="0" anchor="ctr"/>
          <a:lstStyle/>
          <a:p>
            <a:pPr algn="ctr"/>
            <a:r>
              <a:rPr sz="1000" b="1" i="0" dirty="0" err="1" smtClean="0">
                <a:solidFill>
                  <a:srgbClr val="5B6B78"/>
                </a:solidFill>
                <a:latin typeface="Consolas"/>
              </a:rPr>
              <a:t>gitleaks</a:t>
            </a:r>
            <a:endParaRPr sz="1000" b="1" i="0" dirty="0">
              <a:solidFill>
                <a:srgbClr val="5B6B78"/>
              </a:solidFill>
              <a:latin typeface="Consolas"/>
            </a:endParaRPr>
          </a:p>
        </p:txBody>
      </p:sp>
      <p:sp>
        <p:nvSpPr>
          <p:cNvPr id="8" name="Rounded Rectangle 7"/>
          <p:cNvSpPr/>
          <p:nvPr/>
        </p:nvSpPr>
        <p:spPr>
          <a:xfrm>
            <a:off x="2093976" y="4526280"/>
            <a:ext cx="1216152"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lIns="0" tIns="0" rtlCol="0" anchor="ctr"/>
          <a:lstStyle/>
          <a:p>
            <a:pPr algn="ctr"/>
            <a:r>
              <a:rPr sz="1000" b="1" i="0" dirty="0" err="1" smtClean="0">
                <a:solidFill>
                  <a:srgbClr val="5B6B78"/>
                </a:solidFill>
                <a:latin typeface="Consolas"/>
              </a:rPr>
              <a:t>Semgrep</a:t>
            </a:r>
            <a:endParaRPr sz="1000" b="1" i="0" dirty="0">
              <a:solidFill>
                <a:srgbClr val="5B6B78"/>
              </a:solidFill>
              <a:latin typeface="Consolas"/>
            </a:endParaRPr>
          </a:p>
        </p:txBody>
      </p:sp>
      <p:sp>
        <p:nvSpPr>
          <p:cNvPr id="9" name="Rounded Rectangle 8"/>
          <p:cNvSpPr/>
          <p:nvPr/>
        </p:nvSpPr>
        <p:spPr>
          <a:xfrm>
            <a:off x="3419856" y="4526280"/>
            <a:ext cx="1088136"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lIns="0" tIns="0" rtlCol="0" anchor="ctr"/>
          <a:lstStyle/>
          <a:p>
            <a:pPr algn="ctr"/>
            <a:r>
              <a:rPr lang="en-US" sz="1000" b="1" i="0" dirty="0" smtClean="0">
                <a:solidFill>
                  <a:srgbClr val="5B6B78"/>
                </a:solidFill>
                <a:latin typeface="Consolas"/>
              </a:rPr>
              <a:t> </a:t>
            </a:r>
            <a:r>
              <a:rPr sz="1000" b="1" i="0" dirty="0" smtClean="0">
                <a:solidFill>
                  <a:srgbClr val="5B6B78"/>
                </a:solidFill>
                <a:latin typeface="Consolas"/>
              </a:rPr>
              <a:t>Bandit</a:t>
            </a:r>
            <a:endParaRPr sz="1000" b="1" i="0" dirty="0">
              <a:solidFill>
                <a:srgbClr val="5B6B78"/>
              </a:solidFill>
              <a:latin typeface="Consolas"/>
            </a:endParaRPr>
          </a:p>
        </p:txBody>
      </p:sp>
      <p:sp>
        <p:nvSpPr>
          <p:cNvPr id="10" name="Rounded Rectangle 9"/>
          <p:cNvSpPr/>
          <p:nvPr/>
        </p:nvSpPr>
        <p:spPr>
          <a:xfrm>
            <a:off x="4617720" y="4526280"/>
            <a:ext cx="1472184"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lIns="0" tIns="0" rtlCol="0" anchor="ctr"/>
          <a:lstStyle/>
          <a:p>
            <a:pPr algn="ctr"/>
            <a:r>
              <a:rPr lang="en-US" sz="1000" b="1" i="0" dirty="0" smtClean="0">
                <a:solidFill>
                  <a:srgbClr val="5B6B78"/>
                </a:solidFill>
                <a:latin typeface="Consolas"/>
              </a:rPr>
              <a:t>Dependency: </a:t>
            </a:r>
            <a:r>
              <a:rPr sz="1000" b="1" i="0" dirty="0" smtClean="0">
                <a:solidFill>
                  <a:srgbClr val="5B6B78"/>
                </a:solidFill>
                <a:latin typeface="Consolas"/>
              </a:rPr>
              <a:t>pip-audit</a:t>
            </a:r>
            <a:endParaRPr sz="1000" b="1" i="0" dirty="0">
              <a:solidFill>
                <a:srgbClr val="5B6B78"/>
              </a:solidFill>
              <a:latin typeface="Consolas"/>
            </a:endParaRPr>
          </a:p>
        </p:txBody>
      </p:sp>
      <p:sp>
        <p:nvSpPr>
          <p:cNvPr id="11" name="Rounded Rectangle 10"/>
          <p:cNvSpPr/>
          <p:nvPr/>
        </p:nvSpPr>
        <p:spPr>
          <a:xfrm>
            <a:off x="640080" y="4965192"/>
            <a:ext cx="1472184"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lIns="0" tIns="0" rtlCol="0" anchor="ctr"/>
          <a:lstStyle/>
          <a:p>
            <a:pPr algn="ctr"/>
            <a:r>
              <a:rPr lang="en-US" sz="1000" b="1" i="0" dirty="0" smtClean="0">
                <a:solidFill>
                  <a:srgbClr val="5B6B78"/>
                </a:solidFill>
                <a:latin typeface="Consolas"/>
              </a:rPr>
              <a:t>Dependency: </a:t>
            </a:r>
            <a:r>
              <a:rPr sz="1000" b="1" i="0" dirty="0" err="1" smtClean="0">
                <a:solidFill>
                  <a:srgbClr val="5B6B78"/>
                </a:solidFill>
                <a:latin typeface="Consolas"/>
              </a:rPr>
              <a:t>npm</a:t>
            </a:r>
            <a:r>
              <a:rPr sz="1000" b="1" i="0" dirty="0" smtClean="0">
                <a:solidFill>
                  <a:srgbClr val="5B6B78"/>
                </a:solidFill>
                <a:latin typeface="Consolas"/>
              </a:rPr>
              <a:t> </a:t>
            </a:r>
            <a:r>
              <a:rPr sz="1000" b="1" i="0" dirty="0">
                <a:solidFill>
                  <a:srgbClr val="5B6B78"/>
                </a:solidFill>
                <a:latin typeface="Consolas"/>
              </a:rPr>
              <a:t>audit</a:t>
            </a:r>
          </a:p>
        </p:txBody>
      </p:sp>
      <p:sp>
        <p:nvSpPr>
          <p:cNvPr id="12" name="Rounded Rectangle 11"/>
          <p:cNvSpPr/>
          <p:nvPr/>
        </p:nvSpPr>
        <p:spPr>
          <a:xfrm>
            <a:off x="2221992" y="4965192"/>
            <a:ext cx="960120"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lIns="0" tIns="0" rtlCol="0" anchor="ctr"/>
          <a:lstStyle/>
          <a:p>
            <a:pPr algn="ctr"/>
            <a:r>
              <a:rPr sz="1000" b="1" i="0" dirty="0" err="1" smtClean="0">
                <a:solidFill>
                  <a:srgbClr val="5B6B78"/>
                </a:solidFill>
                <a:latin typeface="Consolas"/>
              </a:rPr>
              <a:t>tfsec</a:t>
            </a:r>
            <a:endParaRPr sz="1000" b="1" i="0" dirty="0">
              <a:solidFill>
                <a:srgbClr val="5B6B78"/>
              </a:solidFill>
              <a:latin typeface="Consolas"/>
            </a:endParaRPr>
          </a:p>
        </p:txBody>
      </p:sp>
      <p:sp>
        <p:nvSpPr>
          <p:cNvPr id="13" name="Rounded Rectangle 12"/>
          <p:cNvSpPr/>
          <p:nvPr/>
        </p:nvSpPr>
        <p:spPr>
          <a:xfrm>
            <a:off x="3291840" y="4965192"/>
            <a:ext cx="1728216"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lIns="0" tIns="0" rtlCol="0" anchor="ctr"/>
          <a:lstStyle/>
          <a:p>
            <a:pPr algn="ctr"/>
            <a:r>
              <a:rPr sz="1000" b="1" i="0" dirty="0" err="1" smtClean="0">
                <a:solidFill>
                  <a:srgbClr val="5B6B78"/>
                </a:solidFill>
                <a:latin typeface="Consolas"/>
              </a:rPr>
              <a:t>kube</a:t>
            </a:r>
            <a:r>
              <a:rPr sz="1000" b="1" i="0" dirty="0" smtClean="0">
                <a:solidFill>
                  <a:srgbClr val="5B6B78"/>
                </a:solidFill>
                <a:latin typeface="Consolas"/>
              </a:rPr>
              <a:t>-linter</a:t>
            </a:r>
            <a:endParaRPr sz="1000" b="1" i="0" dirty="0">
              <a:solidFill>
                <a:srgbClr val="5B6B78"/>
              </a:solidFill>
              <a:latin typeface="Consolas"/>
            </a:endParaRPr>
          </a:p>
        </p:txBody>
      </p:sp>
      <p:sp>
        <p:nvSpPr>
          <p:cNvPr id="14" name="Rounded Rectangle 13"/>
          <p:cNvSpPr/>
          <p:nvPr/>
        </p:nvSpPr>
        <p:spPr>
          <a:xfrm>
            <a:off x="5129784" y="4965192"/>
            <a:ext cx="960120"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lIns="0" tIns="0" rtlCol="0" anchor="ctr"/>
          <a:lstStyle/>
          <a:p>
            <a:pPr algn="ctr"/>
            <a:r>
              <a:rPr sz="1000" b="1" i="0" dirty="0" err="1" smtClean="0">
                <a:solidFill>
                  <a:srgbClr val="5B6B78"/>
                </a:solidFill>
                <a:latin typeface="Consolas"/>
              </a:rPr>
              <a:t>Trivy</a:t>
            </a:r>
            <a:endParaRPr sz="1000" b="1" i="0" dirty="0">
              <a:solidFill>
                <a:srgbClr val="5B6B78"/>
              </a:solidFill>
              <a:latin typeface="Consolas"/>
            </a:endParaRPr>
          </a:p>
        </p:txBody>
      </p:sp>
      <p:sp>
        <p:nvSpPr>
          <p:cNvPr id="15" name="Rounded Rectangle 14"/>
          <p:cNvSpPr/>
          <p:nvPr/>
        </p:nvSpPr>
        <p:spPr>
          <a:xfrm>
            <a:off x="640080" y="5404104"/>
            <a:ext cx="1472184"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lIns="0" tIns="0" rtlCol="0" anchor="ctr"/>
          <a:lstStyle/>
          <a:p>
            <a:pPr algn="ctr"/>
            <a:r>
              <a:rPr sz="1000" b="1" i="0">
                <a:solidFill>
                  <a:srgbClr val="5B6B78"/>
                </a:solidFill>
                <a:latin typeface="Consolas"/>
              </a:rPr>
              <a:t>Syft SBOM</a:t>
            </a:r>
          </a:p>
        </p:txBody>
      </p:sp>
      <p:sp>
        <p:nvSpPr>
          <p:cNvPr id="16" name="Rounded Rectangle 15"/>
          <p:cNvSpPr/>
          <p:nvPr/>
        </p:nvSpPr>
        <p:spPr>
          <a:xfrm>
            <a:off x="2221992" y="5404104"/>
            <a:ext cx="1600200" cy="365760"/>
          </a:xfrm>
          <a:prstGeom prst="roundRect">
            <a:avLst>
              <a:gd name="adj" fmla="val 50000"/>
            </a:avLst>
          </a:prstGeom>
          <a:solidFill>
            <a:srgbClr val="E9EEF1"/>
          </a:solidFill>
          <a:ln w="6350">
            <a:solidFill>
              <a:srgbClr val="D6DEE3"/>
            </a:solidFill>
          </a:ln>
          <a:effectLst/>
        </p:spPr>
        <p:style>
          <a:lnRef idx="1">
            <a:schemeClr val="accent1"/>
          </a:lnRef>
          <a:fillRef idx="3">
            <a:schemeClr val="accent1"/>
          </a:fillRef>
          <a:effectRef idx="2">
            <a:schemeClr val="accent1"/>
          </a:effectRef>
          <a:fontRef idx="minor">
            <a:schemeClr val="lt1"/>
          </a:fontRef>
        </p:style>
        <p:txBody>
          <a:bodyPr lIns="0" tIns="0" rtlCol="0" anchor="ctr"/>
          <a:lstStyle/>
          <a:p>
            <a:pPr algn="ctr"/>
            <a:r>
              <a:rPr sz="1000" b="1" i="0">
                <a:solidFill>
                  <a:srgbClr val="5B6B78"/>
                </a:solidFill>
                <a:latin typeface="Consolas"/>
              </a:rPr>
              <a:t>Dependabot</a:t>
            </a:r>
          </a:p>
        </p:txBody>
      </p:sp>
      <p:sp>
        <p:nvSpPr>
          <p:cNvPr id="17" name="TextBox 16"/>
          <p:cNvSpPr txBox="1"/>
          <p:nvPr/>
        </p:nvSpPr>
        <p:spPr>
          <a:xfrm>
            <a:off x="8001000" y="2423160"/>
            <a:ext cx="3566160" cy="3535455"/>
          </a:xfrm>
          <a:prstGeom prst="rect">
            <a:avLst/>
          </a:prstGeom>
          <a:noFill/>
        </p:spPr>
        <p:txBody>
          <a:bodyPr wrap="square" lIns="0" tIns="0" rIns="0" bIns="0">
            <a:spAutoFit/>
          </a:bodyPr>
          <a:lstStyle/>
          <a:p>
            <a:pPr marL="182880" indent="-182880">
              <a:lnSpc>
                <a:spcPct val="122000"/>
              </a:lnSpc>
              <a:spcAft>
                <a:spcPts val="1008"/>
              </a:spcAft>
              <a:buFont typeface="Arial"/>
              <a:buChar char="•"/>
            </a:pPr>
            <a:r>
              <a:rPr sz="1150" b="1" i="0" dirty="0">
                <a:solidFill>
                  <a:srgbClr val="B5661F"/>
                </a:solidFill>
                <a:latin typeface="Calibri"/>
              </a:rPr>
              <a:t>  </a:t>
            </a:r>
            <a:r>
              <a:rPr sz="1150" b="1" i="0" dirty="0">
                <a:solidFill>
                  <a:srgbClr val="16212C"/>
                </a:solidFill>
                <a:latin typeface="Calibri"/>
              </a:rPr>
              <a:t>Every Action pinned </a:t>
            </a:r>
            <a:r>
              <a:rPr sz="1150" b="0" i="0" dirty="0">
                <a:solidFill>
                  <a:srgbClr val="5B6B78"/>
                </a:solidFill>
                <a:latin typeface="Calibri"/>
              </a:rPr>
              <a:t>to an exact version — never @main.</a:t>
            </a:r>
          </a:p>
          <a:p>
            <a:pPr marL="182880" indent="-182880">
              <a:lnSpc>
                <a:spcPct val="122000"/>
              </a:lnSpc>
              <a:spcAft>
                <a:spcPts val="1008"/>
              </a:spcAft>
              <a:buFont typeface="Arial"/>
              <a:buChar char="•"/>
            </a:pPr>
            <a:r>
              <a:rPr sz="1150" b="1" i="0" dirty="0">
                <a:solidFill>
                  <a:srgbClr val="B5661F"/>
                </a:solidFill>
                <a:latin typeface="Calibri"/>
              </a:rPr>
              <a:t>  </a:t>
            </a:r>
            <a:r>
              <a:rPr sz="1150" b="1" i="0" dirty="0" err="1">
                <a:solidFill>
                  <a:srgbClr val="16212C"/>
                </a:solidFill>
                <a:latin typeface="Calibri"/>
              </a:rPr>
              <a:t>Dependabot</a:t>
            </a:r>
            <a:r>
              <a:rPr sz="1150" b="1" i="0" dirty="0">
                <a:solidFill>
                  <a:srgbClr val="16212C"/>
                </a:solidFill>
                <a:latin typeface="Calibri"/>
              </a:rPr>
              <a:t>, </a:t>
            </a:r>
            <a:r>
              <a:rPr sz="1150" b="0" i="0" dirty="0">
                <a:solidFill>
                  <a:srgbClr val="5B6B78"/>
                </a:solidFill>
                <a:latin typeface="Calibri"/>
              </a:rPr>
              <a:t>five ecosystems, weekly.</a:t>
            </a:r>
          </a:p>
          <a:p>
            <a:pPr marL="182880" indent="-182880">
              <a:lnSpc>
                <a:spcPct val="122000"/>
              </a:lnSpc>
              <a:spcAft>
                <a:spcPts val="1008"/>
              </a:spcAft>
              <a:buFont typeface="Arial"/>
              <a:buChar char="•"/>
            </a:pPr>
            <a:r>
              <a:rPr sz="1150" b="1" i="0" dirty="0">
                <a:solidFill>
                  <a:srgbClr val="B5661F"/>
                </a:solidFill>
                <a:latin typeface="Calibri"/>
              </a:rPr>
              <a:t>  </a:t>
            </a:r>
            <a:r>
              <a:rPr sz="1150" b="1" i="0" dirty="0">
                <a:solidFill>
                  <a:srgbClr val="16212C"/>
                </a:solidFill>
                <a:latin typeface="Calibri"/>
              </a:rPr>
              <a:t>Two scoping decisions, </a:t>
            </a:r>
            <a:r>
              <a:rPr sz="1150" b="0" i="0" dirty="0">
                <a:solidFill>
                  <a:srgbClr val="5B6B78"/>
                </a:solidFill>
                <a:latin typeface="Calibri"/>
              </a:rPr>
              <a:t>both documented: </a:t>
            </a:r>
            <a:r>
              <a:rPr sz="1150" b="0" i="0" dirty="0" err="1">
                <a:solidFill>
                  <a:srgbClr val="5B6B78"/>
                </a:solidFill>
                <a:latin typeface="Calibri"/>
              </a:rPr>
              <a:t>npm</a:t>
            </a:r>
            <a:r>
              <a:rPr sz="1150" b="0" i="0" dirty="0">
                <a:solidFill>
                  <a:srgbClr val="5B6B78"/>
                </a:solidFill>
                <a:latin typeface="Calibri"/>
              </a:rPr>
              <a:t> audit --omit=dev and </a:t>
            </a:r>
            <a:r>
              <a:rPr sz="1150" b="0" i="0" dirty="0" err="1">
                <a:solidFill>
                  <a:srgbClr val="5B6B78"/>
                </a:solidFill>
                <a:latin typeface="Calibri"/>
              </a:rPr>
              <a:t>Trivy's</a:t>
            </a:r>
            <a:r>
              <a:rPr sz="1150" b="0" i="0" dirty="0">
                <a:solidFill>
                  <a:srgbClr val="5B6B78"/>
                </a:solidFill>
                <a:latin typeface="Calibri"/>
              </a:rPr>
              <a:t> ignore-unfixed.</a:t>
            </a:r>
          </a:p>
          <a:p>
            <a:pPr marL="182880" indent="-182880">
              <a:lnSpc>
                <a:spcPct val="122000"/>
              </a:lnSpc>
              <a:spcAft>
                <a:spcPts val="1008"/>
              </a:spcAft>
              <a:buFont typeface="Arial"/>
              <a:buChar char="•"/>
            </a:pPr>
            <a:r>
              <a:rPr sz="1150" b="1" i="0" dirty="0">
                <a:solidFill>
                  <a:srgbClr val="B5661F"/>
                </a:solidFill>
                <a:latin typeface="Calibri"/>
              </a:rPr>
              <a:t>  </a:t>
            </a:r>
            <a:r>
              <a:rPr sz="1150" b="1" i="0" dirty="0">
                <a:solidFill>
                  <a:srgbClr val="16212C"/>
                </a:solidFill>
                <a:latin typeface="Calibri"/>
              </a:rPr>
              <a:t>No CD job: </a:t>
            </a:r>
            <a:r>
              <a:rPr sz="1150" b="0" i="0" dirty="0">
                <a:solidFill>
                  <a:srgbClr val="5B6B78"/>
                </a:solidFill>
                <a:latin typeface="Calibri"/>
              </a:rPr>
              <a:t>a GitHub-hosted runner can't reach a laptop's kind cluster</a:t>
            </a:r>
            <a:r>
              <a:rPr sz="1150" b="0" i="0" dirty="0" smtClean="0">
                <a:solidFill>
                  <a:srgbClr val="5B6B78"/>
                </a:solidFill>
                <a:latin typeface="Calibri"/>
              </a:rPr>
              <a:t>.</a:t>
            </a:r>
            <a:endParaRPr lang="en-US" sz="1150" b="0" i="0" dirty="0" smtClean="0">
              <a:solidFill>
                <a:srgbClr val="5B6B78"/>
              </a:solidFill>
              <a:latin typeface="Calibri"/>
            </a:endParaRPr>
          </a:p>
          <a:p>
            <a:pPr marL="182880" indent="-182880">
              <a:lnSpc>
                <a:spcPct val="122000"/>
              </a:lnSpc>
              <a:spcAft>
                <a:spcPts val="1008"/>
              </a:spcAft>
              <a:buFont typeface="Arial"/>
              <a:buChar char="•"/>
            </a:pPr>
            <a:r>
              <a:rPr lang="en-US" sz="1150" dirty="0" smtClean="0">
                <a:solidFill>
                  <a:srgbClr val="5B6B78"/>
                </a:solidFill>
                <a:latin typeface="Calibri"/>
              </a:rPr>
              <a:t>Secret Scan: </a:t>
            </a:r>
            <a:r>
              <a:rPr lang="en-US" sz="1150" dirty="0" err="1" smtClean="0">
                <a:solidFill>
                  <a:srgbClr val="5B6B78"/>
                </a:solidFill>
                <a:latin typeface="Calibri"/>
              </a:rPr>
              <a:t>GitLeaks</a:t>
            </a:r>
            <a:r>
              <a:rPr lang="en-US" sz="1150" dirty="0" smtClean="0">
                <a:solidFill>
                  <a:srgbClr val="5B6B78"/>
                </a:solidFill>
                <a:latin typeface="Calibri"/>
              </a:rPr>
              <a:t>, Code Vulnerability: </a:t>
            </a:r>
            <a:r>
              <a:rPr lang="en-US" sz="1150" dirty="0" err="1" smtClean="0">
                <a:solidFill>
                  <a:srgbClr val="5B6B78"/>
                </a:solidFill>
                <a:latin typeface="Calibri"/>
              </a:rPr>
              <a:t>Semgrep</a:t>
            </a:r>
            <a:r>
              <a:rPr lang="en-US" sz="1150" dirty="0" smtClean="0">
                <a:solidFill>
                  <a:srgbClr val="5B6B78"/>
                </a:solidFill>
                <a:latin typeface="Calibri"/>
              </a:rPr>
              <a:t>, Bandit; Dependency Check: pip-audit, </a:t>
            </a:r>
            <a:r>
              <a:rPr lang="en-US" sz="1150" dirty="0" err="1" smtClean="0">
                <a:solidFill>
                  <a:srgbClr val="5B6B78"/>
                </a:solidFill>
                <a:latin typeface="Calibri"/>
              </a:rPr>
              <a:t>npm</a:t>
            </a:r>
            <a:r>
              <a:rPr lang="en-US" sz="1150" dirty="0" smtClean="0">
                <a:solidFill>
                  <a:srgbClr val="5B6B78"/>
                </a:solidFill>
                <a:latin typeface="Calibri"/>
              </a:rPr>
              <a:t> audit; Terraform: </a:t>
            </a:r>
            <a:r>
              <a:rPr lang="en-US" sz="1150" dirty="0" err="1" smtClean="0">
                <a:solidFill>
                  <a:srgbClr val="5B6B78"/>
                </a:solidFill>
                <a:latin typeface="Calibri"/>
              </a:rPr>
              <a:t>tfsec</a:t>
            </a:r>
            <a:r>
              <a:rPr lang="en-US" sz="1150" dirty="0" smtClean="0">
                <a:solidFill>
                  <a:srgbClr val="5B6B78"/>
                </a:solidFill>
                <a:latin typeface="Calibri"/>
              </a:rPr>
              <a:t>, Kubernetes: </a:t>
            </a:r>
            <a:r>
              <a:rPr lang="en-US" sz="1150" dirty="0" err="1" smtClean="0">
                <a:solidFill>
                  <a:srgbClr val="5B6B78"/>
                </a:solidFill>
                <a:latin typeface="Calibri"/>
              </a:rPr>
              <a:t>kube</a:t>
            </a:r>
            <a:r>
              <a:rPr lang="en-US" sz="1150" dirty="0" smtClean="0">
                <a:solidFill>
                  <a:srgbClr val="5B6B78"/>
                </a:solidFill>
                <a:latin typeface="Calibri"/>
              </a:rPr>
              <a:t>-linter, Static code analysis: </a:t>
            </a:r>
            <a:r>
              <a:rPr lang="en-US" sz="1150" dirty="0" err="1" smtClean="0">
                <a:solidFill>
                  <a:srgbClr val="5B6B78"/>
                </a:solidFill>
                <a:latin typeface="Calibri"/>
              </a:rPr>
              <a:t>Trivy</a:t>
            </a:r>
            <a:r>
              <a:rPr lang="en-US" sz="1150" dirty="0" smtClean="0">
                <a:solidFill>
                  <a:srgbClr val="5B6B78"/>
                </a:solidFill>
                <a:latin typeface="Calibri"/>
              </a:rPr>
              <a:t>,  Python Linter: ruff, Python code formatter: Black, </a:t>
            </a:r>
            <a:r>
              <a:rPr lang="en-US" sz="1150" dirty="0" err="1" smtClean="0">
                <a:solidFill>
                  <a:srgbClr val="5B6B78"/>
                </a:solidFill>
                <a:latin typeface="Calibri"/>
              </a:rPr>
              <a:t>mypy</a:t>
            </a:r>
            <a:r>
              <a:rPr lang="en-US" sz="1150" dirty="0" smtClean="0">
                <a:solidFill>
                  <a:srgbClr val="5B6B78"/>
                </a:solidFill>
                <a:latin typeface="Calibri"/>
              </a:rPr>
              <a:t>: </a:t>
            </a:r>
            <a:r>
              <a:rPr lang="en-US" sz="1150" dirty="0" err="1" smtClean="0">
                <a:solidFill>
                  <a:srgbClr val="5B6B78"/>
                </a:solidFill>
                <a:latin typeface="Calibri"/>
              </a:rPr>
              <a:t>typechecker</a:t>
            </a:r>
            <a:r>
              <a:rPr lang="en-US" sz="1150" dirty="0" smtClean="0">
                <a:solidFill>
                  <a:srgbClr val="5B6B78"/>
                </a:solidFill>
                <a:latin typeface="Calibri"/>
              </a:rPr>
              <a:t>, </a:t>
            </a:r>
            <a:r>
              <a:rPr lang="en-US" sz="1150" dirty="0" err="1" smtClean="0">
                <a:solidFill>
                  <a:srgbClr val="5B6B78"/>
                </a:solidFill>
                <a:latin typeface="Calibri"/>
              </a:rPr>
              <a:t>pytest</a:t>
            </a:r>
            <a:r>
              <a:rPr lang="en-US" sz="1150" dirty="0" smtClean="0">
                <a:solidFill>
                  <a:srgbClr val="5B6B78"/>
                </a:solidFill>
                <a:latin typeface="Calibri"/>
              </a:rPr>
              <a:t>: Python Testing framework, </a:t>
            </a:r>
            <a:r>
              <a:rPr lang="en-US" sz="1150" dirty="0" err="1" smtClean="0">
                <a:solidFill>
                  <a:srgbClr val="5B6B78"/>
                </a:solidFill>
                <a:latin typeface="Calibri"/>
              </a:rPr>
              <a:t>FSLint</a:t>
            </a:r>
            <a:r>
              <a:rPr lang="en-US" sz="1150" dirty="0" smtClean="0">
                <a:solidFill>
                  <a:srgbClr val="5B6B78"/>
                </a:solidFill>
                <a:latin typeface="Calibri"/>
              </a:rPr>
              <a:t>: JS/TS Linter, </a:t>
            </a:r>
            <a:r>
              <a:rPr lang="en-US" sz="1150" dirty="0" err="1" smtClean="0">
                <a:solidFill>
                  <a:srgbClr val="5B6B78"/>
                </a:solidFill>
                <a:latin typeface="Calibri"/>
              </a:rPr>
              <a:t>Vitest</a:t>
            </a:r>
            <a:r>
              <a:rPr lang="en-US" sz="1150" dirty="0" smtClean="0">
                <a:solidFill>
                  <a:srgbClr val="5B6B78"/>
                </a:solidFill>
                <a:latin typeface="Calibri"/>
              </a:rPr>
              <a:t>: JS Testing Framework, </a:t>
            </a:r>
            <a:endParaRPr sz="1150" b="0" i="0" dirty="0">
              <a:solidFill>
                <a:srgbClr val="5B6B78"/>
              </a:solidFill>
              <a:latin typeface="Calibri"/>
            </a:endParaRPr>
          </a:p>
        </p:txBody>
      </p:sp>
      <p:sp>
        <p:nvSpPr>
          <p:cNvPr id="18" name="TextBox 17"/>
          <p:cNvSpPr txBox="1"/>
          <p:nvPr/>
        </p:nvSpPr>
        <p:spPr>
          <a:xfrm>
            <a:off x="10820095" y="6446520"/>
            <a:ext cx="1005840" cy="274320"/>
          </a:xfrm>
          <a:prstGeom prst="rect">
            <a:avLst/>
          </a:prstGeom>
          <a:noFill/>
        </p:spPr>
        <p:txBody>
          <a:bodyPr wrap="square" lIns="0" tIns="0" rIns="0" bIns="0" anchor="t">
            <a:spAutoFit/>
          </a:bodyPr>
          <a:lstStyle/>
          <a:p>
            <a:pPr algn="r">
              <a:lnSpc>
                <a:spcPct val="100000"/>
              </a:lnSpc>
            </a:pPr>
            <a:r>
              <a:rPr sz="900" b="0" i="0">
                <a:solidFill>
                  <a:srgbClr val="8A97A2"/>
                </a:solidFill>
                <a:latin typeface="Consolas"/>
              </a:rPr>
              <a:t>12 / 16</a:t>
            </a:r>
          </a:p>
        </p:txBody>
      </p:sp>
      <p:sp>
        <p:nvSpPr>
          <p:cNvPr id="19" name="TextBox 18"/>
          <p:cNvSpPr txBox="1"/>
          <p:nvPr/>
        </p:nvSpPr>
        <p:spPr>
          <a:xfrm>
            <a:off x="640080" y="6446520"/>
            <a:ext cx="3657600" cy="274320"/>
          </a:xfrm>
          <a:prstGeom prst="rect">
            <a:avLst/>
          </a:prstGeom>
          <a:noFill/>
        </p:spPr>
        <p:txBody>
          <a:bodyPr wrap="square" lIns="0" tIns="0" rIns="0" bIns="0" anchor="t">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2688" y="457200"/>
            <a:ext cx="8229600" cy="169277"/>
          </a:xfrm>
          <a:prstGeom prst="rect">
            <a:avLst/>
          </a:prstGeom>
          <a:noFill/>
        </p:spPr>
        <p:txBody>
          <a:bodyPr wrap="square" lIns="0" tIns="0" rIns="0" bIns="0" anchor="t">
            <a:spAutoFit/>
          </a:bodyPr>
          <a:lstStyle/>
          <a:p>
            <a:pPr algn="l">
              <a:lnSpc>
                <a:spcPct val="100000"/>
              </a:lnSpc>
            </a:pPr>
            <a:r>
              <a:rPr sz="1100" b="1" i="0" spc="110" dirty="0" smtClean="0">
                <a:solidFill>
                  <a:srgbClr val="B5661F"/>
                </a:solidFill>
                <a:latin typeface="Consolas"/>
              </a:rPr>
              <a:t>1</a:t>
            </a:r>
            <a:r>
              <a:rPr lang="en-US" sz="1100" b="1" i="0" spc="110" dirty="0" smtClean="0">
                <a:solidFill>
                  <a:srgbClr val="B5661F"/>
                </a:solidFill>
                <a:latin typeface="Consolas"/>
              </a:rPr>
              <a:t>1</a:t>
            </a:r>
            <a:r>
              <a:rPr sz="1100" b="1" i="0" spc="110" dirty="0" smtClean="0">
                <a:solidFill>
                  <a:srgbClr val="B5661F"/>
                </a:solidFill>
                <a:latin typeface="Consolas"/>
              </a:rPr>
              <a:t> </a:t>
            </a:r>
            <a:r>
              <a:rPr sz="1100" b="1" i="0" spc="110" dirty="0">
                <a:solidFill>
                  <a:srgbClr val="B5661F"/>
                </a:solidFill>
                <a:latin typeface="Consolas"/>
              </a:rPr>
              <a:t>· SECURITY ARCHITECTURE</a:t>
            </a:r>
          </a:p>
        </p:txBody>
      </p:sp>
      <p:sp>
        <p:nvSpPr>
          <p:cNvPr id="5" name="TextBox 4"/>
          <p:cNvSpPr txBox="1"/>
          <p:nvPr/>
        </p:nvSpPr>
        <p:spPr>
          <a:xfrm>
            <a:off x="640080" y="841248"/>
            <a:ext cx="10881360" cy="1005840"/>
          </a:xfrm>
          <a:prstGeom prst="rect">
            <a:avLst/>
          </a:prstGeom>
          <a:noFill/>
        </p:spPr>
        <p:txBody>
          <a:bodyPr wrap="square" lIns="0" tIns="0" rIns="0" bIns="0" anchor="t">
            <a:spAutoFit/>
          </a:bodyPr>
          <a:lstStyle/>
          <a:p>
            <a:pPr algn="l">
              <a:lnSpc>
                <a:spcPct val="105000"/>
              </a:lnSpc>
            </a:pPr>
            <a:r>
              <a:rPr sz="2300" b="1" i="0">
                <a:solidFill>
                  <a:srgbClr val="16212C"/>
                </a:solidFill>
                <a:latin typeface="Consolas"/>
              </a:rPr>
              <a:t>Five independent layers between a request and the application.</a:t>
            </a:r>
          </a:p>
        </p:txBody>
      </p:sp>
      <p:sp>
        <p:nvSpPr>
          <p:cNvPr id="6" name="Rounded Rectangle 5"/>
          <p:cNvSpPr/>
          <p:nvPr/>
        </p:nvSpPr>
        <p:spPr>
          <a:xfrm>
            <a:off x="2194560" y="2331720"/>
            <a:ext cx="7772400" cy="621792"/>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200" b="1" i="0">
                <a:solidFill>
                  <a:srgbClr val="16212C"/>
                </a:solidFill>
                <a:latin typeface="Calibri"/>
              </a:rPr>
              <a:t>Restricted Pod Security Standard — non-root · no priv-escalation · capabilities dropped · seccomp</a:t>
            </a:r>
          </a:p>
        </p:txBody>
      </p:sp>
      <p:cxnSp>
        <p:nvCxnSpPr>
          <p:cNvPr id="7" name="Connector 6"/>
          <p:cNvCxnSpPr/>
          <p:nvPr/>
        </p:nvCxnSpPr>
        <p:spPr>
          <a:xfrm>
            <a:off x="6080760" y="2953512"/>
            <a:ext cx="0" cy="128016"/>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194560" y="3081528"/>
            <a:ext cx="7772400" cy="621792"/>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200" b="1" i="0">
                <a:solidFill>
                  <a:srgbClr val="16212C"/>
                </a:solidFill>
                <a:latin typeface="Calibri"/>
              </a:rPr>
              <a:t>NetworkPolicy — default-deny + explicit allow-list</a:t>
            </a:r>
          </a:p>
        </p:txBody>
      </p:sp>
      <p:cxnSp>
        <p:nvCxnSpPr>
          <p:cNvPr id="9" name="Connector 8"/>
          <p:cNvCxnSpPr/>
          <p:nvPr/>
        </p:nvCxnSpPr>
        <p:spPr>
          <a:xfrm>
            <a:off x="6080760" y="3703320"/>
            <a:ext cx="0" cy="128015"/>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194560" y="3831336"/>
            <a:ext cx="7772400" cy="621792"/>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200" b="1" i="0">
                <a:solidFill>
                  <a:srgbClr val="16212C"/>
                </a:solidFill>
                <a:latin typeface="Calibri"/>
              </a:rPr>
              <a:t>Mutual TLS (STRICT) — every in-mesh hop encrypted + authenticated</a:t>
            </a:r>
          </a:p>
        </p:txBody>
      </p:sp>
      <p:cxnSp>
        <p:nvCxnSpPr>
          <p:cNvPr id="11" name="Connector 10"/>
          <p:cNvCxnSpPr/>
          <p:nvPr/>
        </p:nvCxnSpPr>
        <p:spPr>
          <a:xfrm>
            <a:off x="6080760" y="4453128"/>
            <a:ext cx="0" cy="128016"/>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194560" y="4581144"/>
            <a:ext cx="7772400" cy="621792"/>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200" b="1" i="0" dirty="0">
                <a:solidFill>
                  <a:srgbClr val="16212C"/>
                </a:solidFill>
                <a:latin typeface="Calibri"/>
              </a:rPr>
              <a:t>AuthorizationPolicy — SPIFFE workload identity, not IP</a:t>
            </a:r>
          </a:p>
        </p:txBody>
      </p:sp>
      <p:cxnSp>
        <p:nvCxnSpPr>
          <p:cNvPr id="13" name="Connector 12"/>
          <p:cNvCxnSpPr/>
          <p:nvPr/>
        </p:nvCxnSpPr>
        <p:spPr>
          <a:xfrm>
            <a:off x="6080760" y="5202936"/>
            <a:ext cx="0" cy="128016"/>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194560" y="5330952"/>
            <a:ext cx="7772400" cy="621792"/>
          </a:xfrm>
          <a:prstGeom prst="roundRect">
            <a:avLst>
              <a:gd name="adj" fmla="val 12000"/>
            </a:avLst>
          </a:prstGeom>
          <a:solidFill>
            <a:srgbClr val="E9EEF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200" b="1" i="0">
                <a:solidFill>
                  <a:srgbClr val="16212C"/>
                </a:solidFill>
                <a:latin typeface="Calibri"/>
              </a:rPr>
              <a:t>Local rate limit — 20 req / 10s token bucket</a:t>
            </a:r>
          </a:p>
        </p:txBody>
      </p:sp>
      <p:cxnSp>
        <p:nvCxnSpPr>
          <p:cNvPr id="15" name="Connector 14"/>
          <p:cNvCxnSpPr/>
          <p:nvPr/>
        </p:nvCxnSpPr>
        <p:spPr>
          <a:xfrm>
            <a:off x="6080760" y="5952744"/>
            <a:ext cx="0" cy="128016"/>
          </a:xfrm>
          <a:prstGeom prst="line">
            <a:avLst/>
          </a:prstGeom>
          <a:ln w="22225">
            <a:solidFill>
              <a:srgbClr val="B566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194560" y="6080760"/>
            <a:ext cx="7772400" cy="621792"/>
          </a:xfrm>
          <a:prstGeom prst="roundRect">
            <a:avLst>
              <a:gd name="adj" fmla="val 12000"/>
            </a:avLst>
          </a:prstGeom>
          <a:solidFill>
            <a:srgbClr val="F4E3D1"/>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lnSpc>
                <a:spcPct val="105000"/>
              </a:lnSpc>
            </a:pPr>
            <a:r>
              <a:rPr sz="1200" b="1" i="0">
                <a:solidFill>
                  <a:srgbClr val="16212C"/>
                </a:solidFill>
                <a:latin typeface="Calibri"/>
              </a:rPr>
              <a:t>Application container</a:t>
            </a:r>
          </a:p>
        </p:txBody>
      </p:sp>
      <p:sp>
        <p:nvSpPr>
          <p:cNvPr id="17" name="TextBox 16"/>
          <p:cNvSpPr txBox="1"/>
          <p:nvPr/>
        </p:nvSpPr>
        <p:spPr>
          <a:xfrm>
            <a:off x="10820095" y="6446520"/>
            <a:ext cx="1005840" cy="274320"/>
          </a:xfrm>
          <a:prstGeom prst="rect">
            <a:avLst/>
          </a:prstGeom>
          <a:noFill/>
        </p:spPr>
        <p:txBody>
          <a:bodyPr wrap="square" lIns="0" tIns="0" rIns="0" bIns="0" anchor="t">
            <a:spAutoFit/>
          </a:bodyPr>
          <a:lstStyle/>
          <a:p>
            <a:pPr algn="r">
              <a:lnSpc>
                <a:spcPct val="100000"/>
              </a:lnSpc>
            </a:pPr>
            <a:r>
              <a:rPr sz="900" b="0" i="0">
                <a:solidFill>
                  <a:srgbClr val="8A97A2"/>
                </a:solidFill>
                <a:latin typeface="Consolas"/>
              </a:rPr>
              <a:t>11 / 16</a:t>
            </a:r>
          </a:p>
        </p:txBody>
      </p:sp>
      <p:sp>
        <p:nvSpPr>
          <p:cNvPr id="18" name="TextBox 17"/>
          <p:cNvSpPr txBox="1"/>
          <p:nvPr/>
        </p:nvSpPr>
        <p:spPr>
          <a:xfrm>
            <a:off x="640080" y="6446520"/>
            <a:ext cx="3657600" cy="274320"/>
          </a:xfrm>
          <a:prstGeom prst="rect">
            <a:avLst/>
          </a:prstGeom>
          <a:noFill/>
        </p:spPr>
        <p:txBody>
          <a:bodyPr wrap="square" lIns="0" tIns="0" rIns="0" bIns="0" anchor="t">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2688" y="457200"/>
            <a:ext cx="8229600" cy="169277"/>
          </a:xfrm>
          <a:prstGeom prst="rect">
            <a:avLst/>
          </a:prstGeom>
          <a:noFill/>
        </p:spPr>
        <p:txBody>
          <a:bodyPr wrap="square" lIns="0" tIns="0" rIns="0" bIns="0" anchor="t">
            <a:spAutoFit/>
          </a:bodyPr>
          <a:lstStyle/>
          <a:p>
            <a:pPr algn="l">
              <a:lnSpc>
                <a:spcPct val="100000"/>
              </a:lnSpc>
            </a:pPr>
            <a:r>
              <a:rPr sz="1100" b="1" i="0" spc="110" dirty="0" smtClean="0">
                <a:solidFill>
                  <a:srgbClr val="B5661F"/>
                </a:solidFill>
                <a:latin typeface="Consolas"/>
              </a:rPr>
              <a:t>1</a:t>
            </a:r>
            <a:r>
              <a:rPr lang="en-US" sz="1100" b="1" i="0" spc="110" dirty="0" smtClean="0">
                <a:solidFill>
                  <a:srgbClr val="B5661F"/>
                </a:solidFill>
                <a:latin typeface="Consolas"/>
              </a:rPr>
              <a:t>2</a:t>
            </a:r>
            <a:r>
              <a:rPr sz="1100" b="1" i="0" spc="110" dirty="0" smtClean="0">
                <a:solidFill>
                  <a:srgbClr val="B5661F"/>
                </a:solidFill>
                <a:latin typeface="Consolas"/>
              </a:rPr>
              <a:t> </a:t>
            </a:r>
            <a:r>
              <a:rPr sz="1100" b="1" i="0" spc="110" dirty="0">
                <a:solidFill>
                  <a:srgbClr val="B5661F"/>
                </a:solidFill>
                <a:latin typeface="Consolas"/>
              </a:rPr>
              <a:t>· COMPLIANCE &amp; STANDARDS ALIGNMENT</a:t>
            </a:r>
          </a:p>
        </p:txBody>
      </p:sp>
      <p:sp>
        <p:nvSpPr>
          <p:cNvPr id="5" name="TextBox 4"/>
          <p:cNvSpPr txBox="1"/>
          <p:nvPr/>
        </p:nvSpPr>
        <p:spPr>
          <a:xfrm>
            <a:off x="640080" y="841248"/>
            <a:ext cx="10881360" cy="1005840"/>
          </a:xfrm>
          <a:prstGeom prst="rect">
            <a:avLst/>
          </a:prstGeom>
          <a:noFill/>
        </p:spPr>
        <p:txBody>
          <a:bodyPr wrap="square" lIns="0" tIns="0" rIns="0" bIns="0" anchor="t">
            <a:spAutoFit/>
          </a:bodyPr>
          <a:lstStyle/>
          <a:p>
            <a:pPr algn="l">
              <a:lnSpc>
                <a:spcPct val="105000"/>
              </a:lnSpc>
            </a:pPr>
            <a:r>
              <a:rPr sz="2300" b="1" i="0" dirty="0">
                <a:solidFill>
                  <a:srgbClr val="16212C"/>
                </a:solidFill>
                <a:latin typeface="Consolas"/>
              </a:rPr>
              <a:t>Referenced frameworks and standards —</a:t>
            </a:r>
          </a:p>
          <a:p>
            <a:pPr algn="l">
              <a:lnSpc>
                <a:spcPct val="105000"/>
              </a:lnSpc>
            </a:pPr>
            <a:r>
              <a:rPr sz="2300" b="1" i="0" dirty="0">
                <a:solidFill>
                  <a:srgbClr val="16212C"/>
                </a:solidFill>
                <a:latin typeface="Consolas"/>
              </a:rPr>
              <a:t>not a claimed certification.</a:t>
            </a:r>
          </a:p>
        </p:txBody>
      </p:sp>
      <p:graphicFrame>
        <p:nvGraphicFramePr>
          <p:cNvPr id="6" name="Table 5"/>
          <p:cNvGraphicFramePr>
            <a:graphicFrameLocks noGrp="1"/>
          </p:cNvGraphicFramePr>
          <p:nvPr/>
        </p:nvGraphicFramePr>
        <p:xfrm>
          <a:off x="640080" y="2377440"/>
          <a:ext cx="6675120" cy="3291840"/>
        </p:xfrm>
        <a:graphic>
          <a:graphicData uri="http://schemas.openxmlformats.org/drawingml/2006/table">
            <a:tbl>
              <a:tblPr>
                <a:tableStyleId>{5C22544A-7EE6-4342-B048-85BDC9FD1C3A}</a:tableStyleId>
              </a:tblPr>
              <a:tblGrid>
                <a:gridCol w="164592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548640">
                <a:tc>
                  <a:txBody>
                    <a:bodyPr/>
                    <a:lstStyle/>
                    <a:p>
                      <a:r>
                        <a:rPr sz="950" b="1" i="0" spc="50">
                          <a:solidFill>
                            <a:srgbClr val="8A97A2"/>
                          </a:solidFill>
                          <a:latin typeface="Consolas"/>
                        </a:rPr>
                        <a:t>PILLAR</a:t>
                      </a:r>
                    </a:p>
                  </a:txBody>
                  <a:tcPr marL="73152" marR="73152" marT="36576" marB="36576" anchor="ctr">
                    <a:solidFill>
                      <a:srgbClr val="E9EEF1"/>
                    </a:solidFill>
                  </a:tcPr>
                </a:tc>
                <a:tc>
                  <a:txBody>
                    <a:bodyPr/>
                    <a:lstStyle/>
                    <a:p>
                      <a:r>
                        <a:rPr sz="950" b="1" i="0" spc="50">
                          <a:solidFill>
                            <a:srgbClr val="8A97A2"/>
                          </a:solidFill>
                          <a:latin typeface="Consolas"/>
                        </a:rPr>
                        <a:t>HOW IT'S ADDRESSED</a:t>
                      </a:r>
                    </a:p>
                  </a:txBody>
                  <a:tcPr marL="73152" marR="73152" marT="36576" marB="36576" anchor="ctr">
                    <a:solidFill>
                      <a:srgbClr val="E9EEF1"/>
                    </a:solidFill>
                  </a:tcPr>
                </a:tc>
                <a:extLst>
                  <a:ext uri="{0D108BD9-81ED-4DB2-BD59-A6C34878D82A}">
                    <a16:rowId xmlns:a16="http://schemas.microsoft.com/office/drawing/2014/main" val="10000"/>
                  </a:ext>
                </a:extLst>
              </a:tr>
              <a:tr h="548640">
                <a:tc>
                  <a:txBody>
                    <a:bodyPr/>
                    <a:lstStyle/>
                    <a:p>
                      <a:r>
                        <a:rPr sz="1100" b="0" i="0">
                          <a:solidFill>
                            <a:srgbClr val="16212C"/>
                          </a:solidFill>
                          <a:latin typeface="Consolas"/>
                        </a:rPr>
                        <a:t>Security</a:t>
                      </a:r>
                    </a:p>
                  </a:txBody>
                  <a:tcPr marL="73152" marR="73152" marT="36576" marB="36576" anchor="ctr">
                    <a:solidFill>
                      <a:srgbClr val="FFFFFF"/>
                    </a:solidFill>
                  </a:tcPr>
                </a:tc>
                <a:tc>
                  <a:txBody>
                    <a:bodyPr/>
                    <a:lstStyle/>
                    <a:p>
                      <a:r>
                        <a:rPr sz="1100" b="0" i="0">
                          <a:solidFill>
                            <a:srgbClr val="16212C"/>
                          </a:solidFill>
                          <a:latin typeface="Calibri"/>
                        </a:rPr>
                        <a:t>Shift-left scanning, mTLS, least privilege, default-deny networking</a:t>
                      </a:r>
                    </a:p>
                  </a:txBody>
                  <a:tcPr marL="73152" marR="73152" marT="36576" marB="36576" anchor="ctr">
                    <a:solidFill>
                      <a:srgbClr val="FFFFFF"/>
                    </a:solidFill>
                  </a:tcPr>
                </a:tc>
                <a:extLst>
                  <a:ext uri="{0D108BD9-81ED-4DB2-BD59-A6C34878D82A}">
                    <a16:rowId xmlns:a16="http://schemas.microsoft.com/office/drawing/2014/main" val="10001"/>
                  </a:ext>
                </a:extLst>
              </a:tr>
              <a:tr h="548640">
                <a:tc>
                  <a:txBody>
                    <a:bodyPr/>
                    <a:lstStyle/>
                    <a:p>
                      <a:r>
                        <a:rPr sz="1100" b="0" i="0">
                          <a:solidFill>
                            <a:srgbClr val="16212C"/>
                          </a:solidFill>
                          <a:latin typeface="Consolas"/>
                        </a:rPr>
                        <a:t>Reliability</a:t>
                      </a:r>
                    </a:p>
                  </a:txBody>
                  <a:tcPr marL="73152" marR="73152" marT="36576" marB="36576" anchor="ctr">
                    <a:solidFill>
                      <a:srgbClr val="FFFFFF"/>
                    </a:solidFill>
                  </a:tcPr>
                </a:tc>
                <a:tc>
                  <a:txBody>
                    <a:bodyPr/>
                    <a:lstStyle/>
                    <a:p>
                      <a:r>
                        <a:rPr sz="1100" b="0" i="0">
                          <a:solidFill>
                            <a:srgbClr val="16212C"/>
                          </a:solidFill>
                          <a:latin typeface="Calibri"/>
                        </a:rPr>
                        <a:t>Liveness/readiness split, resource limits, graceful degradation</a:t>
                      </a:r>
                    </a:p>
                  </a:txBody>
                  <a:tcPr marL="73152" marR="73152" marT="36576" marB="36576" anchor="ctr">
                    <a:solidFill>
                      <a:srgbClr val="FFFFFF"/>
                    </a:solidFill>
                  </a:tcPr>
                </a:tc>
                <a:extLst>
                  <a:ext uri="{0D108BD9-81ED-4DB2-BD59-A6C34878D82A}">
                    <a16:rowId xmlns:a16="http://schemas.microsoft.com/office/drawing/2014/main" val="10002"/>
                  </a:ext>
                </a:extLst>
              </a:tr>
              <a:tr h="548640">
                <a:tc>
                  <a:txBody>
                    <a:bodyPr/>
                    <a:lstStyle/>
                    <a:p>
                      <a:r>
                        <a:rPr sz="1100" b="0" i="0">
                          <a:solidFill>
                            <a:srgbClr val="16212C"/>
                          </a:solidFill>
                          <a:latin typeface="Consolas"/>
                        </a:rPr>
                        <a:t>Ops excellence</a:t>
                      </a:r>
                    </a:p>
                  </a:txBody>
                  <a:tcPr marL="73152" marR="73152" marT="36576" marB="36576" anchor="ctr">
                    <a:solidFill>
                      <a:srgbClr val="FFFFFF"/>
                    </a:solidFill>
                  </a:tcPr>
                </a:tc>
                <a:tc>
                  <a:txBody>
                    <a:bodyPr/>
                    <a:lstStyle/>
                    <a:p>
                      <a:r>
                        <a:rPr sz="1100" b="0" i="0">
                          <a:solidFill>
                            <a:srgbClr val="16212C"/>
                          </a:solidFill>
                          <a:latin typeface="Calibri"/>
                        </a:rPr>
                        <a:t>Structured logs, everything as code, two verified deploy paths</a:t>
                      </a:r>
                    </a:p>
                  </a:txBody>
                  <a:tcPr marL="73152" marR="73152" marT="36576" marB="36576" anchor="ctr">
                    <a:solidFill>
                      <a:srgbClr val="FFFFFF"/>
                    </a:solidFill>
                  </a:tcPr>
                </a:tc>
                <a:extLst>
                  <a:ext uri="{0D108BD9-81ED-4DB2-BD59-A6C34878D82A}">
                    <a16:rowId xmlns:a16="http://schemas.microsoft.com/office/drawing/2014/main" val="10003"/>
                  </a:ext>
                </a:extLst>
              </a:tr>
              <a:tr h="548640">
                <a:tc>
                  <a:txBody>
                    <a:bodyPr/>
                    <a:lstStyle/>
                    <a:p>
                      <a:r>
                        <a:rPr sz="1100" b="0" i="0">
                          <a:solidFill>
                            <a:srgbClr val="16212C"/>
                          </a:solidFill>
                          <a:latin typeface="Consolas"/>
                        </a:rPr>
                        <a:t>Performance</a:t>
                      </a:r>
                    </a:p>
                  </a:txBody>
                  <a:tcPr marL="73152" marR="73152" marT="36576" marB="36576" anchor="ctr">
                    <a:solidFill>
                      <a:srgbClr val="FFFFFF"/>
                    </a:solidFill>
                  </a:tcPr>
                </a:tc>
                <a:tc>
                  <a:txBody>
                    <a:bodyPr/>
                    <a:lstStyle/>
                    <a:p>
                      <a:r>
                        <a:rPr sz="1100" b="0" i="0">
                          <a:solidFill>
                            <a:srgbClr val="16212C"/>
                          </a:solidFill>
                          <a:latin typeface="Calibri"/>
                        </a:rPr>
                        <a:t>Concurrent timeout-bounded checks, slim multi-stage images</a:t>
                      </a:r>
                    </a:p>
                  </a:txBody>
                  <a:tcPr marL="73152" marR="73152" marT="36576" marB="36576" anchor="ctr">
                    <a:solidFill>
                      <a:srgbClr val="FFFFFF"/>
                    </a:solidFill>
                  </a:tcPr>
                </a:tc>
                <a:extLst>
                  <a:ext uri="{0D108BD9-81ED-4DB2-BD59-A6C34878D82A}">
                    <a16:rowId xmlns:a16="http://schemas.microsoft.com/office/drawing/2014/main" val="10004"/>
                  </a:ext>
                </a:extLst>
              </a:tr>
              <a:tr h="548640">
                <a:tc>
                  <a:txBody>
                    <a:bodyPr/>
                    <a:lstStyle/>
                    <a:p>
                      <a:r>
                        <a:rPr sz="1100" b="0" i="0">
                          <a:solidFill>
                            <a:srgbClr val="16212C"/>
                          </a:solidFill>
                          <a:latin typeface="Consolas"/>
                        </a:rPr>
                        <a:t>Cost</a:t>
                      </a:r>
                    </a:p>
                  </a:txBody>
                  <a:tcPr marL="73152" marR="73152" marT="36576" marB="36576" anchor="ctr">
                    <a:solidFill>
                      <a:srgbClr val="FFFFFF"/>
                    </a:solidFill>
                  </a:tcPr>
                </a:tc>
                <a:tc>
                  <a:txBody>
                    <a:bodyPr/>
                    <a:lstStyle/>
                    <a:p>
                      <a:r>
                        <a:rPr sz="1100" b="0" i="0">
                          <a:solidFill>
                            <a:srgbClr val="16212C"/>
                          </a:solidFill>
                          <a:latin typeface="Calibri"/>
                        </a:rPr>
                        <a:t>Minimal base images, explicit resource ceilings per workload</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8001000" y="2377440"/>
            <a:ext cx="3520440" cy="3749039"/>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02168" y="2523744"/>
            <a:ext cx="3118104" cy="274320"/>
          </a:xfrm>
          <a:prstGeom prst="rect">
            <a:avLst/>
          </a:prstGeom>
          <a:noFill/>
        </p:spPr>
        <p:txBody>
          <a:bodyPr wrap="square" lIns="0" tIns="0" rIns="0" bIns="0" anchor="t">
            <a:spAutoFit/>
          </a:bodyPr>
          <a:lstStyle/>
          <a:p>
            <a:pPr algn="l">
              <a:lnSpc>
                <a:spcPct val="100000"/>
              </a:lnSpc>
            </a:pPr>
            <a:r>
              <a:rPr sz="1000" b="1" i="0" spc="80">
                <a:solidFill>
                  <a:srgbClr val="8A97A2"/>
                </a:solidFill>
                <a:latin typeface="Consolas"/>
              </a:rPr>
              <a:t>STANDARDS THIS MAPS TO DIRECTLY</a:t>
            </a:r>
          </a:p>
        </p:txBody>
      </p:sp>
      <p:sp>
        <p:nvSpPr>
          <p:cNvPr id="9" name="TextBox 8"/>
          <p:cNvSpPr txBox="1"/>
          <p:nvPr/>
        </p:nvSpPr>
        <p:spPr>
          <a:xfrm>
            <a:off x="8202168" y="2834640"/>
            <a:ext cx="3118104" cy="3145535"/>
          </a:xfrm>
          <a:prstGeom prst="rect">
            <a:avLst/>
          </a:prstGeom>
          <a:noFill/>
        </p:spPr>
        <p:txBody>
          <a:bodyPr wrap="square" lIns="0" tIns="0" rIns="0" bIns="0" anchor="t">
            <a:spAutoFit/>
          </a:bodyPr>
          <a:lstStyle/>
          <a:p>
            <a:pPr algn="l">
              <a:lnSpc>
                <a:spcPct val="125000"/>
              </a:lnSpc>
            </a:pPr>
            <a:r>
              <a:rPr sz="1100" b="0" i="0">
                <a:solidFill>
                  <a:srgbClr val="16212C"/>
                </a:solidFill>
                <a:latin typeface="Calibri"/>
              </a:rPr>
              <a:t>• Kubernetes Pod Security Standards — restricted profile, enforced at admission</a:t>
            </a:r>
          </a:p>
          <a:p>
            <a:pPr algn="l">
              <a:lnSpc>
                <a:spcPct val="125000"/>
              </a:lnSpc>
            </a:pPr>
            <a:r>
              <a:rPr sz="1100" b="0" i="0">
                <a:solidFill>
                  <a:srgbClr val="16212C"/>
                </a:solidFill>
                <a:latin typeface="Calibri"/>
              </a:rPr>
              <a:t>• SPIFFE/SPIRE-style workload identity via Istio</a:t>
            </a:r>
          </a:p>
          <a:p>
            <a:pPr algn="l">
              <a:lnSpc>
                <a:spcPct val="125000"/>
              </a:lnSpc>
            </a:pPr>
            <a:r>
              <a:rPr sz="1100" b="0" i="0">
                <a:solidFill>
                  <a:srgbClr val="16212C"/>
                </a:solidFill>
                <a:latin typeface="Calibri"/>
              </a:rPr>
              <a:t>• OWASP-adjacent SAST via Semgrep + Bandit</a:t>
            </a:r>
          </a:p>
          <a:p>
            <a:pPr algn="l">
              <a:lnSpc>
                <a:spcPct val="125000"/>
              </a:lnSpc>
            </a:pPr>
            <a:r>
              <a:rPr sz="1100" b="0" i="0">
                <a:solidFill>
                  <a:srgbClr val="16212C"/>
                </a:solidFill>
                <a:latin typeface="Calibri"/>
              </a:rPr>
              <a:t>• SBOM generation (SPDX), per image</a:t>
            </a:r>
          </a:p>
          <a:p>
            <a:pPr algn="l">
              <a:lnSpc>
                <a:spcPct val="125000"/>
              </a:lnSpc>
            </a:pPr>
            <a:endParaRPr sz="1100" b="0" i="0">
              <a:solidFill>
                <a:srgbClr val="16212C"/>
              </a:solidFill>
              <a:latin typeface="Calibri"/>
            </a:endParaRPr>
          </a:p>
          <a:p>
            <a:pPr algn="l">
              <a:lnSpc>
                <a:spcPct val="125000"/>
              </a:lnSpc>
            </a:pPr>
            <a:r>
              <a:rPr sz="1100" b="0" i="0">
                <a:solidFill>
                  <a:srgbClr val="16212C"/>
                </a:solidFill>
                <a:latin typeface="Calibri"/>
              </a:rPr>
              <a:t>No SOC 2 / PCI-DSS / ISO 27001 claim is made.</a:t>
            </a:r>
          </a:p>
        </p:txBody>
      </p:sp>
      <p:sp>
        <p:nvSpPr>
          <p:cNvPr id="10" name="TextBox 9"/>
          <p:cNvSpPr txBox="1"/>
          <p:nvPr/>
        </p:nvSpPr>
        <p:spPr>
          <a:xfrm>
            <a:off x="10820095" y="6446520"/>
            <a:ext cx="1005840" cy="274320"/>
          </a:xfrm>
          <a:prstGeom prst="rect">
            <a:avLst/>
          </a:prstGeom>
          <a:noFill/>
        </p:spPr>
        <p:txBody>
          <a:bodyPr wrap="square" lIns="0" tIns="0" rIns="0" bIns="0" anchor="t">
            <a:spAutoFit/>
          </a:bodyPr>
          <a:lstStyle/>
          <a:p>
            <a:pPr algn="r">
              <a:lnSpc>
                <a:spcPct val="100000"/>
              </a:lnSpc>
            </a:pPr>
            <a:r>
              <a:rPr sz="900" b="0" i="0">
                <a:solidFill>
                  <a:srgbClr val="8A97A2"/>
                </a:solidFill>
                <a:latin typeface="Consolas"/>
              </a:rPr>
              <a:t>13 / 16</a:t>
            </a:r>
          </a:p>
        </p:txBody>
      </p:sp>
      <p:sp>
        <p:nvSpPr>
          <p:cNvPr id="11" name="TextBox 10"/>
          <p:cNvSpPr txBox="1"/>
          <p:nvPr/>
        </p:nvSpPr>
        <p:spPr>
          <a:xfrm>
            <a:off x="640080" y="6446520"/>
            <a:ext cx="3657600" cy="274320"/>
          </a:xfrm>
          <a:prstGeom prst="rect">
            <a:avLst/>
          </a:prstGeom>
          <a:noFill/>
        </p:spPr>
        <p:txBody>
          <a:bodyPr wrap="square" lIns="0" tIns="0" rIns="0" bIns="0" anchor="t">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2688" y="457200"/>
            <a:ext cx="8229600" cy="169277"/>
          </a:xfrm>
          <a:prstGeom prst="rect">
            <a:avLst/>
          </a:prstGeom>
          <a:noFill/>
        </p:spPr>
        <p:txBody>
          <a:bodyPr wrap="square" lIns="0" tIns="0" rIns="0" bIns="0" anchor="t">
            <a:spAutoFit/>
          </a:bodyPr>
          <a:lstStyle/>
          <a:p>
            <a:pPr algn="l">
              <a:lnSpc>
                <a:spcPct val="100000"/>
              </a:lnSpc>
            </a:pPr>
            <a:r>
              <a:rPr sz="1100" b="1" i="0" spc="110" dirty="0" smtClean="0">
                <a:solidFill>
                  <a:srgbClr val="B5661F"/>
                </a:solidFill>
                <a:latin typeface="Consolas"/>
              </a:rPr>
              <a:t>1</a:t>
            </a:r>
            <a:r>
              <a:rPr lang="en-US" sz="1100" b="1" spc="110" dirty="0">
                <a:solidFill>
                  <a:srgbClr val="B5661F"/>
                </a:solidFill>
                <a:latin typeface="Consolas"/>
              </a:rPr>
              <a:t>3</a:t>
            </a:r>
            <a:r>
              <a:rPr sz="1100" b="1" i="0" spc="110" dirty="0" smtClean="0">
                <a:solidFill>
                  <a:srgbClr val="B5661F"/>
                </a:solidFill>
                <a:latin typeface="Consolas"/>
              </a:rPr>
              <a:t>· </a:t>
            </a:r>
            <a:r>
              <a:rPr sz="1100" b="1" i="0" spc="110" dirty="0">
                <a:solidFill>
                  <a:srgbClr val="B5661F"/>
                </a:solidFill>
                <a:latin typeface="Consolas"/>
              </a:rPr>
              <a:t>PRODUCTION ROADMAP</a:t>
            </a:r>
          </a:p>
        </p:txBody>
      </p:sp>
      <p:sp>
        <p:nvSpPr>
          <p:cNvPr id="5" name="TextBox 4"/>
          <p:cNvSpPr txBox="1"/>
          <p:nvPr/>
        </p:nvSpPr>
        <p:spPr>
          <a:xfrm>
            <a:off x="640080" y="841248"/>
            <a:ext cx="10881360" cy="339132"/>
          </a:xfrm>
          <a:prstGeom prst="rect">
            <a:avLst/>
          </a:prstGeom>
          <a:noFill/>
        </p:spPr>
        <p:txBody>
          <a:bodyPr wrap="square" lIns="0" tIns="0" rIns="0" bIns="0" anchor="t">
            <a:spAutoFit/>
          </a:bodyPr>
          <a:lstStyle/>
          <a:p>
            <a:pPr algn="l">
              <a:lnSpc>
                <a:spcPct val="105000"/>
              </a:lnSpc>
            </a:pPr>
            <a:r>
              <a:rPr lang="en-US" sz="2200" b="1" i="0" dirty="0" smtClean="0">
                <a:solidFill>
                  <a:srgbClr val="16212C"/>
                </a:solidFill>
                <a:latin typeface="Consolas"/>
              </a:rPr>
              <a:t>Enterprise Grade Production Design</a:t>
            </a:r>
            <a:endParaRPr sz="2200" b="1" i="0" dirty="0">
              <a:solidFill>
                <a:srgbClr val="16212C"/>
              </a:solidFill>
              <a:latin typeface="Consolas"/>
            </a:endParaRPr>
          </a:p>
        </p:txBody>
      </p:sp>
      <p:sp>
        <p:nvSpPr>
          <p:cNvPr id="6" name="TextBox 5"/>
          <p:cNvSpPr txBox="1"/>
          <p:nvPr/>
        </p:nvSpPr>
        <p:spPr>
          <a:xfrm>
            <a:off x="640080" y="2423160"/>
            <a:ext cx="5486400" cy="3840480"/>
          </a:xfrm>
          <a:prstGeom prst="rect">
            <a:avLst/>
          </a:prstGeom>
          <a:noFill/>
        </p:spPr>
        <p:txBody>
          <a:bodyPr wrap="square" lIns="0" tIns="0" rIns="0" bIns="0">
            <a:spAutoFit/>
          </a:bodyPr>
          <a:lstStyle/>
          <a:p>
            <a:pPr marL="182880" indent="-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Replicas &amp; autoscaling: </a:t>
            </a:r>
            <a:r>
              <a:rPr sz="1300" b="0" i="0">
                <a:solidFill>
                  <a:srgbClr val="5B6B78"/>
                </a:solidFill>
                <a:latin typeface="Calibri"/>
              </a:rPr>
              <a:t>real replica counts behind a HorizontalPodAutoscaler, plus a PodDisruptionBudget.</a:t>
            </a:r>
          </a:p>
          <a:p>
            <a:pPr marL="182880" indent="-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Multi-node, multi-AZ: </a:t>
            </a:r>
            <a:r>
              <a:rPr sz="1300" b="0" i="0">
                <a:solidFill>
                  <a:srgbClr val="5B6B78"/>
                </a:solidFill>
                <a:latin typeface="Calibri"/>
              </a:rPr>
              <a:t>single-node here is a local memory-budget decision, not the target shape.</a:t>
            </a:r>
          </a:p>
          <a:p>
            <a:pPr marL="182880" indent="-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A real registry + signing: </a:t>
            </a:r>
            <a:r>
              <a:rPr sz="1300" b="0" i="0">
                <a:solidFill>
                  <a:srgbClr val="5B6B78"/>
                </a:solidFill>
                <a:latin typeface="Calibri"/>
              </a:rPr>
              <a:t>push to ECR/GAR/GHCR, sign with cosign, verify at admission.</a:t>
            </a:r>
          </a:p>
          <a:p>
            <a:pPr marL="182880" indent="-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CD, not just CI: </a:t>
            </a:r>
            <a:r>
              <a:rPr sz="1300" b="0" i="0">
                <a:solidFill>
                  <a:srgbClr val="5B6B78"/>
                </a:solidFill>
                <a:latin typeface="Calibri"/>
              </a:rPr>
              <a:t>a self-hosted runner or GitOps agent (Argo CD/Flux) with real promotion and rollback.</a:t>
            </a:r>
          </a:p>
        </p:txBody>
      </p:sp>
      <p:sp>
        <p:nvSpPr>
          <p:cNvPr id="7" name="TextBox 6"/>
          <p:cNvSpPr txBox="1"/>
          <p:nvPr/>
        </p:nvSpPr>
        <p:spPr>
          <a:xfrm>
            <a:off x="6492240" y="2423160"/>
            <a:ext cx="5029200" cy="3840480"/>
          </a:xfrm>
          <a:prstGeom prst="rect">
            <a:avLst/>
          </a:prstGeom>
          <a:noFill/>
        </p:spPr>
        <p:txBody>
          <a:bodyPr wrap="square" lIns="0" tIns="0" rIns="0" bIns="0">
            <a:spAutoFit/>
          </a:bodyPr>
          <a:lstStyle/>
          <a:p>
            <a:pPr marL="182880" indent="-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Remote Terraform state: </a:t>
            </a:r>
            <a:r>
              <a:rPr sz="1300" b="0" i="0">
                <a:solidFill>
                  <a:srgbClr val="5B6B78"/>
                </a:solidFill>
                <a:latin typeface="Calibri"/>
              </a:rPr>
              <a:t>S3 + DynamoDB locking and SSE-KMS, or Terraform Cloud — split per environment.</a:t>
            </a:r>
          </a:p>
          <a:p>
            <a:pPr marL="182880" indent="-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Observability beyond logs: </a:t>
            </a:r>
            <a:r>
              <a:rPr sz="1300" b="0" i="0">
                <a:solidFill>
                  <a:srgbClr val="5B6B78"/>
                </a:solidFill>
                <a:latin typeface="Calibri"/>
              </a:rPr>
              <a:t>Prometheus scraping Istio's sidecar metrics for free; distributed tracing via the same sidecars.</a:t>
            </a:r>
          </a:p>
          <a:p>
            <a:pPr marL="182880" indent="-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Secrets management: </a:t>
            </a:r>
            <a:r>
              <a:rPr sz="1300" b="0" i="0">
                <a:solidFill>
                  <a:srgbClr val="5B6B78"/>
                </a:solidFill>
                <a:latin typeface="Calibri"/>
              </a:rPr>
              <a:t>External Secrets Operator or a cloud KMS-backed store, not a typed-in Kubernetes Secret.</a:t>
            </a:r>
          </a:p>
          <a:p>
            <a:pPr marL="182880" indent="-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DNS + TLS: </a:t>
            </a:r>
            <a:r>
              <a:rPr sz="1300" b="0" i="0">
                <a:solidFill>
                  <a:srgbClr val="5B6B78"/>
                </a:solidFill>
                <a:latin typeface="Calibri"/>
              </a:rPr>
              <a:t>a routable cluster, a LoadBalancer/Ingress, a real DNS record, and cert-manager + Let's Encrypt.</a:t>
            </a:r>
          </a:p>
        </p:txBody>
      </p:sp>
      <p:sp>
        <p:nvSpPr>
          <p:cNvPr id="8" name="TextBox 7"/>
          <p:cNvSpPr txBox="1"/>
          <p:nvPr/>
        </p:nvSpPr>
        <p:spPr>
          <a:xfrm>
            <a:off x="10820095" y="6446520"/>
            <a:ext cx="1005840" cy="274320"/>
          </a:xfrm>
          <a:prstGeom prst="rect">
            <a:avLst/>
          </a:prstGeom>
          <a:noFill/>
        </p:spPr>
        <p:txBody>
          <a:bodyPr wrap="square" lIns="0" tIns="0" rIns="0" bIns="0" anchor="t">
            <a:spAutoFit/>
          </a:bodyPr>
          <a:lstStyle/>
          <a:p>
            <a:pPr algn="r">
              <a:lnSpc>
                <a:spcPct val="100000"/>
              </a:lnSpc>
            </a:pPr>
            <a:r>
              <a:rPr sz="900" b="0" i="0">
                <a:solidFill>
                  <a:srgbClr val="8A97A2"/>
                </a:solidFill>
                <a:latin typeface="Consolas"/>
              </a:rPr>
              <a:t>15 / 16</a:t>
            </a:r>
          </a:p>
        </p:txBody>
      </p:sp>
      <p:sp>
        <p:nvSpPr>
          <p:cNvPr id="9" name="TextBox 8"/>
          <p:cNvSpPr txBox="1"/>
          <p:nvPr/>
        </p:nvSpPr>
        <p:spPr>
          <a:xfrm>
            <a:off x="640080" y="6446520"/>
            <a:ext cx="3657600" cy="274320"/>
          </a:xfrm>
          <a:prstGeom prst="rect">
            <a:avLst/>
          </a:prstGeom>
          <a:noFill/>
        </p:spPr>
        <p:txBody>
          <a:bodyPr wrap="square" lIns="0" tIns="0" rIns="0" bIns="0" anchor="t">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2688" y="457200"/>
            <a:ext cx="8229600" cy="169277"/>
          </a:xfrm>
          <a:prstGeom prst="rect">
            <a:avLst/>
          </a:prstGeom>
          <a:noFill/>
        </p:spPr>
        <p:txBody>
          <a:bodyPr wrap="square" lIns="0" tIns="0" rIns="0" bIns="0" anchor="t">
            <a:spAutoFit/>
          </a:bodyPr>
          <a:lstStyle/>
          <a:p>
            <a:pPr algn="l">
              <a:lnSpc>
                <a:spcPct val="100000"/>
              </a:lnSpc>
            </a:pPr>
            <a:r>
              <a:rPr lang="en-US" sz="1100" b="1" spc="110" dirty="0" smtClean="0">
                <a:solidFill>
                  <a:srgbClr val="B5661F"/>
                </a:solidFill>
                <a:latin typeface="Consolas"/>
              </a:rPr>
              <a:t>14</a:t>
            </a:r>
            <a:r>
              <a:rPr sz="1100" b="1" i="0" spc="110" dirty="0" smtClean="0">
                <a:solidFill>
                  <a:srgbClr val="B5661F"/>
                </a:solidFill>
                <a:latin typeface="Consolas"/>
              </a:rPr>
              <a:t> </a:t>
            </a:r>
            <a:r>
              <a:rPr sz="1100" b="1" i="0" spc="110" dirty="0">
                <a:solidFill>
                  <a:srgbClr val="B5661F"/>
                </a:solidFill>
                <a:latin typeface="Consolas"/>
              </a:rPr>
              <a:t>· THE APPLICATION</a:t>
            </a:r>
          </a:p>
        </p:txBody>
      </p:sp>
      <p:sp>
        <p:nvSpPr>
          <p:cNvPr id="5" name="TextBox 4"/>
          <p:cNvSpPr txBox="1"/>
          <p:nvPr/>
        </p:nvSpPr>
        <p:spPr>
          <a:xfrm>
            <a:off x="640080" y="841248"/>
            <a:ext cx="10881360" cy="1005840"/>
          </a:xfrm>
          <a:prstGeom prst="rect">
            <a:avLst/>
          </a:prstGeom>
          <a:noFill/>
        </p:spPr>
        <p:txBody>
          <a:bodyPr wrap="square" lIns="0" tIns="0" rIns="0" bIns="0" anchor="t">
            <a:spAutoFit/>
          </a:bodyPr>
          <a:lstStyle/>
          <a:p>
            <a:pPr algn="l">
              <a:lnSpc>
                <a:spcPct val="105000"/>
              </a:lnSpc>
            </a:pPr>
            <a:r>
              <a:rPr sz="2400" b="1" i="0">
                <a:solidFill>
                  <a:srgbClr val="16212C"/>
                </a:solidFill>
                <a:latin typeface="Consolas"/>
              </a:rPr>
              <a:t>Three states, not three booleans: loading,</a:t>
            </a:r>
          </a:p>
          <a:p>
            <a:pPr algn="l">
              <a:lnSpc>
                <a:spcPct val="105000"/>
              </a:lnSpc>
            </a:pPr>
            <a:r>
              <a:rPr sz="2400" b="1" i="0">
                <a:solidFill>
                  <a:srgbClr val="16212C"/>
                </a:solidFill>
                <a:latin typeface="Consolas"/>
              </a:rPr>
              <a:t>loaded, or a specific reason it isn't.</a:t>
            </a:r>
          </a:p>
        </p:txBody>
      </p:sp>
      <p:sp>
        <p:nvSpPr>
          <p:cNvPr id="6" name="Rounded Rectangle 5"/>
          <p:cNvSpPr/>
          <p:nvPr/>
        </p:nvSpPr>
        <p:spPr>
          <a:xfrm>
            <a:off x="640080" y="2286000"/>
            <a:ext cx="5120640" cy="201168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2432304"/>
            <a:ext cx="3657600" cy="274320"/>
          </a:xfrm>
          <a:prstGeom prst="rect">
            <a:avLst/>
          </a:prstGeom>
          <a:noFill/>
        </p:spPr>
        <p:txBody>
          <a:bodyPr wrap="square" lIns="0" tIns="0" rIns="0" bIns="0" anchor="t">
            <a:spAutoFit/>
          </a:bodyPr>
          <a:lstStyle/>
          <a:p>
            <a:pPr algn="l">
              <a:lnSpc>
                <a:spcPct val="100000"/>
              </a:lnSpc>
            </a:pPr>
            <a:r>
              <a:rPr sz="950" b="1" i="0" spc="60">
                <a:solidFill>
                  <a:srgbClr val="8A97A2"/>
                </a:solidFill>
                <a:latin typeface="Consolas"/>
              </a:rPr>
              <a:t>WHAT THE DASHBOARD SHOWS RIGHT NOW</a:t>
            </a:r>
          </a:p>
        </p:txBody>
      </p:sp>
      <p:sp>
        <p:nvSpPr>
          <p:cNvPr id="8" name="TextBox 7"/>
          <p:cNvSpPr txBox="1"/>
          <p:nvPr/>
        </p:nvSpPr>
        <p:spPr>
          <a:xfrm>
            <a:off x="841247" y="2834640"/>
            <a:ext cx="1828800" cy="320040"/>
          </a:xfrm>
          <a:prstGeom prst="rect">
            <a:avLst/>
          </a:prstGeom>
          <a:noFill/>
        </p:spPr>
        <p:txBody>
          <a:bodyPr wrap="square" lIns="0" tIns="0" rIns="0" bIns="0" anchor="t">
            <a:spAutoFit/>
          </a:bodyPr>
          <a:lstStyle/>
          <a:p>
            <a:pPr algn="l">
              <a:lnSpc>
                <a:spcPct val="100000"/>
              </a:lnSpc>
            </a:pPr>
            <a:r>
              <a:rPr sz="1200" b="0" i="0">
                <a:solidFill>
                  <a:srgbClr val="16212C"/>
                </a:solidFill>
                <a:latin typeface="Consolas"/>
              </a:rPr>
              <a:t>user-service</a:t>
            </a:r>
          </a:p>
        </p:txBody>
      </p:sp>
      <p:sp>
        <p:nvSpPr>
          <p:cNvPr id="9" name="Rounded Rectangle 8"/>
          <p:cNvSpPr/>
          <p:nvPr/>
        </p:nvSpPr>
        <p:spPr>
          <a:xfrm>
            <a:off x="2743200" y="2816352"/>
            <a:ext cx="548640" cy="292608"/>
          </a:xfrm>
          <a:prstGeom prst="roundRect">
            <a:avLst>
              <a:gd name="adj" fmla="val 50000"/>
            </a:avLst>
          </a:prstGeom>
          <a:solidFill>
            <a:srgbClr val="E2F3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i="0">
                <a:solidFill>
                  <a:srgbClr val="2F8F5B"/>
                </a:solidFill>
                <a:latin typeface="Consolas"/>
              </a:rPr>
              <a:t>UP</a:t>
            </a:r>
          </a:p>
        </p:txBody>
      </p:sp>
      <p:sp>
        <p:nvSpPr>
          <p:cNvPr id="10" name="TextBox 9"/>
          <p:cNvSpPr txBox="1"/>
          <p:nvPr/>
        </p:nvSpPr>
        <p:spPr>
          <a:xfrm>
            <a:off x="3840480" y="2834640"/>
            <a:ext cx="1463040" cy="320040"/>
          </a:xfrm>
          <a:prstGeom prst="rect">
            <a:avLst/>
          </a:prstGeom>
          <a:noFill/>
        </p:spPr>
        <p:txBody>
          <a:bodyPr wrap="square" lIns="0" tIns="0" rIns="0" bIns="0" anchor="t">
            <a:spAutoFit/>
          </a:bodyPr>
          <a:lstStyle/>
          <a:p>
            <a:pPr algn="l">
              <a:lnSpc>
                <a:spcPct val="100000"/>
              </a:lnSpc>
            </a:pPr>
            <a:r>
              <a:rPr sz="1200" b="0" i="0">
                <a:solidFill>
                  <a:srgbClr val="5B6B78"/>
                </a:solidFill>
                <a:latin typeface="Consolas"/>
              </a:rPr>
              <a:t>133 ms</a:t>
            </a:r>
          </a:p>
        </p:txBody>
      </p:sp>
      <p:sp>
        <p:nvSpPr>
          <p:cNvPr id="11" name="TextBox 10"/>
          <p:cNvSpPr txBox="1"/>
          <p:nvPr/>
        </p:nvSpPr>
        <p:spPr>
          <a:xfrm>
            <a:off x="841247" y="3291840"/>
            <a:ext cx="1828800" cy="320040"/>
          </a:xfrm>
          <a:prstGeom prst="rect">
            <a:avLst/>
          </a:prstGeom>
          <a:noFill/>
        </p:spPr>
        <p:txBody>
          <a:bodyPr wrap="square" lIns="0" tIns="0" rIns="0" bIns="0" anchor="t">
            <a:spAutoFit/>
          </a:bodyPr>
          <a:lstStyle/>
          <a:p>
            <a:pPr algn="l">
              <a:lnSpc>
                <a:spcPct val="100000"/>
              </a:lnSpc>
            </a:pPr>
            <a:r>
              <a:rPr sz="1200" b="0" i="0">
                <a:solidFill>
                  <a:srgbClr val="16212C"/>
                </a:solidFill>
                <a:latin typeface="Consolas"/>
              </a:rPr>
              <a:t>order-service</a:t>
            </a:r>
          </a:p>
        </p:txBody>
      </p:sp>
      <p:sp>
        <p:nvSpPr>
          <p:cNvPr id="12" name="Rounded Rectangle 11"/>
          <p:cNvSpPr/>
          <p:nvPr/>
        </p:nvSpPr>
        <p:spPr>
          <a:xfrm>
            <a:off x="2743200" y="3273552"/>
            <a:ext cx="640080" cy="292608"/>
          </a:xfrm>
          <a:prstGeom prst="roundRect">
            <a:avLst>
              <a:gd name="adj" fmla="val 50000"/>
            </a:avLst>
          </a:prstGeom>
          <a:solidFill>
            <a:srgbClr val="FBE6E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i="0">
                <a:solidFill>
                  <a:srgbClr val="C14B52"/>
                </a:solidFill>
                <a:latin typeface="Consolas"/>
              </a:rPr>
              <a:t>DOWN</a:t>
            </a:r>
          </a:p>
        </p:txBody>
      </p:sp>
      <p:sp>
        <p:nvSpPr>
          <p:cNvPr id="13" name="TextBox 12"/>
          <p:cNvSpPr txBox="1"/>
          <p:nvPr/>
        </p:nvSpPr>
        <p:spPr>
          <a:xfrm>
            <a:off x="3840480" y="3291840"/>
            <a:ext cx="1463040" cy="320040"/>
          </a:xfrm>
          <a:prstGeom prst="rect">
            <a:avLst/>
          </a:prstGeom>
          <a:noFill/>
        </p:spPr>
        <p:txBody>
          <a:bodyPr wrap="square" lIns="0" tIns="0" rIns="0" bIns="0" anchor="t">
            <a:spAutoFit/>
          </a:bodyPr>
          <a:lstStyle/>
          <a:p>
            <a:pPr algn="l">
              <a:lnSpc>
                <a:spcPct val="100000"/>
              </a:lnSpc>
            </a:pPr>
            <a:r>
              <a:rPr sz="1200" b="0" i="0">
                <a:solidFill>
                  <a:srgbClr val="5B6B78"/>
                </a:solidFill>
                <a:latin typeface="Consolas"/>
              </a:rPr>
              <a:t>Timeout</a:t>
            </a:r>
          </a:p>
        </p:txBody>
      </p:sp>
      <p:sp>
        <p:nvSpPr>
          <p:cNvPr id="14" name="TextBox 13"/>
          <p:cNvSpPr txBox="1"/>
          <p:nvPr/>
        </p:nvSpPr>
        <p:spPr>
          <a:xfrm>
            <a:off x="841247" y="3749039"/>
            <a:ext cx="1828800" cy="320040"/>
          </a:xfrm>
          <a:prstGeom prst="rect">
            <a:avLst/>
          </a:prstGeom>
          <a:noFill/>
        </p:spPr>
        <p:txBody>
          <a:bodyPr wrap="square" lIns="0" tIns="0" rIns="0" bIns="0" anchor="t">
            <a:spAutoFit/>
          </a:bodyPr>
          <a:lstStyle/>
          <a:p>
            <a:pPr algn="l">
              <a:lnSpc>
                <a:spcPct val="100000"/>
              </a:lnSpc>
            </a:pPr>
            <a:r>
              <a:rPr sz="1200" b="0" i="0">
                <a:solidFill>
                  <a:srgbClr val="16212C"/>
                </a:solidFill>
                <a:latin typeface="Consolas"/>
              </a:rPr>
              <a:t>payment-service</a:t>
            </a:r>
          </a:p>
        </p:txBody>
      </p:sp>
      <p:sp>
        <p:nvSpPr>
          <p:cNvPr id="15" name="Rounded Rectangle 14"/>
          <p:cNvSpPr/>
          <p:nvPr/>
        </p:nvSpPr>
        <p:spPr>
          <a:xfrm>
            <a:off x="2743200" y="3730752"/>
            <a:ext cx="548640" cy="292608"/>
          </a:xfrm>
          <a:prstGeom prst="roundRect">
            <a:avLst>
              <a:gd name="adj" fmla="val 50000"/>
            </a:avLst>
          </a:prstGeom>
          <a:solidFill>
            <a:srgbClr val="E2F3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i="0">
                <a:solidFill>
                  <a:srgbClr val="2F8F5B"/>
                </a:solidFill>
                <a:latin typeface="Consolas"/>
              </a:rPr>
              <a:t>UP</a:t>
            </a:r>
          </a:p>
        </p:txBody>
      </p:sp>
      <p:sp>
        <p:nvSpPr>
          <p:cNvPr id="16" name="TextBox 15"/>
          <p:cNvSpPr txBox="1"/>
          <p:nvPr/>
        </p:nvSpPr>
        <p:spPr>
          <a:xfrm>
            <a:off x="3840480" y="3749039"/>
            <a:ext cx="1463040" cy="320040"/>
          </a:xfrm>
          <a:prstGeom prst="rect">
            <a:avLst/>
          </a:prstGeom>
          <a:noFill/>
        </p:spPr>
        <p:txBody>
          <a:bodyPr wrap="square" lIns="0" tIns="0" rIns="0" bIns="0" anchor="t">
            <a:spAutoFit/>
          </a:bodyPr>
          <a:lstStyle/>
          <a:p>
            <a:pPr algn="l">
              <a:lnSpc>
                <a:spcPct val="100000"/>
              </a:lnSpc>
            </a:pPr>
            <a:r>
              <a:rPr sz="1200" b="0" i="0">
                <a:solidFill>
                  <a:srgbClr val="5B6B78"/>
                </a:solidFill>
                <a:latin typeface="Consolas"/>
              </a:rPr>
              <a:t>100 ms</a:t>
            </a:r>
          </a:p>
        </p:txBody>
      </p:sp>
      <p:sp>
        <p:nvSpPr>
          <p:cNvPr id="17" name="Rounded Rectangle 16"/>
          <p:cNvSpPr/>
          <p:nvPr/>
        </p:nvSpPr>
        <p:spPr>
          <a:xfrm>
            <a:off x="640080" y="4526280"/>
            <a:ext cx="5120640" cy="160020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4672584"/>
            <a:ext cx="4718303" cy="274320"/>
          </a:xfrm>
          <a:prstGeom prst="rect">
            <a:avLst/>
          </a:prstGeom>
          <a:noFill/>
        </p:spPr>
        <p:txBody>
          <a:bodyPr wrap="square" lIns="0" tIns="0" rIns="0" bIns="0" anchor="t">
            <a:spAutoFit/>
          </a:bodyPr>
          <a:lstStyle/>
          <a:p>
            <a:pPr algn="l">
              <a:lnSpc>
                <a:spcPct val="100000"/>
              </a:lnSpc>
            </a:pPr>
            <a:r>
              <a:rPr sz="1000" b="1" i="0" spc="80">
                <a:solidFill>
                  <a:srgbClr val="8A97A2"/>
                </a:solidFill>
                <a:latin typeface="Consolas"/>
              </a:rPr>
              <a:t>WHY ORDER-SERVICE IS DELIBERATELY DOWN</a:t>
            </a:r>
          </a:p>
        </p:txBody>
      </p:sp>
      <p:sp>
        <p:nvSpPr>
          <p:cNvPr id="19" name="TextBox 18"/>
          <p:cNvSpPr txBox="1"/>
          <p:nvPr/>
        </p:nvSpPr>
        <p:spPr>
          <a:xfrm>
            <a:off x="841247" y="4983480"/>
            <a:ext cx="4718303" cy="996695"/>
          </a:xfrm>
          <a:prstGeom prst="rect">
            <a:avLst/>
          </a:prstGeom>
          <a:noFill/>
        </p:spPr>
        <p:txBody>
          <a:bodyPr wrap="square" lIns="0" tIns="0" rIns="0" bIns="0" anchor="t">
            <a:spAutoFit/>
          </a:bodyPr>
          <a:lstStyle/>
          <a:p>
            <a:pPr algn="l">
              <a:lnSpc>
                <a:spcPct val="125000"/>
              </a:lnSpc>
            </a:pPr>
            <a:r>
              <a:rPr sz="1150" b="0" i="0">
                <a:solidFill>
                  <a:srgbClr val="16212C"/>
                </a:solidFill>
                <a:latin typeface="Calibri"/>
              </a:rPr>
              <a:t>It runs MOCK_MODE=slow — an 8-second delay, longer than the backend's 5-second client timeout — so the dashboard demonstrates a real Timeout/DOWN row on demand.</a:t>
            </a:r>
          </a:p>
        </p:txBody>
      </p:sp>
      <p:sp>
        <p:nvSpPr>
          <p:cNvPr id="20" name="TextBox 19"/>
          <p:cNvSpPr txBox="1"/>
          <p:nvPr/>
        </p:nvSpPr>
        <p:spPr>
          <a:xfrm>
            <a:off x="6355080" y="2286000"/>
            <a:ext cx="5212080" cy="3931920"/>
          </a:xfrm>
          <a:prstGeom prst="rect">
            <a:avLst/>
          </a:prstGeom>
          <a:noFill/>
        </p:spPr>
        <p:txBody>
          <a:bodyPr wrap="square" lIns="0" tIns="0" rIns="0" bIns="0">
            <a:spAutoFit/>
          </a:bodyPr>
          <a:lstStyle/>
          <a:p>
            <a:pPr marL="182880" indent="-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Failure is classified, not collapsed: </a:t>
            </a:r>
            <a:r>
              <a:rPr sz="1300" b="0" i="0">
                <a:solidFill>
                  <a:srgbClr val="5B6B78"/>
                </a:solidFill>
                <a:latin typeface="Calibri"/>
              </a:rPr>
              <a:t>Timeout, Connection refused, HTTP 5xx, and generic request failure are four distinct, operator-facing outcomes.</a:t>
            </a:r>
          </a:p>
          <a:p>
            <a:pPr marL="182880" indent="-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Concurrent by design: </a:t>
            </a:r>
            <a:r>
              <a:rPr sz="1300" b="0" i="0">
                <a:solidFill>
                  <a:srgbClr val="5B6B78"/>
                </a:solidFill>
                <a:latin typeface="Calibri"/>
              </a:rPr>
              <a:t>all three checks fire together; total wait time is bounded by the slowest single check, not the sum of all three.</a:t>
            </a:r>
          </a:p>
          <a:p>
            <a:pPr marL="182880" indent="-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Manual refresh, graceful backend loss: </a:t>
            </a:r>
            <a:r>
              <a:rPr sz="1300" b="0" i="0">
                <a:solidFill>
                  <a:srgbClr val="5B6B78"/>
                </a:solidFill>
                <a:latin typeface="Calibri"/>
              </a:rPr>
              <a:t>a disabled/relabeled button prevents overlapping requests; an unreachable backend renders an explicit banner.</a:t>
            </a:r>
          </a:p>
          <a:p>
            <a:pPr marL="182880" indent="-182880">
              <a:lnSpc>
                <a:spcPct val="122000"/>
              </a:lnSpc>
              <a:spcAft>
                <a:spcPts val="1008"/>
              </a:spcAft>
              <a:buFont typeface="Arial"/>
              <a:buChar char="•"/>
            </a:pPr>
            <a:r>
              <a:rPr sz="1300" b="1" i="0">
                <a:solidFill>
                  <a:srgbClr val="B5661F"/>
                </a:solidFill>
                <a:latin typeface="Calibri"/>
              </a:rPr>
              <a:t>  </a:t>
            </a:r>
            <a:r>
              <a:rPr sz="1300" b="1" i="0">
                <a:solidFill>
                  <a:srgbClr val="16212C"/>
                </a:solidFill>
                <a:latin typeface="Calibri"/>
              </a:rPr>
              <a:t>Stateless throughout: </a:t>
            </a:r>
            <a:r>
              <a:rPr sz="1300" b="0" i="0">
                <a:solidFill>
                  <a:srgbClr val="5B6B78"/>
                </a:solidFill>
                <a:latin typeface="Calibri"/>
              </a:rPr>
              <a:t>every request is independently computed — nothing about “current health” has meaning to persist.</a:t>
            </a:r>
          </a:p>
        </p:txBody>
      </p:sp>
      <p:sp>
        <p:nvSpPr>
          <p:cNvPr id="21" name="TextBox 20"/>
          <p:cNvSpPr txBox="1"/>
          <p:nvPr/>
        </p:nvSpPr>
        <p:spPr>
          <a:xfrm>
            <a:off x="10820095" y="6446520"/>
            <a:ext cx="1005840" cy="274320"/>
          </a:xfrm>
          <a:prstGeom prst="rect">
            <a:avLst/>
          </a:prstGeom>
          <a:noFill/>
        </p:spPr>
        <p:txBody>
          <a:bodyPr wrap="square" lIns="0" tIns="0" rIns="0" bIns="0" anchor="t">
            <a:spAutoFit/>
          </a:bodyPr>
          <a:lstStyle/>
          <a:p>
            <a:pPr algn="r">
              <a:lnSpc>
                <a:spcPct val="100000"/>
              </a:lnSpc>
            </a:pPr>
            <a:r>
              <a:rPr sz="900" b="0" i="0">
                <a:solidFill>
                  <a:srgbClr val="8A97A2"/>
                </a:solidFill>
                <a:latin typeface="Consolas"/>
              </a:rPr>
              <a:t>03 / 16</a:t>
            </a:r>
          </a:p>
        </p:txBody>
      </p:sp>
      <p:sp>
        <p:nvSpPr>
          <p:cNvPr id="22" name="TextBox 21"/>
          <p:cNvSpPr txBox="1"/>
          <p:nvPr/>
        </p:nvSpPr>
        <p:spPr>
          <a:xfrm>
            <a:off x="640080" y="6446520"/>
            <a:ext cx="3657600" cy="274320"/>
          </a:xfrm>
          <a:prstGeom prst="rect">
            <a:avLst/>
          </a:prstGeom>
          <a:noFill/>
        </p:spPr>
        <p:txBody>
          <a:bodyPr wrap="square" lIns="0" tIns="0" rIns="0" bIns="0" anchor="t">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2688" y="457200"/>
            <a:ext cx="8229600" cy="169277"/>
          </a:xfrm>
          <a:prstGeom prst="rect">
            <a:avLst/>
          </a:prstGeom>
          <a:noFill/>
        </p:spPr>
        <p:txBody>
          <a:bodyPr wrap="square" lIns="0" tIns="0" rIns="0" bIns="0" anchor="t">
            <a:spAutoFit/>
          </a:bodyPr>
          <a:lstStyle/>
          <a:p>
            <a:pPr algn="l">
              <a:lnSpc>
                <a:spcPct val="100000"/>
              </a:lnSpc>
            </a:pPr>
            <a:r>
              <a:rPr lang="en-US" sz="1100" b="1" spc="110" dirty="0" smtClean="0">
                <a:solidFill>
                  <a:srgbClr val="B5661F"/>
                </a:solidFill>
                <a:latin typeface="Consolas"/>
              </a:rPr>
              <a:t>15</a:t>
            </a:r>
            <a:r>
              <a:rPr sz="1100" b="1" i="0" spc="110" dirty="0" smtClean="0">
                <a:solidFill>
                  <a:srgbClr val="B5661F"/>
                </a:solidFill>
                <a:latin typeface="Consolas"/>
              </a:rPr>
              <a:t>· </a:t>
            </a:r>
            <a:r>
              <a:rPr sz="1100" b="1" i="0" spc="110" dirty="0">
                <a:solidFill>
                  <a:srgbClr val="B5661F"/>
                </a:solidFill>
                <a:latin typeface="Consolas"/>
              </a:rPr>
              <a:t>FRONTEND</a:t>
            </a:r>
          </a:p>
        </p:txBody>
      </p:sp>
      <p:sp>
        <p:nvSpPr>
          <p:cNvPr id="5" name="TextBox 4"/>
          <p:cNvSpPr txBox="1"/>
          <p:nvPr/>
        </p:nvSpPr>
        <p:spPr>
          <a:xfrm>
            <a:off x="640080" y="841248"/>
            <a:ext cx="10881360" cy="1005840"/>
          </a:xfrm>
          <a:prstGeom prst="rect">
            <a:avLst/>
          </a:prstGeom>
          <a:noFill/>
        </p:spPr>
        <p:txBody>
          <a:bodyPr wrap="square" lIns="0" tIns="0" rIns="0" bIns="0" anchor="t">
            <a:spAutoFit/>
          </a:bodyPr>
          <a:lstStyle/>
          <a:p>
            <a:pPr algn="l">
              <a:lnSpc>
                <a:spcPct val="105000"/>
              </a:lnSpc>
            </a:pPr>
            <a:r>
              <a:rPr sz="2400" b="1" i="0">
                <a:solidFill>
                  <a:srgbClr val="16212C"/>
                </a:solidFill>
                <a:latin typeface="Consolas"/>
              </a:rPr>
              <a:t>One discriminated union instead of three loose booleans.</a:t>
            </a:r>
          </a:p>
        </p:txBody>
      </p:sp>
      <p:sp>
        <p:nvSpPr>
          <p:cNvPr id="6" name="Rounded Rectangle 5"/>
          <p:cNvSpPr/>
          <p:nvPr/>
        </p:nvSpPr>
        <p:spPr>
          <a:xfrm>
            <a:off x="640080" y="2286000"/>
            <a:ext cx="6035040" cy="1965960"/>
          </a:xfrm>
          <a:prstGeom prst="roundRect">
            <a:avLst>
              <a:gd name="adj" fmla="val 6000"/>
            </a:avLst>
          </a:prstGeom>
          <a:solidFill>
            <a:srgbClr val="EEF2F4"/>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lIns="182880" tIns="146304" rtlCol="0" anchor="ctr"/>
          <a:lstStyle/>
          <a:p>
            <a:pPr algn="ctr">
              <a:lnSpc>
                <a:spcPct val="130000"/>
              </a:lnSpc>
            </a:pPr>
            <a:r>
              <a:rPr sz="1150" b="0" i="0">
                <a:solidFill>
                  <a:srgbClr val="8A97A2"/>
                </a:solidFill>
                <a:latin typeface="Consolas"/>
              </a:rPr>
              <a:t>// App.tsx — the entire UI state</a:t>
            </a:r>
          </a:p>
          <a:p>
            <a:pPr>
              <a:lnSpc>
                <a:spcPct val="130000"/>
              </a:lnSpc>
            </a:pPr>
            <a:r>
              <a:rPr sz="1150" b="0" i="0">
                <a:solidFill>
                  <a:srgbClr val="B5661F"/>
                </a:solidFill>
                <a:latin typeface="Consolas"/>
              </a:rPr>
              <a:t>type LoadState =</a:t>
            </a:r>
          </a:p>
          <a:p>
            <a:pPr>
              <a:lnSpc>
                <a:spcPct val="130000"/>
              </a:lnSpc>
            </a:pPr>
            <a:r>
              <a:rPr sz="1150" b="0" i="0">
                <a:solidFill>
                  <a:srgbClr val="B5661F"/>
                </a:solidFill>
                <a:latin typeface="Consolas"/>
              </a:rPr>
              <a:t>  | { status: "loading" }</a:t>
            </a:r>
          </a:p>
          <a:p>
            <a:pPr>
              <a:lnSpc>
                <a:spcPct val="130000"/>
              </a:lnSpc>
            </a:pPr>
            <a:r>
              <a:rPr sz="1150" b="0" i="0">
                <a:solidFill>
                  <a:srgbClr val="B5661F"/>
                </a:solidFill>
                <a:latin typeface="Consolas"/>
              </a:rPr>
              <a:t>  | { status: "loaded"; services: ServiceHealth[]; checkedAt: string }</a:t>
            </a:r>
          </a:p>
          <a:p>
            <a:pPr>
              <a:lnSpc>
                <a:spcPct val="130000"/>
              </a:lnSpc>
            </a:pPr>
            <a:r>
              <a:rPr sz="1150" b="0" i="0">
                <a:solidFill>
                  <a:srgbClr val="B5661F"/>
                </a:solidFill>
                <a:latin typeface="Consolas"/>
              </a:rPr>
              <a:t>  | { status: "error"; message: string };</a:t>
            </a:r>
          </a:p>
        </p:txBody>
      </p:sp>
      <p:sp>
        <p:nvSpPr>
          <p:cNvPr id="7" name="TextBox 6"/>
          <p:cNvSpPr txBox="1"/>
          <p:nvPr/>
        </p:nvSpPr>
        <p:spPr>
          <a:xfrm>
            <a:off x="640080" y="4434840"/>
            <a:ext cx="6035040" cy="1554480"/>
          </a:xfrm>
          <a:prstGeom prst="rect">
            <a:avLst/>
          </a:prstGeom>
          <a:noFill/>
        </p:spPr>
        <p:txBody>
          <a:bodyPr wrap="square" lIns="0" tIns="0" rIns="0" bIns="0" anchor="t">
            <a:spAutoFit/>
          </a:bodyPr>
          <a:lstStyle/>
          <a:p>
            <a:pPr algn="l">
              <a:lnSpc>
                <a:spcPct val="135000"/>
              </a:lnSpc>
            </a:pPr>
            <a:r>
              <a:rPr sz="1200" b="0" i="0">
                <a:solidFill>
                  <a:srgbClr val="5B6B78"/>
                </a:solidFill>
                <a:latin typeface="Calibri"/>
              </a:rPr>
              <a:t>Impossible to represent “loading AND error at once.” healthClient.ts folds three distinct failure causes — a thrown network error, a non-2xx response, and unparseable JSON — into one clear BackendUnavailableError.</a:t>
            </a:r>
          </a:p>
        </p:txBody>
      </p:sp>
      <p:sp>
        <p:nvSpPr>
          <p:cNvPr id="8" name="TextBox 7"/>
          <p:cNvSpPr txBox="1"/>
          <p:nvPr/>
        </p:nvSpPr>
        <p:spPr>
          <a:xfrm>
            <a:off x="7223760" y="2286000"/>
            <a:ext cx="4297680" cy="3931920"/>
          </a:xfrm>
          <a:prstGeom prst="rect">
            <a:avLst/>
          </a:prstGeom>
          <a:noFill/>
        </p:spPr>
        <p:txBody>
          <a:bodyPr wrap="square" lIns="0" tIns="0" rIns="0" bIns="0">
            <a:spAutoFit/>
          </a:bodyPr>
          <a:lstStyle/>
          <a:p>
            <a:pPr marL="182880" indent="-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Stack: </a:t>
            </a:r>
            <a:r>
              <a:rPr sz="1250" b="0" i="0">
                <a:solidFill>
                  <a:srgbClr val="5B6B78"/>
                </a:solidFill>
                <a:latin typeface="Calibri"/>
              </a:rPr>
              <a:t>React 18 + TypeScript, built with Vite, served by nginx.</a:t>
            </a:r>
          </a:p>
          <a:p>
            <a:pPr marL="182880" indent="-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No router, no state library: </a:t>
            </a:r>
            <a:r>
              <a:rPr sz="1250" b="0" i="0">
                <a:solidFill>
                  <a:srgbClr val="5B6B78"/>
                </a:solidFill>
                <a:latin typeface="Calibri"/>
              </a:rPr>
              <a:t>one view is the whole problem; adding either would be unused ceremony.</a:t>
            </a:r>
          </a:p>
          <a:p>
            <a:pPr marL="182880" indent="-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Four components, </a:t>
            </a:r>
            <a:r>
              <a:rPr sz="1250" b="0" i="0">
                <a:solidFill>
                  <a:srgbClr val="5B6B78"/>
                </a:solidFill>
                <a:latin typeface="Calibri"/>
              </a:rPr>
              <a:t>each one job: ServiceTable, StatusBadge, RefreshButton, BackendUnavailableBanner (role="alert").</a:t>
            </a:r>
          </a:p>
          <a:p>
            <a:pPr marL="182880" indent="-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nginx does two things: </a:t>
            </a:r>
            <a:r>
              <a:rPr sz="1250" b="0" i="0">
                <a:solidFill>
                  <a:srgbClr val="5B6B78"/>
                </a:solidFill>
                <a:latin typeface="Calibri"/>
              </a:rPr>
              <a:t>SPA fallback, and reverse-proxies /api/ to the backend Service — the browser never learns the backend's address.</a:t>
            </a:r>
          </a:p>
        </p:txBody>
      </p:sp>
      <p:sp>
        <p:nvSpPr>
          <p:cNvPr id="9" name="TextBox 8"/>
          <p:cNvSpPr txBox="1"/>
          <p:nvPr/>
        </p:nvSpPr>
        <p:spPr>
          <a:xfrm>
            <a:off x="10820095" y="6446520"/>
            <a:ext cx="1005840" cy="274320"/>
          </a:xfrm>
          <a:prstGeom prst="rect">
            <a:avLst/>
          </a:prstGeom>
          <a:noFill/>
        </p:spPr>
        <p:txBody>
          <a:bodyPr wrap="square" lIns="0" tIns="0" rIns="0" bIns="0" anchor="t">
            <a:spAutoFit/>
          </a:bodyPr>
          <a:lstStyle/>
          <a:p>
            <a:pPr algn="r">
              <a:lnSpc>
                <a:spcPct val="100000"/>
              </a:lnSpc>
            </a:pPr>
            <a:r>
              <a:rPr sz="900" b="0" i="0">
                <a:solidFill>
                  <a:srgbClr val="8A97A2"/>
                </a:solidFill>
                <a:latin typeface="Consolas"/>
              </a:rPr>
              <a:t>05 / 16</a:t>
            </a:r>
          </a:p>
        </p:txBody>
      </p:sp>
      <p:sp>
        <p:nvSpPr>
          <p:cNvPr id="10" name="TextBox 9"/>
          <p:cNvSpPr txBox="1"/>
          <p:nvPr/>
        </p:nvSpPr>
        <p:spPr>
          <a:xfrm>
            <a:off x="640080" y="6446520"/>
            <a:ext cx="3657600" cy="274320"/>
          </a:xfrm>
          <a:prstGeom prst="rect">
            <a:avLst/>
          </a:prstGeom>
          <a:noFill/>
        </p:spPr>
        <p:txBody>
          <a:bodyPr wrap="square" lIns="0" tIns="0" rIns="0" bIns="0" anchor="t">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2688" y="457200"/>
            <a:ext cx="8229600" cy="169277"/>
          </a:xfrm>
          <a:prstGeom prst="rect">
            <a:avLst/>
          </a:prstGeom>
          <a:noFill/>
        </p:spPr>
        <p:txBody>
          <a:bodyPr wrap="square" lIns="0" tIns="0" rIns="0" bIns="0" anchor="t">
            <a:spAutoFit/>
          </a:bodyPr>
          <a:lstStyle/>
          <a:p>
            <a:pPr algn="l">
              <a:lnSpc>
                <a:spcPct val="100000"/>
              </a:lnSpc>
            </a:pPr>
            <a:r>
              <a:rPr lang="en-US" sz="1100" b="1" spc="110" dirty="0" smtClean="0">
                <a:solidFill>
                  <a:srgbClr val="B5661F"/>
                </a:solidFill>
                <a:latin typeface="Consolas"/>
              </a:rPr>
              <a:t>1</a:t>
            </a:r>
            <a:r>
              <a:rPr lang="en-US" sz="1100" b="1" spc="110" dirty="0">
                <a:solidFill>
                  <a:srgbClr val="B5661F"/>
                </a:solidFill>
                <a:latin typeface="Consolas"/>
              </a:rPr>
              <a:t>6</a:t>
            </a:r>
            <a:r>
              <a:rPr sz="1100" b="1" i="0" spc="110" dirty="0" smtClean="0">
                <a:solidFill>
                  <a:srgbClr val="B5661F"/>
                </a:solidFill>
                <a:latin typeface="Consolas"/>
              </a:rPr>
              <a:t> </a:t>
            </a:r>
            <a:r>
              <a:rPr sz="1100" b="1" i="0" spc="110" dirty="0">
                <a:solidFill>
                  <a:srgbClr val="B5661F"/>
                </a:solidFill>
                <a:latin typeface="Consolas"/>
              </a:rPr>
              <a:t>· BACKEND</a:t>
            </a:r>
          </a:p>
        </p:txBody>
      </p:sp>
      <p:sp>
        <p:nvSpPr>
          <p:cNvPr id="5" name="TextBox 4"/>
          <p:cNvSpPr txBox="1"/>
          <p:nvPr/>
        </p:nvSpPr>
        <p:spPr>
          <a:xfrm>
            <a:off x="640080" y="841248"/>
            <a:ext cx="10881360" cy="1005840"/>
          </a:xfrm>
          <a:prstGeom prst="rect">
            <a:avLst/>
          </a:prstGeom>
          <a:noFill/>
        </p:spPr>
        <p:txBody>
          <a:bodyPr wrap="square" lIns="0" tIns="0" rIns="0" bIns="0" anchor="t">
            <a:spAutoFit/>
          </a:bodyPr>
          <a:lstStyle/>
          <a:p>
            <a:pPr algn="l">
              <a:lnSpc>
                <a:spcPct val="105000"/>
              </a:lnSpc>
            </a:pPr>
            <a:r>
              <a:rPr sz="2400" b="1" i="0">
                <a:solidFill>
                  <a:srgbClr val="16212C"/>
                </a:solidFill>
                <a:latin typeface="Consolas"/>
              </a:rPr>
              <a:t>Four exception types, four operator-meaningful outcomes.</a:t>
            </a:r>
          </a:p>
        </p:txBody>
      </p:sp>
      <p:sp>
        <p:nvSpPr>
          <p:cNvPr id="6" name="Rounded Rectangle 5"/>
          <p:cNvSpPr/>
          <p:nvPr/>
        </p:nvSpPr>
        <p:spPr>
          <a:xfrm>
            <a:off x="640080" y="2286000"/>
            <a:ext cx="6035040" cy="2194560"/>
          </a:xfrm>
          <a:prstGeom prst="roundRect">
            <a:avLst>
              <a:gd name="adj" fmla="val 6000"/>
            </a:avLst>
          </a:prstGeom>
          <a:solidFill>
            <a:srgbClr val="EEF2F4"/>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wrap="square" lIns="182880" tIns="146304" rtlCol="0" anchor="ctr"/>
          <a:lstStyle/>
          <a:p>
            <a:pPr algn="ctr">
              <a:lnSpc>
                <a:spcPct val="130000"/>
              </a:lnSpc>
            </a:pPr>
            <a:r>
              <a:rPr sz="1150" b="0" i="0">
                <a:solidFill>
                  <a:srgbClr val="B5661F"/>
                </a:solidFill>
                <a:latin typeface="Consolas"/>
              </a:rPr>
              <a:t>async def check_all_services(services, timeout):</a:t>
            </a:r>
          </a:p>
          <a:p>
            <a:pPr>
              <a:lnSpc>
                <a:spcPct val="130000"/>
              </a:lnSpc>
            </a:pPr>
            <a:r>
              <a:rPr sz="1150" b="0" i="0">
                <a:solidFill>
                  <a:srgbClr val="B5661F"/>
                </a:solidFill>
                <a:latin typeface="Consolas"/>
              </a:rPr>
              <a:t>  async with httpx.AsyncClient(timeout=timeout) as client:</a:t>
            </a:r>
          </a:p>
          <a:p>
            <a:pPr>
              <a:lnSpc>
                <a:spcPct val="130000"/>
              </a:lnSpc>
            </a:pPr>
            <a:r>
              <a:rPr sz="1150" b="0" i="0">
                <a:solidFill>
                  <a:srgbClr val="16212C"/>
                </a:solidFill>
                <a:latin typeface="Consolas"/>
              </a:rPr>
              <a:t>    results = await asyncio.gather(</a:t>
            </a:r>
          </a:p>
          <a:p>
            <a:pPr>
              <a:lnSpc>
                <a:spcPct val="130000"/>
              </a:lnSpc>
            </a:pPr>
            <a:r>
              <a:rPr sz="1150" b="0" i="0">
                <a:solidFill>
                  <a:srgbClr val="16212C"/>
                </a:solidFill>
                <a:latin typeface="Consolas"/>
              </a:rPr>
              <a:t>      *(check_service(client, s, timeout) for s in services)</a:t>
            </a:r>
          </a:p>
          <a:p>
            <a:pPr>
              <a:lnSpc>
                <a:spcPct val="130000"/>
              </a:lnSpc>
            </a:pPr>
            <a:r>
              <a:rPr sz="1150" b="0" i="0">
                <a:solidFill>
                  <a:srgbClr val="16212C"/>
                </a:solidFill>
                <a:latin typeface="Consolas"/>
              </a:rPr>
              <a:t>    )</a:t>
            </a:r>
          </a:p>
          <a:p>
            <a:pPr>
              <a:lnSpc>
                <a:spcPct val="130000"/>
              </a:lnSpc>
            </a:pPr>
            <a:r>
              <a:rPr sz="1150" b="0" i="0">
                <a:solidFill>
                  <a:srgbClr val="B5661F"/>
                </a:solidFill>
                <a:latin typeface="Consolas"/>
              </a:rPr>
              <a:t>  return list(results)</a:t>
            </a:r>
          </a:p>
        </p:txBody>
      </p:sp>
      <p:sp>
        <p:nvSpPr>
          <p:cNvPr id="7" name="TextBox 6"/>
          <p:cNvSpPr txBox="1"/>
          <p:nvPr/>
        </p:nvSpPr>
        <p:spPr>
          <a:xfrm>
            <a:off x="640080" y="4663440"/>
            <a:ext cx="6035040" cy="1371600"/>
          </a:xfrm>
          <a:prstGeom prst="rect">
            <a:avLst/>
          </a:prstGeom>
          <a:noFill/>
        </p:spPr>
        <p:txBody>
          <a:bodyPr wrap="square" lIns="0" tIns="0" rIns="0" bIns="0" anchor="t">
            <a:spAutoFit/>
          </a:bodyPr>
          <a:lstStyle/>
          <a:p>
            <a:pPr algn="l">
              <a:lnSpc>
                <a:spcPct val="135000"/>
              </a:lnSpc>
            </a:pPr>
            <a:r>
              <a:rPr sz="1200" b="0" i="0">
                <a:solidFill>
                  <a:srgbClr val="5B6B78"/>
                </a:solidFill>
                <a:latin typeface="Calibri"/>
              </a:rPr>
              <a:t>asyncio.gather bounds total wall time to the slowest single check, not the sum — and one failing dependency can never block the others from reporting.</a:t>
            </a:r>
          </a:p>
        </p:txBody>
      </p:sp>
      <p:sp>
        <p:nvSpPr>
          <p:cNvPr id="8" name="TextBox 7"/>
          <p:cNvSpPr txBox="1"/>
          <p:nvPr/>
        </p:nvSpPr>
        <p:spPr>
          <a:xfrm>
            <a:off x="7223760" y="2286000"/>
            <a:ext cx="4297680" cy="3931920"/>
          </a:xfrm>
          <a:prstGeom prst="rect">
            <a:avLst/>
          </a:prstGeom>
          <a:noFill/>
        </p:spPr>
        <p:txBody>
          <a:bodyPr wrap="square" lIns="0" tIns="0" rIns="0" bIns="0">
            <a:spAutoFit/>
          </a:bodyPr>
          <a:lstStyle/>
          <a:p>
            <a:pPr marL="182880" indent="-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FastAPI, fully async; </a:t>
            </a:r>
            <a:r>
              <a:rPr sz="1250" b="0" i="0">
                <a:solidFill>
                  <a:srgbClr val="5B6B78"/>
                </a:solidFill>
                <a:latin typeface="Calibri"/>
              </a:rPr>
              <a:t>config loaded once at startup (lifespan), not per request.</a:t>
            </a:r>
          </a:p>
          <a:p>
            <a:pPr marL="182880" indent="-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Four distinct outcomes: </a:t>
            </a:r>
            <a:r>
              <a:rPr sz="1250" b="0" i="0">
                <a:solidFill>
                  <a:srgbClr val="5B6B78"/>
                </a:solidFill>
                <a:latin typeface="Calibri"/>
              </a:rPr>
              <a:t>TimeoutException, ConnectError, HTTPStatusError, and generic RequestError each map to a specific detail string.</a:t>
            </a:r>
          </a:p>
          <a:p>
            <a:pPr marL="182880" indent="-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/healthz vs /readyz: </a:t>
            </a:r>
            <a:r>
              <a:rPr sz="1250" b="0" i="0">
                <a:solidFill>
                  <a:srgbClr val="5B6B78"/>
                </a:solidFill>
                <a:latin typeface="Calibri"/>
              </a:rPr>
              <a:t>liveness gets a container killed and restarted; readiness just pulls it from load-balancing.</a:t>
            </a:r>
          </a:p>
          <a:p>
            <a:pPr marL="182880" indent="-182880">
              <a:lnSpc>
                <a:spcPct val="122000"/>
              </a:lnSpc>
              <a:spcAft>
                <a:spcPts val="1008"/>
              </a:spcAft>
              <a:buFont typeface="Arial"/>
              <a:buChar char="•"/>
            </a:pPr>
            <a:r>
              <a:rPr sz="1250" b="1" i="0">
                <a:solidFill>
                  <a:srgbClr val="B5661F"/>
                </a:solidFill>
                <a:latin typeface="Calibri"/>
              </a:rPr>
              <a:t>  </a:t>
            </a:r>
            <a:r>
              <a:rPr sz="1250" b="1" i="0">
                <a:solidFill>
                  <a:srgbClr val="16212C"/>
                </a:solidFill>
                <a:latin typeface="Calibri"/>
              </a:rPr>
              <a:t>Structured JSON logs </a:t>
            </a:r>
            <a:r>
              <a:rPr sz="1250" b="0" i="0">
                <a:solidFill>
                  <a:srgbClr val="5B6B78"/>
                </a:solidFill>
                <a:latin typeface="Calibri"/>
              </a:rPr>
              <a:t>throughout — a custom formatter, not free text — so a real log aggregator can query them.</a:t>
            </a:r>
          </a:p>
        </p:txBody>
      </p:sp>
      <p:sp>
        <p:nvSpPr>
          <p:cNvPr id="9" name="TextBox 8"/>
          <p:cNvSpPr txBox="1"/>
          <p:nvPr/>
        </p:nvSpPr>
        <p:spPr>
          <a:xfrm>
            <a:off x="10820095" y="6446520"/>
            <a:ext cx="1005840" cy="274320"/>
          </a:xfrm>
          <a:prstGeom prst="rect">
            <a:avLst/>
          </a:prstGeom>
          <a:noFill/>
        </p:spPr>
        <p:txBody>
          <a:bodyPr wrap="square" lIns="0" tIns="0" rIns="0" bIns="0" anchor="t">
            <a:spAutoFit/>
          </a:bodyPr>
          <a:lstStyle/>
          <a:p>
            <a:pPr algn="r">
              <a:lnSpc>
                <a:spcPct val="100000"/>
              </a:lnSpc>
            </a:pPr>
            <a:r>
              <a:rPr sz="900" b="0" i="0">
                <a:solidFill>
                  <a:srgbClr val="8A97A2"/>
                </a:solidFill>
                <a:latin typeface="Consolas"/>
              </a:rPr>
              <a:t>06 / 16</a:t>
            </a:r>
          </a:p>
        </p:txBody>
      </p:sp>
      <p:sp>
        <p:nvSpPr>
          <p:cNvPr id="10" name="TextBox 9"/>
          <p:cNvSpPr txBox="1"/>
          <p:nvPr/>
        </p:nvSpPr>
        <p:spPr>
          <a:xfrm>
            <a:off x="640080" y="6446520"/>
            <a:ext cx="3657600" cy="274320"/>
          </a:xfrm>
          <a:prstGeom prst="rect">
            <a:avLst/>
          </a:prstGeom>
          <a:noFill/>
        </p:spPr>
        <p:txBody>
          <a:bodyPr wrap="square" lIns="0" tIns="0" rIns="0" bIns="0" anchor="t">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566928"/>
            <a:ext cx="201168" cy="27940"/>
          </a:xfrm>
          <a:prstGeom prst="rect">
            <a:avLst/>
          </a:prstGeom>
          <a:solidFill>
            <a:srgbClr val="B56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32688" y="457200"/>
            <a:ext cx="8229600" cy="320040"/>
          </a:xfrm>
          <a:prstGeom prst="rect">
            <a:avLst/>
          </a:prstGeom>
          <a:noFill/>
        </p:spPr>
        <p:txBody>
          <a:bodyPr wrap="square" lIns="0" tIns="0" rIns="0" bIns="0" anchor="t">
            <a:spAutoFit/>
          </a:bodyPr>
          <a:lstStyle/>
          <a:p>
            <a:pPr algn="l">
              <a:lnSpc>
                <a:spcPct val="100000"/>
              </a:lnSpc>
            </a:pPr>
            <a:r>
              <a:rPr sz="1100" b="1" i="0" spc="110">
                <a:solidFill>
                  <a:srgbClr val="B5661F"/>
                </a:solidFill>
                <a:latin typeface="Consolas"/>
              </a:rPr>
              <a:t>15 · CLOSING</a:t>
            </a:r>
          </a:p>
        </p:txBody>
      </p:sp>
      <p:sp>
        <p:nvSpPr>
          <p:cNvPr id="5" name="TextBox 4"/>
          <p:cNvSpPr txBox="1"/>
          <p:nvPr/>
        </p:nvSpPr>
        <p:spPr>
          <a:xfrm>
            <a:off x="640080" y="841248"/>
            <a:ext cx="10881360" cy="1005840"/>
          </a:xfrm>
          <a:prstGeom prst="rect">
            <a:avLst/>
          </a:prstGeom>
          <a:noFill/>
        </p:spPr>
        <p:txBody>
          <a:bodyPr wrap="square" lIns="0" tIns="0" rIns="0" bIns="0" anchor="t">
            <a:spAutoFit/>
          </a:bodyPr>
          <a:lstStyle/>
          <a:p>
            <a:pPr algn="l">
              <a:lnSpc>
                <a:spcPct val="105000"/>
              </a:lnSpc>
            </a:pPr>
            <a:r>
              <a:rPr sz="2600" b="1" i="0">
                <a:solidFill>
                  <a:srgbClr val="16212C"/>
                </a:solidFill>
                <a:latin typeface="Consolas"/>
              </a:rPr>
              <a:t>What this demonstrates, in one view.</a:t>
            </a:r>
          </a:p>
        </p:txBody>
      </p:sp>
      <p:sp>
        <p:nvSpPr>
          <p:cNvPr id="6" name="Rounded Rectangle 5"/>
          <p:cNvSpPr/>
          <p:nvPr/>
        </p:nvSpPr>
        <p:spPr>
          <a:xfrm>
            <a:off x="640080" y="2331720"/>
            <a:ext cx="2606040" cy="173736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2478024"/>
            <a:ext cx="2203704" cy="274320"/>
          </a:xfrm>
          <a:prstGeom prst="rect">
            <a:avLst/>
          </a:prstGeom>
          <a:noFill/>
        </p:spPr>
        <p:txBody>
          <a:bodyPr wrap="square" lIns="0" tIns="0" rIns="0" bIns="0" anchor="t">
            <a:spAutoFit/>
          </a:bodyPr>
          <a:lstStyle/>
          <a:p>
            <a:pPr algn="l">
              <a:lnSpc>
                <a:spcPct val="100000"/>
              </a:lnSpc>
            </a:pPr>
            <a:r>
              <a:rPr sz="1000" b="1" i="0" spc="80">
                <a:solidFill>
                  <a:srgbClr val="8A97A2"/>
                </a:solidFill>
                <a:latin typeface="Consolas"/>
              </a:rPr>
              <a:t>APPLICATION</a:t>
            </a:r>
          </a:p>
        </p:txBody>
      </p:sp>
      <p:sp>
        <p:nvSpPr>
          <p:cNvPr id="8" name="TextBox 7"/>
          <p:cNvSpPr txBox="1"/>
          <p:nvPr/>
        </p:nvSpPr>
        <p:spPr>
          <a:xfrm>
            <a:off x="841247" y="2788920"/>
            <a:ext cx="2203704" cy="1133855"/>
          </a:xfrm>
          <a:prstGeom prst="rect">
            <a:avLst/>
          </a:prstGeom>
          <a:noFill/>
        </p:spPr>
        <p:txBody>
          <a:bodyPr wrap="square" lIns="0" tIns="0" rIns="0" bIns="0" anchor="t">
            <a:spAutoFit/>
          </a:bodyPr>
          <a:lstStyle/>
          <a:p>
            <a:pPr algn="l">
              <a:lnSpc>
                <a:spcPct val="125000"/>
              </a:lnSpc>
            </a:pPr>
            <a:r>
              <a:rPr sz="1050" b="0" i="0">
                <a:solidFill>
                  <a:srgbClr val="16212C"/>
                </a:solidFill>
                <a:latin typeface="Calibri"/>
              </a:rPr>
              <a:t>Concurrent, timeout-bounded health checks with classified failures — correct, tested, stateless by design.</a:t>
            </a:r>
          </a:p>
        </p:txBody>
      </p:sp>
      <p:sp>
        <p:nvSpPr>
          <p:cNvPr id="9" name="Rounded Rectangle 8"/>
          <p:cNvSpPr/>
          <p:nvPr/>
        </p:nvSpPr>
        <p:spPr>
          <a:xfrm>
            <a:off x="3410712" y="2331720"/>
            <a:ext cx="2606040" cy="173736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11880" y="2478024"/>
            <a:ext cx="2203704" cy="274320"/>
          </a:xfrm>
          <a:prstGeom prst="rect">
            <a:avLst/>
          </a:prstGeom>
          <a:noFill/>
        </p:spPr>
        <p:txBody>
          <a:bodyPr wrap="square" lIns="0" tIns="0" rIns="0" bIns="0" anchor="t">
            <a:spAutoFit/>
          </a:bodyPr>
          <a:lstStyle/>
          <a:p>
            <a:pPr algn="l">
              <a:lnSpc>
                <a:spcPct val="100000"/>
              </a:lnSpc>
            </a:pPr>
            <a:r>
              <a:rPr sz="1000" b="1" i="0" spc="80">
                <a:solidFill>
                  <a:srgbClr val="8A97A2"/>
                </a:solidFill>
                <a:latin typeface="Consolas"/>
              </a:rPr>
              <a:t>PLATFORM</a:t>
            </a:r>
          </a:p>
        </p:txBody>
      </p:sp>
      <p:sp>
        <p:nvSpPr>
          <p:cNvPr id="11" name="TextBox 10"/>
          <p:cNvSpPr txBox="1"/>
          <p:nvPr/>
        </p:nvSpPr>
        <p:spPr>
          <a:xfrm>
            <a:off x="3611880" y="2788920"/>
            <a:ext cx="2203704" cy="1133855"/>
          </a:xfrm>
          <a:prstGeom prst="rect">
            <a:avLst/>
          </a:prstGeom>
          <a:noFill/>
        </p:spPr>
        <p:txBody>
          <a:bodyPr wrap="square" lIns="0" tIns="0" rIns="0" bIns="0" anchor="t">
            <a:spAutoFit/>
          </a:bodyPr>
          <a:lstStyle/>
          <a:p>
            <a:pPr algn="l">
              <a:lnSpc>
                <a:spcPct val="125000"/>
              </a:lnSpc>
            </a:pPr>
            <a:r>
              <a:rPr sz="1050" b="0" i="0">
                <a:solidFill>
                  <a:srgbClr val="16212C"/>
                </a:solidFill>
                <a:latin typeface="Calibri"/>
              </a:rPr>
              <a:t>Kubernetes via kind, Terraform-managed workloads and network policy, an Istio mesh enforcing mTLS and identity-based authz.</a:t>
            </a:r>
          </a:p>
        </p:txBody>
      </p:sp>
      <p:sp>
        <p:nvSpPr>
          <p:cNvPr id="12" name="Rounded Rectangle 11"/>
          <p:cNvSpPr/>
          <p:nvPr/>
        </p:nvSpPr>
        <p:spPr>
          <a:xfrm>
            <a:off x="6181344" y="2331720"/>
            <a:ext cx="2606040" cy="173736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82512" y="2478024"/>
            <a:ext cx="2203704" cy="274320"/>
          </a:xfrm>
          <a:prstGeom prst="rect">
            <a:avLst/>
          </a:prstGeom>
          <a:noFill/>
        </p:spPr>
        <p:txBody>
          <a:bodyPr wrap="square" lIns="0" tIns="0" rIns="0" bIns="0" anchor="t">
            <a:spAutoFit/>
          </a:bodyPr>
          <a:lstStyle/>
          <a:p>
            <a:pPr algn="l">
              <a:lnSpc>
                <a:spcPct val="100000"/>
              </a:lnSpc>
            </a:pPr>
            <a:r>
              <a:rPr sz="1000" b="1" i="0" spc="80">
                <a:solidFill>
                  <a:srgbClr val="8A97A2"/>
                </a:solidFill>
                <a:latin typeface="Consolas"/>
              </a:rPr>
              <a:t>SECURITY</a:t>
            </a:r>
          </a:p>
        </p:txBody>
      </p:sp>
      <p:sp>
        <p:nvSpPr>
          <p:cNvPr id="14" name="TextBox 13"/>
          <p:cNvSpPr txBox="1"/>
          <p:nvPr/>
        </p:nvSpPr>
        <p:spPr>
          <a:xfrm>
            <a:off x="6382512" y="2788920"/>
            <a:ext cx="2203704" cy="1133855"/>
          </a:xfrm>
          <a:prstGeom prst="rect">
            <a:avLst/>
          </a:prstGeom>
          <a:noFill/>
        </p:spPr>
        <p:txBody>
          <a:bodyPr wrap="square" lIns="0" tIns="0" rIns="0" bIns="0" anchor="t">
            <a:spAutoFit/>
          </a:bodyPr>
          <a:lstStyle/>
          <a:p>
            <a:pPr algn="l">
              <a:lnSpc>
                <a:spcPct val="125000"/>
              </a:lnSpc>
            </a:pPr>
            <a:r>
              <a:rPr sz="1050" b="0" i="0">
                <a:solidFill>
                  <a:srgbClr val="16212C"/>
                </a:solidFill>
                <a:latin typeface="Calibri"/>
              </a:rPr>
              <a:t>A shift-left pipeline that gates on real findings — secrets, SAST, SCA, IaC, container scanning, SBOM.</a:t>
            </a:r>
          </a:p>
        </p:txBody>
      </p:sp>
      <p:sp>
        <p:nvSpPr>
          <p:cNvPr id="15" name="Rounded Rectangle 14"/>
          <p:cNvSpPr/>
          <p:nvPr/>
        </p:nvSpPr>
        <p:spPr>
          <a:xfrm>
            <a:off x="8951976" y="2331720"/>
            <a:ext cx="2606040" cy="173736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53144" y="2478024"/>
            <a:ext cx="2203704" cy="274320"/>
          </a:xfrm>
          <a:prstGeom prst="rect">
            <a:avLst/>
          </a:prstGeom>
          <a:noFill/>
        </p:spPr>
        <p:txBody>
          <a:bodyPr wrap="square" lIns="0" tIns="0" rIns="0" bIns="0" anchor="t">
            <a:spAutoFit/>
          </a:bodyPr>
          <a:lstStyle/>
          <a:p>
            <a:pPr algn="l">
              <a:lnSpc>
                <a:spcPct val="100000"/>
              </a:lnSpc>
            </a:pPr>
            <a:r>
              <a:rPr sz="1000" b="1" i="0" spc="80">
                <a:solidFill>
                  <a:srgbClr val="8A97A2"/>
                </a:solidFill>
                <a:latin typeface="Consolas"/>
              </a:rPr>
              <a:t>JUDGMENT</a:t>
            </a:r>
          </a:p>
        </p:txBody>
      </p:sp>
      <p:sp>
        <p:nvSpPr>
          <p:cNvPr id="17" name="TextBox 16"/>
          <p:cNvSpPr txBox="1"/>
          <p:nvPr/>
        </p:nvSpPr>
        <p:spPr>
          <a:xfrm>
            <a:off x="9153144" y="2788920"/>
            <a:ext cx="2203704" cy="1133855"/>
          </a:xfrm>
          <a:prstGeom prst="rect">
            <a:avLst/>
          </a:prstGeom>
          <a:noFill/>
        </p:spPr>
        <p:txBody>
          <a:bodyPr wrap="square" lIns="0" tIns="0" rIns="0" bIns="0" anchor="t">
            <a:spAutoFit/>
          </a:bodyPr>
          <a:lstStyle/>
          <a:p>
            <a:pPr algn="l">
              <a:lnSpc>
                <a:spcPct val="125000"/>
              </a:lnSpc>
            </a:pPr>
            <a:r>
              <a:rPr sz="1050" b="0" i="0">
                <a:solidFill>
                  <a:srgbClr val="16212C"/>
                </a:solidFill>
                <a:latin typeface="Calibri"/>
              </a:rPr>
              <a:t>Tradeoffs named out loud — local state, single-node, scoped CI gates — with a specific production path for each.</a:t>
            </a:r>
          </a:p>
        </p:txBody>
      </p:sp>
      <p:sp>
        <p:nvSpPr>
          <p:cNvPr id="18" name="Rounded Rectangle 17"/>
          <p:cNvSpPr/>
          <p:nvPr/>
        </p:nvSpPr>
        <p:spPr>
          <a:xfrm>
            <a:off x="640080" y="4343400"/>
            <a:ext cx="2606040" cy="141732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1" y="4453128"/>
            <a:ext cx="2276856" cy="502920"/>
          </a:xfrm>
          <a:prstGeom prst="rect">
            <a:avLst/>
          </a:prstGeom>
          <a:noFill/>
        </p:spPr>
        <p:txBody>
          <a:bodyPr wrap="square" lIns="0" tIns="0" rIns="0" bIns="0" anchor="t">
            <a:spAutoFit/>
          </a:bodyPr>
          <a:lstStyle/>
          <a:p>
            <a:pPr algn="l">
              <a:lnSpc>
                <a:spcPct val="100000"/>
              </a:lnSpc>
            </a:pPr>
            <a:r>
              <a:rPr sz="2600" b="1" i="0">
                <a:solidFill>
                  <a:srgbClr val="B5661F"/>
                </a:solidFill>
                <a:latin typeface="Consolas"/>
              </a:rPr>
              <a:t>3</a:t>
            </a:r>
          </a:p>
        </p:txBody>
      </p:sp>
      <p:sp>
        <p:nvSpPr>
          <p:cNvPr id="20" name="TextBox 19"/>
          <p:cNvSpPr txBox="1"/>
          <p:nvPr/>
        </p:nvSpPr>
        <p:spPr>
          <a:xfrm>
            <a:off x="804671" y="4937760"/>
            <a:ext cx="2276856" cy="457200"/>
          </a:xfrm>
          <a:prstGeom prst="rect">
            <a:avLst/>
          </a:prstGeom>
          <a:noFill/>
        </p:spPr>
        <p:txBody>
          <a:bodyPr wrap="square" lIns="0" tIns="0" rIns="0" bIns="0" anchor="t">
            <a:spAutoFit/>
          </a:bodyPr>
          <a:lstStyle/>
          <a:p>
            <a:pPr algn="l">
              <a:lnSpc>
                <a:spcPct val="115000"/>
              </a:lnSpc>
            </a:pPr>
            <a:r>
              <a:rPr sz="1050" b="0" i="0">
                <a:solidFill>
                  <a:srgbClr val="5B6B78"/>
                </a:solidFill>
                <a:latin typeface="Calibri"/>
              </a:rPr>
              <a:t>CI/CD workflows</a:t>
            </a:r>
          </a:p>
        </p:txBody>
      </p:sp>
      <p:sp>
        <p:nvSpPr>
          <p:cNvPr id="21" name="Rounded Rectangle 20"/>
          <p:cNvSpPr/>
          <p:nvPr/>
        </p:nvSpPr>
        <p:spPr>
          <a:xfrm>
            <a:off x="3410712" y="4343400"/>
            <a:ext cx="2606040" cy="141732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575304" y="4453128"/>
            <a:ext cx="2276856" cy="502920"/>
          </a:xfrm>
          <a:prstGeom prst="rect">
            <a:avLst/>
          </a:prstGeom>
          <a:noFill/>
        </p:spPr>
        <p:txBody>
          <a:bodyPr wrap="square" lIns="0" tIns="0" rIns="0" bIns="0" anchor="t">
            <a:spAutoFit/>
          </a:bodyPr>
          <a:lstStyle/>
          <a:p>
            <a:pPr algn="l">
              <a:lnSpc>
                <a:spcPct val="100000"/>
              </a:lnSpc>
            </a:pPr>
            <a:r>
              <a:rPr sz="2600" b="1" i="0">
                <a:solidFill>
                  <a:srgbClr val="B5661F"/>
                </a:solidFill>
                <a:latin typeface="Consolas"/>
              </a:rPr>
              <a:t>10</a:t>
            </a:r>
          </a:p>
        </p:txBody>
      </p:sp>
      <p:sp>
        <p:nvSpPr>
          <p:cNvPr id="23" name="TextBox 22"/>
          <p:cNvSpPr txBox="1"/>
          <p:nvPr/>
        </p:nvSpPr>
        <p:spPr>
          <a:xfrm>
            <a:off x="3575304" y="4937760"/>
            <a:ext cx="2276856" cy="457200"/>
          </a:xfrm>
          <a:prstGeom prst="rect">
            <a:avLst/>
          </a:prstGeom>
          <a:noFill/>
        </p:spPr>
        <p:txBody>
          <a:bodyPr wrap="square" lIns="0" tIns="0" rIns="0" bIns="0" anchor="t">
            <a:spAutoFit/>
          </a:bodyPr>
          <a:lstStyle/>
          <a:p>
            <a:pPr algn="l">
              <a:lnSpc>
                <a:spcPct val="115000"/>
              </a:lnSpc>
            </a:pPr>
            <a:r>
              <a:rPr sz="1050" b="0" i="0">
                <a:solidFill>
                  <a:srgbClr val="5B6B78"/>
                </a:solidFill>
                <a:latin typeface="Calibri"/>
              </a:rPr>
              <a:t>security tools gating the build</a:t>
            </a:r>
          </a:p>
        </p:txBody>
      </p:sp>
      <p:sp>
        <p:nvSpPr>
          <p:cNvPr id="24" name="Rounded Rectangle 23"/>
          <p:cNvSpPr/>
          <p:nvPr/>
        </p:nvSpPr>
        <p:spPr>
          <a:xfrm>
            <a:off x="6181344" y="4343400"/>
            <a:ext cx="2606040" cy="141732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45936" y="4453128"/>
            <a:ext cx="2276856" cy="502920"/>
          </a:xfrm>
          <a:prstGeom prst="rect">
            <a:avLst/>
          </a:prstGeom>
          <a:noFill/>
        </p:spPr>
        <p:txBody>
          <a:bodyPr wrap="square" lIns="0" tIns="0" rIns="0" bIns="0" anchor="t">
            <a:spAutoFit/>
          </a:bodyPr>
          <a:lstStyle/>
          <a:p>
            <a:pPr algn="l">
              <a:lnSpc>
                <a:spcPct val="100000"/>
              </a:lnSpc>
            </a:pPr>
            <a:r>
              <a:rPr sz="2600" b="1" i="0">
                <a:solidFill>
                  <a:srgbClr val="B5661F"/>
                </a:solidFill>
                <a:latin typeface="Consolas"/>
              </a:rPr>
              <a:t>5</a:t>
            </a:r>
          </a:p>
        </p:txBody>
      </p:sp>
      <p:sp>
        <p:nvSpPr>
          <p:cNvPr id="26" name="TextBox 25"/>
          <p:cNvSpPr txBox="1"/>
          <p:nvPr/>
        </p:nvSpPr>
        <p:spPr>
          <a:xfrm>
            <a:off x="6345936" y="4937760"/>
            <a:ext cx="2276856" cy="457200"/>
          </a:xfrm>
          <a:prstGeom prst="rect">
            <a:avLst/>
          </a:prstGeom>
          <a:noFill/>
        </p:spPr>
        <p:txBody>
          <a:bodyPr wrap="square" lIns="0" tIns="0" rIns="0" bIns="0" anchor="t">
            <a:spAutoFit/>
          </a:bodyPr>
          <a:lstStyle/>
          <a:p>
            <a:pPr algn="l">
              <a:lnSpc>
                <a:spcPct val="115000"/>
              </a:lnSpc>
            </a:pPr>
            <a:r>
              <a:rPr sz="1050" b="0" i="0">
                <a:solidFill>
                  <a:srgbClr val="5B6B78"/>
                </a:solidFill>
                <a:latin typeface="Calibri"/>
              </a:rPr>
              <a:t>defense-in-depth layers</a:t>
            </a:r>
          </a:p>
        </p:txBody>
      </p:sp>
      <p:sp>
        <p:nvSpPr>
          <p:cNvPr id="27" name="Rounded Rectangle 26"/>
          <p:cNvSpPr/>
          <p:nvPr/>
        </p:nvSpPr>
        <p:spPr>
          <a:xfrm>
            <a:off x="8951976" y="4343400"/>
            <a:ext cx="2606040" cy="1417320"/>
          </a:xfrm>
          <a:prstGeom prst="roundRect">
            <a:avLst>
              <a:gd name="adj" fmla="val 6000"/>
            </a:avLst>
          </a:prstGeom>
          <a:solidFill>
            <a:srgbClr val="F2F5F7"/>
          </a:solidFill>
          <a:ln w="9525">
            <a:solidFill>
              <a:srgbClr val="D6DE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16568" y="4453128"/>
            <a:ext cx="2276856" cy="502920"/>
          </a:xfrm>
          <a:prstGeom prst="rect">
            <a:avLst/>
          </a:prstGeom>
          <a:noFill/>
        </p:spPr>
        <p:txBody>
          <a:bodyPr wrap="square" lIns="0" tIns="0" rIns="0" bIns="0" anchor="t">
            <a:spAutoFit/>
          </a:bodyPr>
          <a:lstStyle/>
          <a:p>
            <a:pPr algn="l">
              <a:lnSpc>
                <a:spcPct val="100000"/>
              </a:lnSpc>
            </a:pPr>
            <a:r>
              <a:rPr sz="2600" b="1" i="0">
                <a:solidFill>
                  <a:srgbClr val="B5661F"/>
                </a:solidFill>
                <a:latin typeface="Consolas"/>
              </a:rPr>
              <a:t>6</a:t>
            </a:r>
          </a:p>
        </p:txBody>
      </p:sp>
      <p:sp>
        <p:nvSpPr>
          <p:cNvPr id="29" name="TextBox 28"/>
          <p:cNvSpPr txBox="1"/>
          <p:nvPr/>
        </p:nvSpPr>
        <p:spPr>
          <a:xfrm>
            <a:off x="9116568" y="4937760"/>
            <a:ext cx="2276856" cy="457200"/>
          </a:xfrm>
          <a:prstGeom prst="rect">
            <a:avLst/>
          </a:prstGeom>
          <a:noFill/>
        </p:spPr>
        <p:txBody>
          <a:bodyPr wrap="square" lIns="0" tIns="0" rIns="0" bIns="0" anchor="t">
            <a:spAutoFit/>
          </a:bodyPr>
          <a:lstStyle/>
          <a:p>
            <a:pPr algn="l">
              <a:lnSpc>
                <a:spcPct val="115000"/>
              </a:lnSpc>
            </a:pPr>
            <a:r>
              <a:rPr sz="1050" b="0" i="0">
                <a:solidFill>
                  <a:srgbClr val="5B6B78"/>
                </a:solidFill>
                <a:latin typeface="Calibri"/>
              </a:rPr>
              <a:t>real incidents diagnosed &amp; fixed</a:t>
            </a:r>
          </a:p>
        </p:txBody>
      </p:sp>
      <p:sp>
        <p:nvSpPr>
          <p:cNvPr id="30" name="TextBox 29"/>
          <p:cNvSpPr txBox="1"/>
          <p:nvPr/>
        </p:nvSpPr>
        <p:spPr>
          <a:xfrm>
            <a:off x="10820095" y="6446520"/>
            <a:ext cx="1005840" cy="274320"/>
          </a:xfrm>
          <a:prstGeom prst="rect">
            <a:avLst/>
          </a:prstGeom>
          <a:noFill/>
        </p:spPr>
        <p:txBody>
          <a:bodyPr wrap="square" lIns="0" tIns="0" rIns="0" bIns="0" anchor="t">
            <a:spAutoFit/>
          </a:bodyPr>
          <a:lstStyle/>
          <a:p>
            <a:pPr algn="r">
              <a:lnSpc>
                <a:spcPct val="100000"/>
              </a:lnSpc>
            </a:pPr>
            <a:r>
              <a:rPr sz="900" b="0" i="0">
                <a:solidFill>
                  <a:srgbClr val="8A97A2"/>
                </a:solidFill>
                <a:latin typeface="Consolas"/>
              </a:rPr>
              <a:t>16 / 16</a:t>
            </a:r>
          </a:p>
        </p:txBody>
      </p:sp>
      <p:sp>
        <p:nvSpPr>
          <p:cNvPr id="31" name="TextBox 30"/>
          <p:cNvSpPr txBox="1"/>
          <p:nvPr/>
        </p:nvSpPr>
        <p:spPr>
          <a:xfrm>
            <a:off x="640080" y="6446520"/>
            <a:ext cx="3657600" cy="274320"/>
          </a:xfrm>
          <a:prstGeom prst="rect">
            <a:avLst/>
          </a:prstGeom>
          <a:noFill/>
        </p:spPr>
        <p:txBody>
          <a:bodyPr wrap="square" lIns="0" tIns="0" rIns="0" bIns="0" anchor="t">
            <a:spAutoFit/>
          </a:bodyPr>
          <a:lstStyle/>
          <a:p>
            <a:pPr algn="l">
              <a:lnSpc>
                <a:spcPct val="100000"/>
              </a:lnSpc>
            </a:pPr>
            <a:r>
              <a:rPr sz="900" b="0" i="0" spc="60">
                <a:solidFill>
                  <a:srgbClr val="8A97A2"/>
                </a:solidFill>
                <a:latin typeface="Consolas"/>
              </a:rPr>
              <a:t>SERVICE HEALTH 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216</TotalTime>
  <Words>2024</Words>
  <Application>Microsoft Office PowerPoint</Application>
  <PresentationFormat>Widescreen</PresentationFormat>
  <Paragraphs>237</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Consolas</vt:lpstr>
      <vt:lpstr>Office Theme</vt:lpstr>
      <vt:lpstr>PowerPoint Presentation</vt:lpstr>
      <vt:lpstr>Platform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HP</cp:lastModifiedBy>
  <cp:revision>10</cp:revision>
  <dcterms:created xsi:type="dcterms:W3CDTF">2013-01-27T09:14:16Z</dcterms:created>
  <dcterms:modified xsi:type="dcterms:W3CDTF">2026-09-12T09:19:27Z</dcterms:modified>
  <cp:category/>
</cp:coreProperties>
</file>