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1051560"/>
            <a:ext cx="128016" cy="128016"/>
          </a:xfrm>
          <a:prstGeom prst="ellipse">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 y="1005840"/>
            <a:ext cx="5486400" cy="274320"/>
          </a:xfrm>
          <a:prstGeom prst="rect">
            <a:avLst/>
          </a:prstGeom>
          <a:noFill/>
        </p:spPr>
        <p:txBody>
          <a:bodyPr wrap="square" anchor="t" lIns="0" rIns="0" tIns="0" bIns="0">
            <a:spAutoFit/>
          </a:bodyPr>
          <a:lstStyle/>
          <a:p>
            <a:pPr algn="l">
              <a:lnSpc>
                <a:spcPct val="100000"/>
              </a:lnSpc>
            </a:pPr>
            <a:r>
              <a:rPr sz="1100" b="0" i="0" spc="80">
                <a:solidFill>
                  <a:srgbClr val="8A97A2"/>
                </a:solidFill>
                <a:latin typeface="Consolas"/>
              </a:rPr>
              <a:t>SERVICE-HEALTH-DASHBOARD · LIVE IN KIND</a:t>
            </a:r>
          </a:p>
        </p:txBody>
      </p:sp>
      <p:sp>
        <p:nvSpPr>
          <p:cNvPr id="5" name="TextBox 4"/>
          <p:cNvSpPr txBox="1"/>
          <p:nvPr/>
        </p:nvSpPr>
        <p:spPr>
          <a:xfrm>
            <a:off x="640080" y="2377440"/>
            <a:ext cx="10515600" cy="1463040"/>
          </a:xfrm>
          <a:prstGeom prst="rect">
            <a:avLst/>
          </a:prstGeom>
          <a:noFill/>
        </p:spPr>
        <p:txBody>
          <a:bodyPr wrap="square" anchor="t" lIns="0" rIns="0" tIns="0" bIns="0">
            <a:spAutoFit/>
          </a:bodyPr>
          <a:lstStyle/>
          <a:p>
            <a:pPr algn="l">
              <a:lnSpc>
                <a:spcPct val="100000"/>
              </a:lnSpc>
            </a:pPr>
            <a:r>
              <a:rPr sz="4400" b="1" i="0">
                <a:solidFill>
                  <a:srgbClr val="16212C"/>
                </a:solidFill>
                <a:latin typeface="Consolas"/>
              </a:rPr>
              <a:t>Service Health Dashboard</a:t>
            </a:r>
          </a:p>
        </p:txBody>
      </p:sp>
      <p:sp>
        <p:nvSpPr>
          <p:cNvPr id="6" name="TextBox 5"/>
          <p:cNvSpPr txBox="1"/>
          <p:nvPr/>
        </p:nvSpPr>
        <p:spPr>
          <a:xfrm>
            <a:off x="640080" y="3520440"/>
            <a:ext cx="8686800" cy="1188720"/>
          </a:xfrm>
          <a:prstGeom prst="rect">
            <a:avLst/>
          </a:prstGeom>
          <a:noFill/>
        </p:spPr>
        <p:txBody>
          <a:bodyPr wrap="square" anchor="t" lIns="0" rIns="0" tIns="0" bIns="0">
            <a:spAutoFit/>
          </a:bodyPr>
          <a:lstStyle/>
          <a:p>
            <a:pPr algn="l">
              <a:lnSpc>
                <a:spcPct val="135000"/>
              </a:lnSpc>
            </a:pPr>
            <a:r>
              <a:rPr sz="1500" b="0" i="0">
                <a:solidFill>
                  <a:srgbClr val="5B6B78"/>
                </a:solidFill>
                <a:latin typeface="Calibri"/>
              </a:rPr>
              <a:t>A concurrent, timeout-bounded health-check platform for three downstream services — built and operated as a DevSecOps exercise: containerized, deployed to Kubernetes behind an Istio mesh, provisioned with Terraform, and gated by a three-workflow security pipeline.</a:t>
            </a:r>
          </a:p>
        </p:txBody>
      </p:sp>
      <p:sp>
        <p:nvSpPr>
          <p:cNvPr id="7" name="TextBox 6"/>
          <p:cNvSpPr txBox="1"/>
          <p:nvPr/>
        </p:nvSpPr>
        <p:spPr>
          <a:xfrm>
            <a:off x="640080" y="5806440"/>
            <a:ext cx="2468880" cy="274320"/>
          </a:xfrm>
          <a:prstGeom prst="rect">
            <a:avLst/>
          </a:prstGeom>
          <a:noFill/>
        </p:spPr>
        <p:txBody>
          <a:bodyPr wrap="square" anchor="t" lIns="0" rIns="0" tIns="0" bIns="0">
            <a:spAutoFit/>
          </a:bodyPr>
          <a:lstStyle/>
          <a:p>
            <a:pPr algn="l">
              <a:lnSpc>
                <a:spcPct val="100000"/>
              </a:lnSpc>
            </a:pPr>
            <a:r>
              <a:rPr sz="950" b="0" i="0" spc="70">
                <a:solidFill>
                  <a:srgbClr val="8A97A2"/>
                </a:solidFill>
                <a:latin typeface="Consolas"/>
              </a:rPr>
              <a:t>BACKEND</a:t>
            </a:r>
          </a:p>
        </p:txBody>
      </p:sp>
      <p:sp>
        <p:nvSpPr>
          <p:cNvPr id="8" name="TextBox 7"/>
          <p:cNvSpPr txBox="1"/>
          <p:nvPr/>
        </p:nvSpPr>
        <p:spPr>
          <a:xfrm>
            <a:off x="640080" y="6053328"/>
            <a:ext cx="2468880" cy="365760"/>
          </a:xfrm>
          <a:prstGeom prst="rect">
            <a:avLst/>
          </a:prstGeom>
          <a:noFill/>
        </p:spPr>
        <p:txBody>
          <a:bodyPr wrap="square" anchor="t" lIns="0" rIns="0" tIns="0" bIns="0">
            <a:spAutoFit/>
          </a:bodyPr>
          <a:lstStyle/>
          <a:p>
            <a:pPr algn="l">
              <a:lnSpc>
                <a:spcPct val="100000"/>
              </a:lnSpc>
            </a:pPr>
            <a:r>
              <a:rPr sz="1250" b="1" i="0">
                <a:solidFill>
                  <a:srgbClr val="16212C"/>
                </a:solidFill>
                <a:latin typeface="Calibri"/>
              </a:rPr>
              <a:t>FastAPI / Python 3.12</a:t>
            </a:r>
          </a:p>
        </p:txBody>
      </p:sp>
      <p:sp>
        <p:nvSpPr>
          <p:cNvPr id="9" name="TextBox 8"/>
          <p:cNvSpPr txBox="1"/>
          <p:nvPr/>
        </p:nvSpPr>
        <p:spPr>
          <a:xfrm>
            <a:off x="3246120" y="5806440"/>
            <a:ext cx="2468880" cy="274320"/>
          </a:xfrm>
          <a:prstGeom prst="rect">
            <a:avLst/>
          </a:prstGeom>
          <a:noFill/>
        </p:spPr>
        <p:txBody>
          <a:bodyPr wrap="square" anchor="t" lIns="0" rIns="0" tIns="0" bIns="0">
            <a:spAutoFit/>
          </a:bodyPr>
          <a:lstStyle/>
          <a:p>
            <a:pPr algn="l">
              <a:lnSpc>
                <a:spcPct val="100000"/>
              </a:lnSpc>
            </a:pPr>
            <a:r>
              <a:rPr sz="950" b="0" i="0" spc="70">
                <a:solidFill>
                  <a:srgbClr val="8A97A2"/>
                </a:solidFill>
                <a:latin typeface="Consolas"/>
              </a:rPr>
              <a:t>FRONTEND</a:t>
            </a:r>
          </a:p>
        </p:txBody>
      </p:sp>
      <p:sp>
        <p:nvSpPr>
          <p:cNvPr id="10" name="TextBox 9"/>
          <p:cNvSpPr txBox="1"/>
          <p:nvPr/>
        </p:nvSpPr>
        <p:spPr>
          <a:xfrm>
            <a:off x="3246120" y="6053328"/>
            <a:ext cx="2468880" cy="365760"/>
          </a:xfrm>
          <a:prstGeom prst="rect">
            <a:avLst/>
          </a:prstGeom>
          <a:noFill/>
        </p:spPr>
        <p:txBody>
          <a:bodyPr wrap="square" anchor="t" lIns="0" rIns="0" tIns="0" bIns="0">
            <a:spAutoFit/>
          </a:bodyPr>
          <a:lstStyle/>
          <a:p>
            <a:pPr algn="l">
              <a:lnSpc>
                <a:spcPct val="100000"/>
              </a:lnSpc>
            </a:pPr>
            <a:r>
              <a:rPr sz="1250" b="1" i="0">
                <a:solidFill>
                  <a:srgbClr val="16212C"/>
                </a:solidFill>
                <a:latin typeface="Calibri"/>
              </a:rPr>
              <a:t>React + TypeScript</a:t>
            </a:r>
          </a:p>
        </p:txBody>
      </p:sp>
      <p:sp>
        <p:nvSpPr>
          <p:cNvPr id="11" name="TextBox 10"/>
          <p:cNvSpPr txBox="1"/>
          <p:nvPr/>
        </p:nvSpPr>
        <p:spPr>
          <a:xfrm>
            <a:off x="5852160" y="5806440"/>
            <a:ext cx="2468880" cy="274320"/>
          </a:xfrm>
          <a:prstGeom prst="rect">
            <a:avLst/>
          </a:prstGeom>
          <a:noFill/>
        </p:spPr>
        <p:txBody>
          <a:bodyPr wrap="square" anchor="t" lIns="0" rIns="0" tIns="0" bIns="0">
            <a:spAutoFit/>
          </a:bodyPr>
          <a:lstStyle/>
          <a:p>
            <a:pPr algn="l">
              <a:lnSpc>
                <a:spcPct val="100000"/>
              </a:lnSpc>
            </a:pPr>
            <a:r>
              <a:rPr sz="950" b="0" i="0" spc="70">
                <a:solidFill>
                  <a:srgbClr val="8A97A2"/>
                </a:solidFill>
                <a:latin typeface="Consolas"/>
              </a:rPr>
              <a:t>PLATFORM</a:t>
            </a:r>
          </a:p>
        </p:txBody>
      </p:sp>
      <p:sp>
        <p:nvSpPr>
          <p:cNvPr id="12" name="TextBox 11"/>
          <p:cNvSpPr txBox="1"/>
          <p:nvPr/>
        </p:nvSpPr>
        <p:spPr>
          <a:xfrm>
            <a:off x="5852160" y="6053328"/>
            <a:ext cx="2468880" cy="365760"/>
          </a:xfrm>
          <a:prstGeom prst="rect">
            <a:avLst/>
          </a:prstGeom>
          <a:noFill/>
        </p:spPr>
        <p:txBody>
          <a:bodyPr wrap="square" anchor="t" lIns="0" rIns="0" tIns="0" bIns="0">
            <a:spAutoFit/>
          </a:bodyPr>
          <a:lstStyle/>
          <a:p>
            <a:pPr algn="l">
              <a:lnSpc>
                <a:spcPct val="100000"/>
              </a:lnSpc>
            </a:pPr>
            <a:r>
              <a:rPr sz="1250" b="1" i="0">
                <a:solidFill>
                  <a:srgbClr val="16212C"/>
                </a:solidFill>
                <a:latin typeface="Calibri"/>
              </a:rPr>
              <a:t>kind · Terraform · Istio</a:t>
            </a:r>
          </a:p>
        </p:txBody>
      </p:sp>
      <p:sp>
        <p:nvSpPr>
          <p:cNvPr id="13" name="TextBox 12"/>
          <p:cNvSpPr txBox="1"/>
          <p:nvPr/>
        </p:nvSpPr>
        <p:spPr>
          <a:xfrm>
            <a:off x="8458200" y="5806440"/>
            <a:ext cx="2468880" cy="274320"/>
          </a:xfrm>
          <a:prstGeom prst="rect">
            <a:avLst/>
          </a:prstGeom>
          <a:noFill/>
        </p:spPr>
        <p:txBody>
          <a:bodyPr wrap="square" anchor="t" lIns="0" rIns="0" tIns="0" bIns="0">
            <a:spAutoFit/>
          </a:bodyPr>
          <a:lstStyle/>
          <a:p>
            <a:pPr algn="l">
              <a:lnSpc>
                <a:spcPct val="100000"/>
              </a:lnSpc>
            </a:pPr>
            <a:r>
              <a:rPr sz="950" b="0" i="0" spc="70">
                <a:solidFill>
                  <a:srgbClr val="8A97A2"/>
                </a:solidFill>
                <a:latin typeface="Consolas"/>
              </a:rPr>
              <a:t>PIPELINE</a:t>
            </a:r>
          </a:p>
        </p:txBody>
      </p:sp>
      <p:sp>
        <p:nvSpPr>
          <p:cNvPr id="14" name="TextBox 13"/>
          <p:cNvSpPr txBox="1"/>
          <p:nvPr/>
        </p:nvSpPr>
        <p:spPr>
          <a:xfrm>
            <a:off x="8458200" y="6053328"/>
            <a:ext cx="2468880" cy="365760"/>
          </a:xfrm>
          <a:prstGeom prst="rect">
            <a:avLst/>
          </a:prstGeom>
          <a:noFill/>
        </p:spPr>
        <p:txBody>
          <a:bodyPr wrap="square" anchor="t" lIns="0" rIns="0" tIns="0" bIns="0">
            <a:spAutoFit/>
          </a:bodyPr>
          <a:lstStyle/>
          <a:p>
            <a:pPr algn="l">
              <a:lnSpc>
                <a:spcPct val="100000"/>
              </a:lnSpc>
            </a:pPr>
            <a:r>
              <a:rPr sz="1250" b="1" i="0">
                <a:solidFill>
                  <a:srgbClr val="16212C"/>
                </a:solidFill>
                <a:latin typeface="Calibri"/>
              </a:rPr>
              <a:t>GitHub Actions, 3 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01 · BUSINESS CONTEXT</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Any system with more than one dependency needs</a:t>
            </a:r>
          </a:p>
          <a:p>
            <a:pPr algn="l">
              <a:lnSpc>
                <a:spcPct val="105000"/>
              </a:lnSpc>
            </a:pPr>
            <a:r>
              <a:rPr sz="2400" b="1" i="0">
                <a:solidFill>
                  <a:srgbClr val="16212C"/>
                </a:solidFill>
                <a:latin typeface="Consolas"/>
              </a:rPr>
              <a:t>one honest answer to “is it up.”</a:t>
            </a:r>
          </a:p>
        </p:txBody>
      </p:sp>
      <p:sp>
        <p:nvSpPr>
          <p:cNvPr id="6" name="TextBox 5"/>
          <p:cNvSpPr txBox="1"/>
          <p:nvPr/>
        </p:nvSpPr>
        <p:spPr>
          <a:xfrm>
            <a:off x="640080" y="2286000"/>
            <a:ext cx="6126480" cy="384048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400" b="1" i="0">
                <a:solidFill>
                  <a:srgbClr val="B5661F"/>
                </a:solidFill>
                <a:latin typeface="Calibri"/>
              </a:rPr>
              <a:t>  </a:t>
            </a:r>
            <a:r>
              <a:rPr sz="1400" b="1" i="0">
                <a:solidFill>
                  <a:srgbClr val="16212C"/>
                </a:solidFill>
                <a:latin typeface="Calibri"/>
              </a:rPr>
              <a:t>The scenario: </a:t>
            </a:r>
            <a:r>
              <a:rPr sz="1400" b="0" i="0">
                <a:solidFill>
                  <a:srgbClr val="5B6B78"/>
                </a:solidFill>
                <a:latin typeface="Calibri"/>
              </a:rPr>
              <a:t>a backend depends on three downstream services. Nobody can answer “is everything healthy” from memory once that dependency count grows past one.</a:t>
            </a:r>
          </a:p>
          <a:p>
            <a:pPr indent="-182880" marL="182880">
              <a:lnSpc>
                <a:spcPct val="122000"/>
              </a:lnSpc>
              <a:spcAft>
                <a:spcPts val="1008"/>
              </a:spcAft>
              <a:buFont typeface="Arial"/>
              <a:buChar char="•"/>
            </a:pPr>
            <a:r>
              <a:rPr sz="1400" b="1" i="0">
                <a:solidFill>
                  <a:srgbClr val="B5661F"/>
                </a:solidFill>
                <a:latin typeface="Calibri"/>
              </a:rPr>
              <a:t>  </a:t>
            </a:r>
            <a:r>
              <a:rPr sz="1400" b="1" i="0">
                <a:solidFill>
                  <a:srgbClr val="16212C"/>
                </a:solidFill>
                <a:latin typeface="Calibri"/>
              </a:rPr>
              <a:t>What's actually evaluated: </a:t>
            </a:r>
            <a:r>
              <a:rPr sz="1400" b="0" i="0">
                <a:solidFill>
                  <a:srgbClr val="5B6B78"/>
                </a:solidFill>
                <a:latin typeface="Calibri"/>
              </a:rPr>
              <a:t>not just “can it check three URLs” — whether failures are classified usefully, and whether the platform underneath is built like it will run somewhere real.</a:t>
            </a:r>
          </a:p>
          <a:p>
            <a:pPr indent="-182880" marL="182880">
              <a:lnSpc>
                <a:spcPct val="122000"/>
              </a:lnSpc>
              <a:spcAft>
                <a:spcPts val="1008"/>
              </a:spcAft>
              <a:buFont typeface="Arial"/>
              <a:buChar char="•"/>
            </a:pPr>
            <a:r>
              <a:rPr sz="1400" b="1" i="0">
                <a:solidFill>
                  <a:srgbClr val="B5661F"/>
                </a:solidFill>
                <a:latin typeface="Calibri"/>
              </a:rPr>
              <a:t>  </a:t>
            </a:r>
            <a:r>
              <a:rPr sz="1400" b="1" i="0">
                <a:solidFill>
                  <a:srgbClr val="16212C"/>
                </a:solidFill>
                <a:latin typeface="Calibri"/>
              </a:rPr>
              <a:t>Scope taken beyond the brief: </a:t>
            </a:r>
            <a:r>
              <a:rPr sz="1400" b="0" i="0">
                <a:solidFill>
                  <a:srgbClr val="5B6B78"/>
                </a:solidFill>
                <a:latin typeface="Calibri"/>
              </a:rPr>
              <a:t>containerization, Kubernetes, a service mesh, infrastructure as code, and a shift-left security pipeline, on top of the functional ask.</a:t>
            </a:r>
          </a:p>
        </p:txBody>
      </p:sp>
      <p:sp>
        <p:nvSpPr>
          <p:cNvPr id="7" name="Rounded Rectangle 6"/>
          <p:cNvSpPr/>
          <p:nvPr/>
        </p:nvSpPr>
        <p:spPr>
          <a:xfrm>
            <a:off x="7178040" y="2286000"/>
            <a:ext cx="4389120" cy="35661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79208" y="2432304"/>
            <a:ext cx="3986783"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THE TWO QUESTIONS THIS ANSWERS</a:t>
            </a:r>
          </a:p>
        </p:txBody>
      </p:sp>
      <p:sp>
        <p:nvSpPr>
          <p:cNvPr id="9" name="TextBox 8"/>
          <p:cNvSpPr txBox="1"/>
          <p:nvPr/>
        </p:nvSpPr>
        <p:spPr>
          <a:xfrm>
            <a:off x="7379208" y="2743200"/>
            <a:ext cx="3986783" cy="2962656"/>
          </a:xfrm>
          <a:prstGeom prst="rect">
            <a:avLst/>
          </a:prstGeom>
          <a:noFill/>
        </p:spPr>
        <p:txBody>
          <a:bodyPr wrap="square" anchor="t" lIns="0" rIns="0" tIns="0" bIns="0">
            <a:spAutoFit/>
          </a:bodyPr>
          <a:lstStyle/>
          <a:p>
            <a:pPr algn="l">
              <a:lnSpc>
                <a:spcPct val="125000"/>
              </a:lnSpc>
            </a:pPr>
            <a:r>
              <a:rPr sz="1250" b="0" i="0">
                <a:solidFill>
                  <a:srgbClr val="16212C"/>
                </a:solidFill>
                <a:latin typeface="Calibri"/>
              </a:rPr>
              <a:t>1.  Can correct, well-tested application code be built — concurrent checks, real timeout handling, no collapsed failure states?</a:t>
            </a:r>
          </a:p>
          <a:p>
            <a:pPr algn="l">
              <a:lnSpc>
                <a:spcPct val="125000"/>
              </a:lnSpc>
            </a:pPr>
            <a:r>
              <a:rPr sz="1250" b="0" i="0">
                <a:solidFill>
                  <a:srgbClr val="16212C"/>
                </a:solidFill>
                <a:latin typeface="Calibri"/>
              </a:rPr>
              <a:t/>
            </a:r>
          </a:p>
          <a:p>
            <a:pPr algn="l">
              <a:lnSpc>
                <a:spcPct val="125000"/>
              </a:lnSpc>
            </a:pPr>
            <a:r>
              <a:rPr sz="1250" b="0" i="0">
                <a:solidFill>
                  <a:srgbClr val="16212C"/>
                </a:solidFill>
                <a:latin typeface="Calibri"/>
              </a:rPr>
              <a:t>2.  Can the platform it runs on be reasoned about — containers, orchestration, service-to-service security, and a pipeline that gates on findings instead of only running tests?</a:t>
            </a:r>
          </a:p>
        </p:txBody>
      </p:sp>
      <p:sp>
        <p:nvSpPr>
          <p:cNvPr id="10" name="TextBox 9"/>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02 / 16</a:t>
            </a:r>
          </a:p>
        </p:txBody>
      </p:sp>
      <p:sp>
        <p:nvSpPr>
          <p:cNvPr id="11" name="TextBox 10"/>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02 · THE APPLICATION</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Three states, not three booleans: loading,</a:t>
            </a:r>
          </a:p>
          <a:p>
            <a:pPr algn="l">
              <a:lnSpc>
                <a:spcPct val="105000"/>
              </a:lnSpc>
            </a:pPr>
            <a:r>
              <a:rPr sz="2400" b="1" i="0">
                <a:solidFill>
                  <a:srgbClr val="16212C"/>
                </a:solidFill>
                <a:latin typeface="Consolas"/>
              </a:rPr>
              <a:t>loaded, or a specific reason it isn't.</a:t>
            </a:r>
          </a:p>
        </p:txBody>
      </p:sp>
      <p:sp>
        <p:nvSpPr>
          <p:cNvPr id="6" name="Rounded Rectangle 5"/>
          <p:cNvSpPr/>
          <p:nvPr/>
        </p:nvSpPr>
        <p:spPr>
          <a:xfrm>
            <a:off x="640080" y="2286000"/>
            <a:ext cx="5120640" cy="201168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432304"/>
            <a:ext cx="3657600" cy="274320"/>
          </a:xfrm>
          <a:prstGeom prst="rect">
            <a:avLst/>
          </a:prstGeom>
          <a:noFill/>
        </p:spPr>
        <p:txBody>
          <a:bodyPr wrap="square" anchor="t" lIns="0" rIns="0" tIns="0" bIns="0">
            <a:spAutoFit/>
          </a:bodyPr>
          <a:lstStyle/>
          <a:p>
            <a:pPr algn="l">
              <a:lnSpc>
                <a:spcPct val="100000"/>
              </a:lnSpc>
            </a:pPr>
            <a:r>
              <a:rPr sz="950" b="1" i="0" spc="60">
                <a:solidFill>
                  <a:srgbClr val="8A97A2"/>
                </a:solidFill>
                <a:latin typeface="Consolas"/>
              </a:rPr>
              <a:t>WHAT THE DASHBOARD SHOWS RIGHT NOW</a:t>
            </a:r>
          </a:p>
        </p:txBody>
      </p:sp>
      <p:sp>
        <p:nvSpPr>
          <p:cNvPr id="8" name="TextBox 7"/>
          <p:cNvSpPr txBox="1"/>
          <p:nvPr/>
        </p:nvSpPr>
        <p:spPr>
          <a:xfrm>
            <a:off x="841247" y="2834640"/>
            <a:ext cx="1828800" cy="320040"/>
          </a:xfrm>
          <a:prstGeom prst="rect">
            <a:avLst/>
          </a:prstGeom>
          <a:noFill/>
        </p:spPr>
        <p:txBody>
          <a:bodyPr wrap="square" anchor="t" lIns="0" rIns="0" tIns="0" bIns="0">
            <a:spAutoFit/>
          </a:bodyPr>
          <a:lstStyle/>
          <a:p>
            <a:pPr algn="l">
              <a:lnSpc>
                <a:spcPct val="100000"/>
              </a:lnSpc>
            </a:pPr>
            <a:r>
              <a:rPr sz="1200" b="0" i="0">
                <a:solidFill>
                  <a:srgbClr val="16212C"/>
                </a:solidFill>
                <a:latin typeface="Consolas"/>
              </a:rPr>
              <a:t>user-service</a:t>
            </a:r>
          </a:p>
        </p:txBody>
      </p:sp>
      <p:sp>
        <p:nvSpPr>
          <p:cNvPr id="9" name="Rounded Rectangle 8"/>
          <p:cNvSpPr/>
          <p:nvPr/>
        </p:nvSpPr>
        <p:spPr>
          <a:xfrm>
            <a:off x="2743200" y="2816352"/>
            <a:ext cx="548640" cy="292608"/>
          </a:xfrm>
          <a:prstGeom prst="roundRect">
            <a:avLst>
              <a:gd name="adj" fmla="val 50000"/>
            </a:avLst>
          </a:prstGeom>
          <a:solidFill>
            <a:srgbClr val="E2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2F8F5B"/>
                </a:solidFill>
                <a:latin typeface="Consolas"/>
              </a:rPr>
              <a:t>UP</a:t>
            </a:r>
          </a:p>
        </p:txBody>
      </p:sp>
      <p:sp>
        <p:nvSpPr>
          <p:cNvPr id="10" name="TextBox 9"/>
          <p:cNvSpPr txBox="1"/>
          <p:nvPr/>
        </p:nvSpPr>
        <p:spPr>
          <a:xfrm>
            <a:off x="3840480" y="2834640"/>
            <a:ext cx="1463040" cy="320040"/>
          </a:xfrm>
          <a:prstGeom prst="rect">
            <a:avLst/>
          </a:prstGeom>
          <a:noFill/>
        </p:spPr>
        <p:txBody>
          <a:bodyPr wrap="square" anchor="t" lIns="0" rIns="0" tIns="0" bIns="0">
            <a:spAutoFit/>
          </a:bodyPr>
          <a:lstStyle/>
          <a:p>
            <a:pPr algn="l">
              <a:lnSpc>
                <a:spcPct val="100000"/>
              </a:lnSpc>
            </a:pPr>
            <a:r>
              <a:rPr sz="1200" b="0" i="0">
                <a:solidFill>
                  <a:srgbClr val="5B6B78"/>
                </a:solidFill>
                <a:latin typeface="Consolas"/>
              </a:rPr>
              <a:t>133 ms</a:t>
            </a:r>
          </a:p>
        </p:txBody>
      </p:sp>
      <p:sp>
        <p:nvSpPr>
          <p:cNvPr id="11" name="TextBox 10"/>
          <p:cNvSpPr txBox="1"/>
          <p:nvPr/>
        </p:nvSpPr>
        <p:spPr>
          <a:xfrm>
            <a:off x="841247" y="3291840"/>
            <a:ext cx="1828800" cy="320040"/>
          </a:xfrm>
          <a:prstGeom prst="rect">
            <a:avLst/>
          </a:prstGeom>
          <a:noFill/>
        </p:spPr>
        <p:txBody>
          <a:bodyPr wrap="square" anchor="t" lIns="0" rIns="0" tIns="0" bIns="0">
            <a:spAutoFit/>
          </a:bodyPr>
          <a:lstStyle/>
          <a:p>
            <a:pPr algn="l">
              <a:lnSpc>
                <a:spcPct val="100000"/>
              </a:lnSpc>
            </a:pPr>
            <a:r>
              <a:rPr sz="1200" b="0" i="0">
                <a:solidFill>
                  <a:srgbClr val="16212C"/>
                </a:solidFill>
                <a:latin typeface="Consolas"/>
              </a:rPr>
              <a:t>order-service</a:t>
            </a:r>
          </a:p>
        </p:txBody>
      </p:sp>
      <p:sp>
        <p:nvSpPr>
          <p:cNvPr id="12" name="Rounded Rectangle 11"/>
          <p:cNvSpPr/>
          <p:nvPr/>
        </p:nvSpPr>
        <p:spPr>
          <a:xfrm>
            <a:off x="2743200" y="3273552"/>
            <a:ext cx="640080" cy="292608"/>
          </a:xfrm>
          <a:prstGeom prst="roundRect">
            <a:avLst>
              <a:gd name="adj" fmla="val 50000"/>
            </a:avLst>
          </a:prstGeom>
          <a:solidFill>
            <a:srgbClr val="FBE6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C14B52"/>
                </a:solidFill>
                <a:latin typeface="Consolas"/>
              </a:rPr>
              <a:t>DOWN</a:t>
            </a:r>
          </a:p>
        </p:txBody>
      </p:sp>
      <p:sp>
        <p:nvSpPr>
          <p:cNvPr id="13" name="TextBox 12"/>
          <p:cNvSpPr txBox="1"/>
          <p:nvPr/>
        </p:nvSpPr>
        <p:spPr>
          <a:xfrm>
            <a:off x="3840480" y="3291840"/>
            <a:ext cx="1463040" cy="320040"/>
          </a:xfrm>
          <a:prstGeom prst="rect">
            <a:avLst/>
          </a:prstGeom>
          <a:noFill/>
        </p:spPr>
        <p:txBody>
          <a:bodyPr wrap="square" anchor="t" lIns="0" rIns="0" tIns="0" bIns="0">
            <a:spAutoFit/>
          </a:bodyPr>
          <a:lstStyle/>
          <a:p>
            <a:pPr algn="l">
              <a:lnSpc>
                <a:spcPct val="100000"/>
              </a:lnSpc>
            </a:pPr>
            <a:r>
              <a:rPr sz="1200" b="0" i="0">
                <a:solidFill>
                  <a:srgbClr val="5B6B78"/>
                </a:solidFill>
                <a:latin typeface="Consolas"/>
              </a:rPr>
              <a:t>Timeout</a:t>
            </a:r>
          </a:p>
        </p:txBody>
      </p:sp>
      <p:sp>
        <p:nvSpPr>
          <p:cNvPr id="14" name="TextBox 13"/>
          <p:cNvSpPr txBox="1"/>
          <p:nvPr/>
        </p:nvSpPr>
        <p:spPr>
          <a:xfrm>
            <a:off x="841247" y="3749039"/>
            <a:ext cx="1828800" cy="320040"/>
          </a:xfrm>
          <a:prstGeom prst="rect">
            <a:avLst/>
          </a:prstGeom>
          <a:noFill/>
        </p:spPr>
        <p:txBody>
          <a:bodyPr wrap="square" anchor="t" lIns="0" rIns="0" tIns="0" bIns="0">
            <a:spAutoFit/>
          </a:bodyPr>
          <a:lstStyle/>
          <a:p>
            <a:pPr algn="l">
              <a:lnSpc>
                <a:spcPct val="100000"/>
              </a:lnSpc>
            </a:pPr>
            <a:r>
              <a:rPr sz="1200" b="0" i="0">
                <a:solidFill>
                  <a:srgbClr val="16212C"/>
                </a:solidFill>
                <a:latin typeface="Consolas"/>
              </a:rPr>
              <a:t>payment-service</a:t>
            </a:r>
          </a:p>
        </p:txBody>
      </p:sp>
      <p:sp>
        <p:nvSpPr>
          <p:cNvPr id="15" name="Rounded Rectangle 14"/>
          <p:cNvSpPr/>
          <p:nvPr/>
        </p:nvSpPr>
        <p:spPr>
          <a:xfrm>
            <a:off x="2743200" y="3730752"/>
            <a:ext cx="548640" cy="292608"/>
          </a:xfrm>
          <a:prstGeom prst="roundRect">
            <a:avLst>
              <a:gd name="adj" fmla="val 50000"/>
            </a:avLst>
          </a:prstGeom>
          <a:solidFill>
            <a:srgbClr val="E2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2F8F5B"/>
                </a:solidFill>
                <a:latin typeface="Consolas"/>
              </a:rPr>
              <a:t>UP</a:t>
            </a:r>
          </a:p>
        </p:txBody>
      </p:sp>
      <p:sp>
        <p:nvSpPr>
          <p:cNvPr id="16" name="TextBox 15"/>
          <p:cNvSpPr txBox="1"/>
          <p:nvPr/>
        </p:nvSpPr>
        <p:spPr>
          <a:xfrm>
            <a:off x="3840480" y="3749039"/>
            <a:ext cx="1463040" cy="320040"/>
          </a:xfrm>
          <a:prstGeom prst="rect">
            <a:avLst/>
          </a:prstGeom>
          <a:noFill/>
        </p:spPr>
        <p:txBody>
          <a:bodyPr wrap="square" anchor="t" lIns="0" rIns="0" tIns="0" bIns="0">
            <a:spAutoFit/>
          </a:bodyPr>
          <a:lstStyle/>
          <a:p>
            <a:pPr algn="l">
              <a:lnSpc>
                <a:spcPct val="100000"/>
              </a:lnSpc>
            </a:pPr>
            <a:r>
              <a:rPr sz="1200" b="0" i="0">
                <a:solidFill>
                  <a:srgbClr val="5B6B78"/>
                </a:solidFill>
                <a:latin typeface="Consolas"/>
              </a:rPr>
              <a:t>100 ms</a:t>
            </a:r>
          </a:p>
        </p:txBody>
      </p:sp>
      <p:sp>
        <p:nvSpPr>
          <p:cNvPr id="17" name="Rounded Rectangle 16"/>
          <p:cNvSpPr/>
          <p:nvPr/>
        </p:nvSpPr>
        <p:spPr>
          <a:xfrm>
            <a:off x="640080" y="4526280"/>
            <a:ext cx="5120640" cy="160020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4672584"/>
            <a:ext cx="4718303"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WHY ORDER-SERVICE IS DELIBERATELY DOWN</a:t>
            </a:r>
          </a:p>
        </p:txBody>
      </p:sp>
      <p:sp>
        <p:nvSpPr>
          <p:cNvPr id="19" name="TextBox 18"/>
          <p:cNvSpPr txBox="1"/>
          <p:nvPr/>
        </p:nvSpPr>
        <p:spPr>
          <a:xfrm>
            <a:off x="841247" y="4983480"/>
            <a:ext cx="4718303" cy="996695"/>
          </a:xfrm>
          <a:prstGeom prst="rect">
            <a:avLst/>
          </a:prstGeom>
          <a:noFill/>
        </p:spPr>
        <p:txBody>
          <a:bodyPr wrap="square" anchor="t" lIns="0" rIns="0" tIns="0" bIns="0">
            <a:spAutoFit/>
          </a:bodyPr>
          <a:lstStyle/>
          <a:p>
            <a:pPr algn="l">
              <a:lnSpc>
                <a:spcPct val="125000"/>
              </a:lnSpc>
            </a:pPr>
            <a:r>
              <a:rPr sz="1150" b="0" i="0">
                <a:solidFill>
                  <a:srgbClr val="16212C"/>
                </a:solidFill>
                <a:latin typeface="Calibri"/>
              </a:rPr>
              <a:t>It runs MOCK_MODE=slow — an 8-second delay, longer than the backend's 5-second client timeout — so the dashboard demonstrates a real Timeout/DOWN row on demand.</a:t>
            </a:r>
          </a:p>
        </p:txBody>
      </p:sp>
      <p:sp>
        <p:nvSpPr>
          <p:cNvPr id="20" name="TextBox 19"/>
          <p:cNvSpPr txBox="1"/>
          <p:nvPr/>
        </p:nvSpPr>
        <p:spPr>
          <a:xfrm>
            <a:off x="6355080" y="2286000"/>
            <a:ext cx="5212080" cy="393192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Failure is classified, not collapsed: </a:t>
            </a:r>
            <a:r>
              <a:rPr sz="1300" b="0" i="0">
                <a:solidFill>
                  <a:srgbClr val="5B6B78"/>
                </a:solidFill>
                <a:latin typeface="Calibri"/>
              </a:rPr>
              <a:t>Timeout, Connection refused, HTTP 5xx, and generic request failure are four distinct, operator-facing outcomes.</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Concurrent by design: </a:t>
            </a:r>
            <a:r>
              <a:rPr sz="1300" b="0" i="0">
                <a:solidFill>
                  <a:srgbClr val="5B6B78"/>
                </a:solidFill>
                <a:latin typeface="Calibri"/>
              </a:rPr>
              <a:t>all three checks fire together; total wait time is bounded by the slowest single check, not the sum of all three.</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Manual refresh, graceful backend loss: </a:t>
            </a:r>
            <a:r>
              <a:rPr sz="1300" b="0" i="0">
                <a:solidFill>
                  <a:srgbClr val="5B6B78"/>
                </a:solidFill>
                <a:latin typeface="Calibri"/>
              </a:rPr>
              <a:t>a disabled/relabeled button prevents overlapping requests; an unreachable backend renders an explicit banner.</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Stateless throughout: </a:t>
            </a:r>
            <a:r>
              <a:rPr sz="1300" b="0" i="0">
                <a:solidFill>
                  <a:srgbClr val="5B6B78"/>
                </a:solidFill>
                <a:latin typeface="Calibri"/>
              </a:rPr>
              <a:t>every request is independently computed — nothing about “current health” has meaning to persist.</a:t>
            </a:r>
          </a:p>
        </p:txBody>
      </p:sp>
      <p:sp>
        <p:nvSpPr>
          <p:cNvPr id="21" name="TextBox 20"/>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03 / 16</a:t>
            </a:r>
          </a:p>
        </p:txBody>
      </p:sp>
      <p:sp>
        <p:nvSpPr>
          <p:cNvPr id="22" name="TextBox 21"/>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03 · SYSTEM ARCHITECTURE</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Browser to backend to three downstream services, end to end.</a:t>
            </a:r>
          </a:p>
        </p:txBody>
      </p:sp>
      <p:sp>
        <p:nvSpPr>
          <p:cNvPr id="6" name="Rounded Rectangle 5"/>
          <p:cNvSpPr/>
          <p:nvPr/>
        </p:nvSpPr>
        <p:spPr>
          <a:xfrm>
            <a:off x="640080" y="2286000"/>
            <a:ext cx="10911535" cy="39319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697480"/>
            <a:ext cx="1828800" cy="731520"/>
          </a:xfrm>
          <a:prstGeom prst="roundRect">
            <a:avLst>
              <a:gd name="adj" fmla="val 12000"/>
            </a:avLst>
          </a:prstGeom>
          <a:solidFill>
            <a:srgbClr val="FFFFFF"/>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300" b="1" i="0">
                <a:solidFill>
                  <a:srgbClr val="16212C"/>
                </a:solidFill>
                <a:latin typeface="Consolas"/>
              </a:rPr>
              <a:t>Browser</a:t>
            </a:r>
          </a:p>
        </p:txBody>
      </p:sp>
      <p:cxnSp>
        <p:nvCxnSpPr>
          <p:cNvPr id="8" name="Connector 7"/>
          <p:cNvCxnSpPr/>
          <p:nvPr/>
        </p:nvCxnSpPr>
        <p:spPr>
          <a:xfrm>
            <a:off x="2697480" y="3063240"/>
            <a:ext cx="731520"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97480" y="2788920"/>
            <a:ext cx="731520" cy="274320"/>
          </a:xfrm>
          <a:prstGeom prst="rect">
            <a:avLst/>
          </a:prstGeom>
          <a:noFill/>
        </p:spPr>
        <p:txBody>
          <a:bodyPr wrap="square" anchor="t" lIns="0" rIns="0" tIns="0" bIns="0">
            <a:spAutoFit/>
          </a:bodyPr>
          <a:lstStyle/>
          <a:p>
            <a:pPr algn="ctr">
              <a:lnSpc>
                <a:spcPct val="100000"/>
              </a:lnSpc>
            </a:pPr>
            <a:r>
              <a:rPr sz="800" b="0" i="0">
                <a:solidFill>
                  <a:srgbClr val="5B6B78"/>
                </a:solidFill>
                <a:latin typeface="Consolas"/>
              </a:rPr>
              <a:t>NodePort</a:t>
            </a:r>
          </a:p>
          <a:p>
            <a:pPr algn="ctr">
              <a:lnSpc>
                <a:spcPct val="100000"/>
              </a:lnSpc>
            </a:pPr>
            <a:r>
              <a:rPr sz="800" b="0" i="0">
                <a:solidFill>
                  <a:srgbClr val="5B6B78"/>
                </a:solidFill>
                <a:latin typeface="Consolas"/>
              </a:rPr>
              <a:t>30080</a:t>
            </a:r>
          </a:p>
        </p:txBody>
      </p:sp>
      <p:sp>
        <p:nvSpPr>
          <p:cNvPr id="10" name="Rounded Rectangle 9"/>
          <p:cNvSpPr/>
          <p:nvPr/>
        </p:nvSpPr>
        <p:spPr>
          <a:xfrm>
            <a:off x="3474720" y="2423160"/>
            <a:ext cx="7635240" cy="3566160"/>
          </a:xfrm>
          <a:prstGeom prst="roundRect">
            <a:avLst/>
          </a:prstGeom>
          <a:solidFill>
            <a:srgbClr val="F4E3D1"/>
          </a:solidFill>
          <a:ln w="12700">
            <a:solidFill>
              <a:srgbClr val="B566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2514600"/>
            <a:ext cx="7315200" cy="274320"/>
          </a:xfrm>
          <a:prstGeom prst="rect">
            <a:avLst/>
          </a:prstGeom>
          <a:noFill/>
        </p:spPr>
        <p:txBody>
          <a:bodyPr wrap="square" anchor="t" lIns="0" rIns="0" tIns="0" bIns="0">
            <a:spAutoFit/>
          </a:bodyPr>
          <a:lstStyle/>
          <a:p>
            <a:pPr algn="l">
              <a:lnSpc>
                <a:spcPct val="100000"/>
              </a:lnSpc>
            </a:pPr>
            <a:r>
              <a:rPr sz="950" b="1" i="0" spc="60">
                <a:solidFill>
                  <a:srgbClr val="B5661F"/>
                </a:solidFill>
                <a:latin typeface="Consolas"/>
              </a:rPr>
              <a:t>HEALTH-DASHBOARD NAMESPACE · mTLS STRICT</a:t>
            </a:r>
          </a:p>
        </p:txBody>
      </p:sp>
      <p:sp>
        <p:nvSpPr>
          <p:cNvPr id="12" name="Rounded Rectangle 11"/>
          <p:cNvSpPr/>
          <p:nvPr/>
        </p:nvSpPr>
        <p:spPr>
          <a:xfrm>
            <a:off x="3794760" y="3017520"/>
            <a:ext cx="1737360" cy="68580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50" b="1" i="0">
                <a:solidFill>
                  <a:srgbClr val="16212C"/>
                </a:solidFill>
                <a:latin typeface="Consolas"/>
              </a:rPr>
              <a:t>frontend</a:t>
            </a:r>
          </a:p>
          <a:p>
            <a:pPr algn="ctr">
              <a:lnSpc>
                <a:spcPct val="105000"/>
              </a:lnSpc>
            </a:pPr>
            <a:r>
              <a:rPr sz="1150" b="0" i="0">
                <a:solidFill>
                  <a:srgbClr val="16212C"/>
                </a:solidFill>
                <a:latin typeface="Consolas"/>
              </a:rPr>
              <a:t>(nginx)</a:t>
            </a:r>
          </a:p>
        </p:txBody>
      </p:sp>
      <p:sp>
        <p:nvSpPr>
          <p:cNvPr id="13" name="Rounded Rectangle 12"/>
          <p:cNvSpPr/>
          <p:nvPr/>
        </p:nvSpPr>
        <p:spPr>
          <a:xfrm>
            <a:off x="6035040" y="3017520"/>
            <a:ext cx="1737360" cy="68580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50" b="1" i="0">
                <a:solidFill>
                  <a:srgbClr val="16212C"/>
                </a:solidFill>
                <a:latin typeface="Consolas"/>
              </a:rPr>
              <a:t>backend</a:t>
            </a:r>
          </a:p>
          <a:p>
            <a:pPr algn="ctr">
              <a:lnSpc>
                <a:spcPct val="105000"/>
              </a:lnSpc>
            </a:pPr>
            <a:r>
              <a:rPr sz="1150" b="0" i="0">
                <a:solidFill>
                  <a:srgbClr val="16212C"/>
                </a:solidFill>
                <a:latin typeface="Consolas"/>
              </a:rPr>
              <a:t>(FastAPI)</a:t>
            </a:r>
          </a:p>
        </p:txBody>
      </p:sp>
      <p:cxnSp>
        <p:nvCxnSpPr>
          <p:cNvPr id="14" name="Connector 13"/>
          <p:cNvCxnSpPr/>
          <p:nvPr/>
        </p:nvCxnSpPr>
        <p:spPr>
          <a:xfrm>
            <a:off x="5532120" y="3360420"/>
            <a:ext cx="502920"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32120" y="3730752"/>
            <a:ext cx="548640" cy="228600"/>
          </a:xfrm>
          <a:prstGeom prst="rect">
            <a:avLst/>
          </a:prstGeom>
          <a:noFill/>
        </p:spPr>
        <p:txBody>
          <a:bodyPr wrap="square" anchor="t" lIns="0" rIns="0" tIns="0" bIns="0">
            <a:spAutoFit/>
          </a:bodyPr>
          <a:lstStyle/>
          <a:p>
            <a:pPr algn="ctr">
              <a:lnSpc>
                <a:spcPct val="100000"/>
              </a:lnSpc>
            </a:pPr>
            <a:r>
              <a:rPr sz="800" b="0" i="0">
                <a:solidFill>
                  <a:srgbClr val="5B6B78"/>
                </a:solidFill>
                <a:latin typeface="Consolas"/>
              </a:rPr>
              <a:t>/api/*</a:t>
            </a:r>
          </a:p>
        </p:txBody>
      </p:sp>
      <p:sp>
        <p:nvSpPr>
          <p:cNvPr id="16" name="Rounded Rectangle 15"/>
          <p:cNvSpPr/>
          <p:nvPr/>
        </p:nvSpPr>
        <p:spPr>
          <a:xfrm>
            <a:off x="3749039" y="4709160"/>
            <a:ext cx="1828800" cy="658368"/>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user-service</a:t>
            </a:r>
          </a:p>
        </p:txBody>
      </p:sp>
      <p:cxnSp>
        <p:nvCxnSpPr>
          <p:cNvPr id="17" name="Connector 16"/>
          <p:cNvCxnSpPr/>
          <p:nvPr/>
        </p:nvCxnSpPr>
        <p:spPr>
          <a:xfrm flipH="1">
            <a:off x="4663440" y="3703320"/>
            <a:ext cx="2240280" cy="1005840"/>
          </a:xfrm>
          <a:prstGeom prst="bentConnector3">
            <a:avLst/>
          </a:prstGeom>
          <a:ln w="15875">
            <a:solidFill>
              <a:srgbClr val="B5661F"/>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943600" y="4709160"/>
            <a:ext cx="1828800" cy="658368"/>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order-service</a:t>
            </a:r>
          </a:p>
        </p:txBody>
      </p:sp>
      <p:cxnSp>
        <p:nvCxnSpPr>
          <p:cNvPr id="19" name="Connector 18"/>
          <p:cNvCxnSpPr/>
          <p:nvPr/>
        </p:nvCxnSpPr>
        <p:spPr>
          <a:xfrm flipH="1">
            <a:off x="6858000" y="3703320"/>
            <a:ext cx="45720" cy="1005840"/>
          </a:xfrm>
          <a:prstGeom prst="bentConnector3">
            <a:avLst/>
          </a:prstGeom>
          <a:ln w="15875">
            <a:solidFill>
              <a:srgbClr val="B5661F"/>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8160" y="4709160"/>
            <a:ext cx="1828800" cy="658368"/>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payment-service</a:t>
            </a:r>
          </a:p>
        </p:txBody>
      </p:sp>
      <p:cxnSp>
        <p:nvCxnSpPr>
          <p:cNvPr id="21" name="Connector 20"/>
          <p:cNvCxnSpPr/>
          <p:nvPr/>
        </p:nvCxnSpPr>
        <p:spPr>
          <a:xfrm>
            <a:off x="6903720" y="3703320"/>
            <a:ext cx="2148840" cy="1005840"/>
          </a:xfrm>
          <a:prstGeom prst="bentConnector3">
            <a:avLst/>
          </a:prstGeom>
          <a:ln w="15875">
            <a:solidFill>
              <a:srgbClr val="B5661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49039" y="5440680"/>
            <a:ext cx="6217920" cy="274320"/>
          </a:xfrm>
          <a:prstGeom prst="rect">
            <a:avLst/>
          </a:prstGeom>
          <a:noFill/>
        </p:spPr>
        <p:txBody>
          <a:bodyPr wrap="square" anchor="t" lIns="0" rIns="0" tIns="0" bIns="0">
            <a:spAutoFit/>
          </a:bodyPr>
          <a:lstStyle/>
          <a:p>
            <a:pPr algn="ctr">
              <a:lnSpc>
                <a:spcPct val="100000"/>
              </a:lnSpc>
            </a:pPr>
            <a:r>
              <a:rPr sz="1000" b="0" i="0">
                <a:solidFill>
                  <a:srgbClr val="5B6B78"/>
                </a:solidFill>
                <a:latin typeface="Consolas"/>
              </a:rPr>
              <a:t>GET /health, 5s client-side timeout per service</a:t>
            </a:r>
          </a:p>
        </p:txBody>
      </p:sp>
      <p:sp>
        <p:nvSpPr>
          <p:cNvPr id="23" name="TextBox 22"/>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04 / 16</a:t>
            </a:r>
          </a:p>
        </p:txBody>
      </p:sp>
      <p:sp>
        <p:nvSpPr>
          <p:cNvPr id="24" name="TextBox 23"/>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04 · FRONTEND</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One discriminated union instead of three loose booleans.</a:t>
            </a:r>
          </a:p>
        </p:txBody>
      </p:sp>
      <p:sp>
        <p:nvSpPr>
          <p:cNvPr id="6" name="Rounded Rectangle 5"/>
          <p:cNvSpPr/>
          <p:nvPr/>
        </p:nvSpPr>
        <p:spPr>
          <a:xfrm>
            <a:off x="640080" y="2286000"/>
            <a:ext cx="6035040" cy="1965960"/>
          </a:xfrm>
          <a:prstGeom prst="roundRect">
            <a:avLst>
              <a:gd name="adj" fmla="val 6000"/>
            </a:avLst>
          </a:prstGeom>
          <a:solidFill>
            <a:srgbClr val="EEF2F4"/>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a:lstStyle/>
          <a:p>
            <a:pPr algn="ctr">
              <a:lnSpc>
                <a:spcPct val="130000"/>
              </a:lnSpc>
            </a:pPr>
            <a:r>
              <a:rPr sz="1150" b="0" i="0">
                <a:solidFill>
                  <a:srgbClr val="8A97A2"/>
                </a:solidFill>
                <a:latin typeface="Consolas"/>
              </a:rPr>
              <a:t>// App.tsx — the entire UI state</a:t>
            </a:r>
          </a:p>
          <a:p>
            <a:pPr>
              <a:lnSpc>
                <a:spcPct val="130000"/>
              </a:lnSpc>
            </a:pPr>
            <a:r>
              <a:rPr sz="1150" b="0" i="0">
                <a:solidFill>
                  <a:srgbClr val="B5661F"/>
                </a:solidFill>
                <a:latin typeface="Consolas"/>
              </a:rPr>
              <a:t>type LoadState =</a:t>
            </a:r>
          </a:p>
          <a:p>
            <a:pPr>
              <a:lnSpc>
                <a:spcPct val="130000"/>
              </a:lnSpc>
            </a:pPr>
            <a:r>
              <a:rPr sz="1150" b="0" i="0">
                <a:solidFill>
                  <a:srgbClr val="B5661F"/>
                </a:solidFill>
                <a:latin typeface="Consolas"/>
              </a:rPr>
              <a:t>  | { status: "loading" }</a:t>
            </a:r>
          </a:p>
          <a:p>
            <a:pPr>
              <a:lnSpc>
                <a:spcPct val="130000"/>
              </a:lnSpc>
            </a:pPr>
            <a:r>
              <a:rPr sz="1150" b="0" i="0">
                <a:solidFill>
                  <a:srgbClr val="B5661F"/>
                </a:solidFill>
                <a:latin typeface="Consolas"/>
              </a:rPr>
              <a:t>  | { status: "loaded"; services: ServiceHealth[]; checkedAt: string }</a:t>
            </a:r>
          </a:p>
          <a:p>
            <a:pPr>
              <a:lnSpc>
                <a:spcPct val="130000"/>
              </a:lnSpc>
            </a:pPr>
            <a:r>
              <a:rPr sz="1150" b="0" i="0">
                <a:solidFill>
                  <a:srgbClr val="B5661F"/>
                </a:solidFill>
                <a:latin typeface="Consolas"/>
              </a:rPr>
              <a:t>  | { status: "error"; message: string };</a:t>
            </a:r>
          </a:p>
        </p:txBody>
      </p:sp>
      <p:sp>
        <p:nvSpPr>
          <p:cNvPr id="7" name="TextBox 6"/>
          <p:cNvSpPr txBox="1"/>
          <p:nvPr/>
        </p:nvSpPr>
        <p:spPr>
          <a:xfrm>
            <a:off x="640080" y="4434840"/>
            <a:ext cx="6035040" cy="1554480"/>
          </a:xfrm>
          <a:prstGeom prst="rect">
            <a:avLst/>
          </a:prstGeom>
          <a:noFill/>
        </p:spPr>
        <p:txBody>
          <a:bodyPr wrap="square" anchor="t" lIns="0" rIns="0" tIns="0" bIns="0">
            <a:spAutoFit/>
          </a:bodyPr>
          <a:lstStyle/>
          <a:p>
            <a:pPr algn="l">
              <a:lnSpc>
                <a:spcPct val="135000"/>
              </a:lnSpc>
            </a:pPr>
            <a:r>
              <a:rPr sz="1200" b="0" i="0">
                <a:solidFill>
                  <a:srgbClr val="5B6B78"/>
                </a:solidFill>
                <a:latin typeface="Calibri"/>
              </a:rPr>
              <a:t>Impossible to represent “loading AND error at once.” healthClient.ts folds three distinct failure causes — a thrown network error, a non-2xx response, and unparseable JSON — into one clear BackendUnavailableError.</a:t>
            </a:r>
          </a:p>
        </p:txBody>
      </p:sp>
      <p:sp>
        <p:nvSpPr>
          <p:cNvPr id="8" name="TextBox 7"/>
          <p:cNvSpPr txBox="1"/>
          <p:nvPr/>
        </p:nvSpPr>
        <p:spPr>
          <a:xfrm>
            <a:off x="7223760" y="2286000"/>
            <a:ext cx="4297680" cy="393192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Stack: </a:t>
            </a:r>
            <a:r>
              <a:rPr sz="1250" b="0" i="0">
                <a:solidFill>
                  <a:srgbClr val="5B6B78"/>
                </a:solidFill>
                <a:latin typeface="Calibri"/>
              </a:rPr>
              <a:t>React 18 + TypeScript, built with Vite, served by nginx.</a:t>
            </a:r>
          </a:p>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No router, no state library: </a:t>
            </a:r>
            <a:r>
              <a:rPr sz="1250" b="0" i="0">
                <a:solidFill>
                  <a:srgbClr val="5B6B78"/>
                </a:solidFill>
                <a:latin typeface="Calibri"/>
              </a:rPr>
              <a:t>one view is the whole problem; adding either would be unused ceremony.</a:t>
            </a:r>
          </a:p>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Four components, </a:t>
            </a:r>
            <a:r>
              <a:rPr sz="1250" b="0" i="0">
                <a:solidFill>
                  <a:srgbClr val="5B6B78"/>
                </a:solidFill>
                <a:latin typeface="Calibri"/>
              </a:rPr>
              <a:t>each one job: ServiceTable, StatusBadge, RefreshButton, BackendUnavailableBanner (role="alert").</a:t>
            </a:r>
          </a:p>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nginx does two things: </a:t>
            </a:r>
            <a:r>
              <a:rPr sz="1250" b="0" i="0">
                <a:solidFill>
                  <a:srgbClr val="5B6B78"/>
                </a:solidFill>
                <a:latin typeface="Calibri"/>
              </a:rPr>
              <a:t>SPA fallback, and reverse-proxies /api/ to the backend Service — the browser never learns the backend's address.</a:t>
            </a:r>
          </a:p>
        </p:txBody>
      </p:sp>
      <p:sp>
        <p:nvSpPr>
          <p:cNvPr id="9" name="TextBox 8"/>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05 / 16</a:t>
            </a:r>
          </a:p>
        </p:txBody>
      </p:sp>
      <p:sp>
        <p:nvSpPr>
          <p:cNvPr id="10" name="TextBox 9"/>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05 · BACKEND</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Four exception types, four operator-meaningful outcomes.</a:t>
            </a:r>
          </a:p>
        </p:txBody>
      </p:sp>
      <p:sp>
        <p:nvSpPr>
          <p:cNvPr id="6" name="Rounded Rectangle 5"/>
          <p:cNvSpPr/>
          <p:nvPr/>
        </p:nvSpPr>
        <p:spPr>
          <a:xfrm>
            <a:off x="640080" y="2286000"/>
            <a:ext cx="6035040" cy="2194560"/>
          </a:xfrm>
          <a:prstGeom prst="roundRect">
            <a:avLst>
              <a:gd name="adj" fmla="val 6000"/>
            </a:avLst>
          </a:prstGeom>
          <a:solidFill>
            <a:srgbClr val="EEF2F4"/>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46304"/>
          <a:lstStyle/>
          <a:p>
            <a:pPr algn="ctr">
              <a:lnSpc>
                <a:spcPct val="130000"/>
              </a:lnSpc>
            </a:pPr>
            <a:r>
              <a:rPr sz="1150" b="0" i="0">
                <a:solidFill>
                  <a:srgbClr val="B5661F"/>
                </a:solidFill>
                <a:latin typeface="Consolas"/>
              </a:rPr>
              <a:t>async def check_all_services(services, timeout):</a:t>
            </a:r>
          </a:p>
          <a:p>
            <a:pPr>
              <a:lnSpc>
                <a:spcPct val="130000"/>
              </a:lnSpc>
            </a:pPr>
            <a:r>
              <a:rPr sz="1150" b="0" i="0">
                <a:solidFill>
                  <a:srgbClr val="B5661F"/>
                </a:solidFill>
                <a:latin typeface="Consolas"/>
              </a:rPr>
              <a:t>  async with httpx.AsyncClient(timeout=timeout) as client:</a:t>
            </a:r>
          </a:p>
          <a:p>
            <a:pPr>
              <a:lnSpc>
                <a:spcPct val="130000"/>
              </a:lnSpc>
            </a:pPr>
            <a:r>
              <a:rPr sz="1150" b="0" i="0">
                <a:solidFill>
                  <a:srgbClr val="16212C"/>
                </a:solidFill>
                <a:latin typeface="Consolas"/>
              </a:rPr>
              <a:t>    results = await asyncio.gather(</a:t>
            </a:r>
          </a:p>
          <a:p>
            <a:pPr>
              <a:lnSpc>
                <a:spcPct val="130000"/>
              </a:lnSpc>
            </a:pPr>
            <a:r>
              <a:rPr sz="1150" b="0" i="0">
                <a:solidFill>
                  <a:srgbClr val="16212C"/>
                </a:solidFill>
                <a:latin typeface="Consolas"/>
              </a:rPr>
              <a:t>      *(check_service(client, s, timeout) for s in services)</a:t>
            </a:r>
          </a:p>
          <a:p>
            <a:pPr>
              <a:lnSpc>
                <a:spcPct val="130000"/>
              </a:lnSpc>
            </a:pPr>
            <a:r>
              <a:rPr sz="1150" b="0" i="0">
                <a:solidFill>
                  <a:srgbClr val="16212C"/>
                </a:solidFill>
                <a:latin typeface="Consolas"/>
              </a:rPr>
              <a:t>    )</a:t>
            </a:r>
          </a:p>
          <a:p>
            <a:pPr>
              <a:lnSpc>
                <a:spcPct val="130000"/>
              </a:lnSpc>
            </a:pPr>
            <a:r>
              <a:rPr sz="1150" b="0" i="0">
                <a:solidFill>
                  <a:srgbClr val="B5661F"/>
                </a:solidFill>
                <a:latin typeface="Consolas"/>
              </a:rPr>
              <a:t>  return list(results)</a:t>
            </a:r>
          </a:p>
        </p:txBody>
      </p:sp>
      <p:sp>
        <p:nvSpPr>
          <p:cNvPr id="7" name="TextBox 6"/>
          <p:cNvSpPr txBox="1"/>
          <p:nvPr/>
        </p:nvSpPr>
        <p:spPr>
          <a:xfrm>
            <a:off x="640080" y="4663440"/>
            <a:ext cx="6035040" cy="1371600"/>
          </a:xfrm>
          <a:prstGeom prst="rect">
            <a:avLst/>
          </a:prstGeom>
          <a:noFill/>
        </p:spPr>
        <p:txBody>
          <a:bodyPr wrap="square" anchor="t" lIns="0" rIns="0" tIns="0" bIns="0">
            <a:spAutoFit/>
          </a:bodyPr>
          <a:lstStyle/>
          <a:p>
            <a:pPr algn="l">
              <a:lnSpc>
                <a:spcPct val="135000"/>
              </a:lnSpc>
            </a:pPr>
            <a:r>
              <a:rPr sz="1200" b="0" i="0">
                <a:solidFill>
                  <a:srgbClr val="5B6B78"/>
                </a:solidFill>
                <a:latin typeface="Calibri"/>
              </a:rPr>
              <a:t>asyncio.gather bounds total wall time to the slowest single check, not the sum — and one failing dependency can never block the others from reporting.</a:t>
            </a:r>
          </a:p>
        </p:txBody>
      </p:sp>
      <p:sp>
        <p:nvSpPr>
          <p:cNvPr id="8" name="TextBox 7"/>
          <p:cNvSpPr txBox="1"/>
          <p:nvPr/>
        </p:nvSpPr>
        <p:spPr>
          <a:xfrm>
            <a:off x="7223760" y="2286000"/>
            <a:ext cx="4297680" cy="393192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FastAPI, fully async; </a:t>
            </a:r>
            <a:r>
              <a:rPr sz="1250" b="0" i="0">
                <a:solidFill>
                  <a:srgbClr val="5B6B78"/>
                </a:solidFill>
                <a:latin typeface="Calibri"/>
              </a:rPr>
              <a:t>config loaded once at startup (lifespan), not per request.</a:t>
            </a:r>
          </a:p>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Four distinct outcomes: </a:t>
            </a:r>
            <a:r>
              <a:rPr sz="1250" b="0" i="0">
                <a:solidFill>
                  <a:srgbClr val="5B6B78"/>
                </a:solidFill>
                <a:latin typeface="Calibri"/>
              </a:rPr>
              <a:t>TimeoutException, ConnectError, HTTPStatusError, and generic RequestError each map to a specific detail string.</a:t>
            </a:r>
          </a:p>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/healthz vs /readyz: </a:t>
            </a:r>
            <a:r>
              <a:rPr sz="1250" b="0" i="0">
                <a:solidFill>
                  <a:srgbClr val="5B6B78"/>
                </a:solidFill>
                <a:latin typeface="Calibri"/>
              </a:rPr>
              <a:t>liveness gets a container killed and restarted; readiness just pulls it from load-balancing.</a:t>
            </a:r>
          </a:p>
          <a:p>
            <a:pPr indent="-182880" marL="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Structured JSON logs </a:t>
            </a:r>
            <a:r>
              <a:rPr sz="1250" b="0" i="0">
                <a:solidFill>
                  <a:srgbClr val="5B6B78"/>
                </a:solidFill>
                <a:latin typeface="Calibri"/>
              </a:rPr>
              <a:t>throughout — a custom formatter, not free text — so a real log aggregator can query them.</a:t>
            </a:r>
          </a:p>
        </p:txBody>
      </p:sp>
      <p:sp>
        <p:nvSpPr>
          <p:cNvPr id="9" name="TextBox 8"/>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06 / 16</a:t>
            </a:r>
          </a:p>
        </p:txBody>
      </p:sp>
      <p:sp>
        <p:nvSpPr>
          <p:cNvPr id="10" name="TextBox 9"/>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06 · INFRASTRUCTURE AS CODE</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Three Terraform modules; two providers; no cloud account.</a:t>
            </a:r>
          </a:p>
        </p:txBody>
      </p:sp>
      <p:graphicFrame>
        <p:nvGraphicFramePr>
          <p:cNvPr id="6" name="Table 5"/>
          <p:cNvGraphicFramePr>
            <a:graphicFrameLocks noGrp="1"/>
          </p:cNvGraphicFramePr>
          <p:nvPr/>
        </p:nvGraphicFramePr>
        <p:xfrm>
          <a:off x="640080" y="2331720"/>
          <a:ext cx="5943600" cy="1828800"/>
        </p:xfrm>
        <a:graphic>
          <a:graphicData uri="http://schemas.openxmlformats.org/drawingml/2006/table">
            <a:tbl>
              <a:tblPr firstRow="0" bandRow="0">
                <a:tableStyleId>{5C22544A-7EE6-4342-B048-85BDC9FD1C3A}</a:tableStyleId>
              </a:tblPr>
              <a:tblGrid>
                <a:gridCol w="1463040"/>
                <a:gridCol w="4480560"/>
              </a:tblGrid>
              <a:tr h="457200">
                <a:tc>
                  <a:txBody>
                    <a:bodyPr/>
                    <a:lstStyle/>
                    <a:p>
                      <a:r>
                        <a:rPr sz="950" b="1" i="0" spc="50">
                          <a:solidFill>
                            <a:srgbClr val="8A97A2"/>
                          </a:solidFill>
                          <a:latin typeface="Consolas"/>
                        </a:rPr>
                        <a:t>MODULE</a:t>
                      </a:r>
                    </a:p>
                  </a:txBody>
                  <a:tcPr marL="73152" marR="73152" marT="36576" marB="36576" anchor="ctr">
                    <a:solidFill>
                      <a:srgbClr val="E9EEF1"/>
                    </a:solidFill>
                  </a:tcPr>
                </a:tc>
                <a:tc>
                  <a:txBody>
                    <a:bodyPr/>
                    <a:lstStyle/>
                    <a:p>
                      <a:r>
                        <a:rPr sz="950" b="1" i="0" spc="50">
                          <a:solidFill>
                            <a:srgbClr val="8A97A2"/>
                          </a:solidFill>
                          <a:latin typeface="Consolas"/>
                        </a:rPr>
                        <a:t>MANAGES</a:t>
                      </a:r>
                    </a:p>
                  </a:txBody>
                  <a:tcPr marL="73152" marR="73152" marT="36576" marB="36576" anchor="ctr">
                    <a:solidFill>
                      <a:srgbClr val="E9EEF1"/>
                    </a:solidFill>
                  </a:tcPr>
                </a:tc>
              </a:tr>
              <a:tr h="457200">
                <a:tc>
                  <a:txBody>
                    <a:bodyPr/>
                    <a:lstStyle/>
                    <a:p>
                      <a:r>
                        <a:rPr sz="1150" b="0" i="0">
                          <a:solidFill>
                            <a:srgbClr val="16212C"/>
                          </a:solidFill>
                          <a:latin typeface="Consolas"/>
                        </a:rPr>
                        <a:t>namespace</a:t>
                      </a:r>
                    </a:p>
                  </a:txBody>
                  <a:tcPr marL="73152" marR="73152" marT="36576" marB="36576" anchor="ctr">
                    <a:solidFill>
                      <a:srgbClr val="FFFFFF"/>
                    </a:solidFill>
                  </a:tcPr>
                </a:tc>
                <a:tc>
                  <a:txBody>
                    <a:bodyPr/>
                    <a:lstStyle/>
                    <a:p>
                      <a:r>
                        <a:rPr sz="1150" b="0" i="0">
                          <a:solidFill>
                            <a:srgbClr val="16212C"/>
                          </a:solidFill>
                          <a:latin typeface="Calibri"/>
                        </a:rPr>
                        <a:t>Restricted PSA labels, mesh injection label</a:t>
                      </a:r>
                    </a:p>
                  </a:txBody>
                  <a:tcPr marL="73152" marR="73152" marT="36576" marB="36576" anchor="ctr">
                    <a:solidFill>
                      <a:srgbClr val="FFFFFF"/>
                    </a:solidFill>
                  </a:tcPr>
                </a:tc>
              </a:tr>
              <a:tr h="457200">
                <a:tc>
                  <a:txBody>
                    <a:bodyPr/>
                    <a:lstStyle/>
                    <a:p>
                      <a:r>
                        <a:rPr sz="1150" b="0" i="0">
                          <a:solidFill>
                            <a:srgbClr val="16212C"/>
                          </a:solidFill>
                          <a:latin typeface="Consolas"/>
                        </a:rPr>
                        <a:t>app</a:t>
                      </a:r>
                    </a:p>
                  </a:txBody>
                  <a:tcPr marL="73152" marR="73152" marT="36576" marB="36576" anchor="ctr">
                    <a:solidFill>
                      <a:srgbClr val="FFFFFF"/>
                    </a:solidFill>
                  </a:tcPr>
                </a:tc>
                <a:tc>
                  <a:txBody>
                    <a:bodyPr/>
                    <a:lstStyle/>
                    <a:p>
                      <a:r>
                        <a:rPr sz="1150" b="0" i="0">
                          <a:solidFill>
                            <a:srgbClr val="16212C"/>
                          </a:solidFill>
                          <a:latin typeface="Calibri"/>
                        </a:rPr>
                        <a:t>ServiceAccounts, Deployments, Services, ConfigMap, NetworkPolicies</a:t>
                      </a:r>
                    </a:p>
                  </a:txBody>
                  <a:tcPr marL="73152" marR="73152" marT="36576" marB="36576" anchor="ctr">
                    <a:solidFill>
                      <a:srgbClr val="FFFFFF"/>
                    </a:solidFill>
                  </a:tcPr>
                </a:tc>
              </a:tr>
              <a:tr h="457200">
                <a:tc>
                  <a:txBody>
                    <a:bodyPr/>
                    <a:lstStyle/>
                    <a:p>
                      <a:r>
                        <a:rPr sz="1150" b="0" i="0">
                          <a:solidFill>
                            <a:srgbClr val="16212C"/>
                          </a:solidFill>
                          <a:latin typeface="Consolas"/>
                        </a:rPr>
                        <a:t>istio</a:t>
                      </a:r>
                    </a:p>
                  </a:txBody>
                  <a:tcPr marL="73152" marR="73152" marT="36576" marB="36576" anchor="ctr">
                    <a:solidFill>
                      <a:srgbClr val="FFFFFF"/>
                    </a:solidFill>
                  </a:tcPr>
                </a:tc>
                <a:tc>
                  <a:txBody>
                    <a:bodyPr/>
                    <a:lstStyle/>
                    <a:p>
                      <a:r>
                        <a:rPr sz="1150" b="0" i="0">
                          <a:solidFill>
                            <a:srgbClr val="16212C"/>
                          </a:solidFill>
                          <a:latin typeface="Calibri"/>
                        </a:rPr>
                        <a:t>Helm releases (base/cni/istiod/gateway) + mesh CRs via kubectl apply</a:t>
                      </a:r>
                    </a:p>
                  </a:txBody>
                  <a:tcPr marL="73152" marR="73152" marT="36576" marB="36576" anchor="ctr">
                    <a:solidFill>
                      <a:srgbClr val="FFFFFF"/>
                    </a:solidFill>
                  </a:tcPr>
                </a:tc>
              </a:tr>
            </a:tbl>
          </a:graphicData>
        </a:graphic>
      </p:graphicFrame>
      <p:sp>
        <p:nvSpPr>
          <p:cNvPr id="7" name="TextBox 6"/>
          <p:cNvSpPr txBox="1"/>
          <p:nvPr/>
        </p:nvSpPr>
        <p:spPr>
          <a:xfrm>
            <a:off x="7223760" y="2286000"/>
            <a:ext cx="4297680" cy="393192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Providers: </a:t>
            </a:r>
            <a:r>
              <a:rPr sz="1300" b="0" i="0">
                <a:solidFill>
                  <a:srgbClr val="5B6B78"/>
                </a:solidFill>
                <a:latin typeface="Calibri"/>
              </a:rPr>
              <a:t>hashicorp/kubernetes + hashicorp/helm only — no cloud provider block. Entirely local infrastructure.</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State is local </a:t>
            </a:r>
            <a:r>
              <a:rPr sz="1300" b="0" i="0">
                <a:solidFill>
                  <a:srgbClr val="5B6B78"/>
                </a:solidFill>
                <a:latin typeface="Calibri"/>
              </a:rPr>
              <a:t>and gitignored — correctly scoped for one operator and one disposable cluster, not an oversight.</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Two-phase apply: </a:t>
            </a:r>
            <a:r>
              <a:rPr sz="1300" b="0" i="0">
                <a:solidFill>
                  <a:srgbClr val="5B6B78"/>
                </a:solidFill>
                <a:latin typeface="Calibri"/>
              </a:rPr>
              <a:t>namespace + app + Istio control plane first, then mesh policies — Istio's CRDs don't exist until the first Helm releases succeed.</a:t>
            </a:r>
          </a:p>
        </p:txBody>
      </p:sp>
      <p:sp>
        <p:nvSpPr>
          <p:cNvPr id="8" name="TextBox 7"/>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07 / 16</a:t>
            </a:r>
          </a:p>
        </p:txBody>
      </p:sp>
      <p:sp>
        <p:nvSpPr>
          <p:cNvPr id="9" name="TextBox 8"/>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07 · KUBERNETES PLATFORM</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300" b="1" i="0">
                <a:solidFill>
                  <a:srgbClr val="16212C"/>
                </a:solidFill>
                <a:latin typeface="Consolas"/>
              </a:rPr>
              <a:t>kind: a real API server, entirely inside Docker —</a:t>
            </a:r>
          </a:p>
          <a:p>
            <a:pPr algn="l">
              <a:lnSpc>
                <a:spcPct val="105000"/>
              </a:lnSpc>
            </a:pPr>
            <a:r>
              <a:rPr sz="2300" b="1" i="0">
                <a:solidFill>
                  <a:srgbClr val="16212C"/>
                </a:solidFill>
                <a:latin typeface="Consolas"/>
              </a:rPr>
              <a:t>no cloud account required.</a:t>
            </a:r>
          </a:p>
        </p:txBody>
      </p:sp>
      <p:sp>
        <p:nvSpPr>
          <p:cNvPr id="6" name="TextBox 5"/>
          <p:cNvSpPr txBox="1"/>
          <p:nvPr/>
        </p:nvSpPr>
        <p:spPr>
          <a:xfrm>
            <a:off x="640080" y="2377440"/>
            <a:ext cx="6035040" cy="3749039"/>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350" b="1" i="0">
                <a:solidFill>
                  <a:srgbClr val="B5661F"/>
                </a:solidFill>
                <a:latin typeface="Calibri"/>
              </a:rPr>
              <a:t>  </a:t>
            </a:r>
            <a:r>
              <a:rPr sz="1350" b="1" i="0">
                <a:solidFill>
                  <a:srgbClr val="16212C"/>
                </a:solidFill>
                <a:latin typeface="Calibri"/>
              </a:rPr>
              <a:t>kind (Kubernetes IN Docker): </a:t>
            </a:r>
            <a:r>
              <a:rPr sz="1350" b="0" i="0">
                <a:solidFill>
                  <a:srgbClr val="5B6B78"/>
                </a:solidFill>
                <a:latin typeface="Calibri"/>
              </a:rPr>
              <a:t>each “node” is itself a Docker container running a full kubelet/containerd stack.</a:t>
            </a:r>
          </a:p>
          <a:p>
            <a:pPr indent="-182880" marL="182880">
              <a:lnSpc>
                <a:spcPct val="122000"/>
              </a:lnSpc>
              <a:spcAft>
                <a:spcPts val="1008"/>
              </a:spcAft>
              <a:buFont typeface="Arial"/>
              <a:buChar char="•"/>
            </a:pPr>
            <a:r>
              <a:rPr sz="1350" b="1" i="0">
                <a:solidFill>
                  <a:srgbClr val="B5661F"/>
                </a:solidFill>
                <a:latin typeface="Calibri"/>
              </a:rPr>
              <a:t>  </a:t>
            </a:r>
            <a:r>
              <a:rPr sz="1350" b="1" i="0">
                <a:solidFill>
                  <a:srgbClr val="16212C"/>
                </a:solidFill>
                <a:latin typeface="Calibri"/>
              </a:rPr>
              <a:t>Single control-plane node </a:t>
            </a:r>
            <a:r>
              <a:rPr sz="1350" b="0" i="0">
                <a:solidFill>
                  <a:srgbClr val="5B6B78"/>
                </a:solidFill>
                <a:latin typeface="Calibri"/>
              </a:rPr>
              <a:t>in this environment — sized to this host's memory budget. kind does not taint a lone control-plane node, so it stays schedulable.</a:t>
            </a:r>
          </a:p>
          <a:p>
            <a:pPr indent="-182880" marL="182880">
              <a:lnSpc>
                <a:spcPct val="122000"/>
              </a:lnSpc>
              <a:spcAft>
                <a:spcPts val="1008"/>
              </a:spcAft>
              <a:buFont typeface="Arial"/>
              <a:buChar char="•"/>
            </a:pPr>
            <a:r>
              <a:rPr sz="1350" b="1" i="0">
                <a:solidFill>
                  <a:srgbClr val="B5661F"/>
                </a:solidFill>
                <a:latin typeface="Calibri"/>
              </a:rPr>
              <a:t>  </a:t>
            </a:r>
            <a:r>
              <a:rPr sz="1350" b="1" i="0">
                <a:solidFill>
                  <a:srgbClr val="16212C"/>
                </a:solidFill>
                <a:latin typeface="Calibri"/>
              </a:rPr>
              <a:t>Exposure: </a:t>
            </a:r>
            <a:r>
              <a:rPr sz="1350" b="0" i="0">
                <a:solidFill>
                  <a:srgbClr val="5B6B78"/>
                </a:solidFill>
                <a:latin typeface="Calibri"/>
              </a:rPr>
              <a:t>the frontend's NodePort (30080) is mapped to localhost:8080 via kind-config.yaml — no LoadBalancer, no DNS, no cloud IP.</a:t>
            </a:r>
          </a:p>
        </p:txBody>
      </p:sp>
      <p:sp>
        <p:nvSpPr>
          <p:cNvPr id="7" name="Rounded Rectangle 6"/>
          <p:cNvSpPr/>
          <p:nvPr/>
        </p:nvSpPr>
        <p:spPr>
          <a:xfrm>
            <a:off x="7223760" y="2377440"/>
            <a:ext cx="4297680" cy="365760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4928" y="2523744"/>
            <a:ext cx="389534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KIND VS. A CONTAINER REGISTRY — NOT A PIPELINE</a:t>
            </a:r>
          </a:p>
        </p:txBody>
      </p:sp>
      <p:sp>
        <p:nvSpPr>
          <p:cNvPr id="9" name="TextBox 8"/>
          <p:cNvSpPr txBox="1"/>
          <p:nvPr/>
        </p:nvSpPr>
        <p:spPr>
          <a:xfrm>
            <a:off x="7424928" y="2834640"/>
            <a:ext cx="3895344" cy="3054096"/>
          </a:xfrm>
          <a:prstGeom prst="rect">
            <a:avLst/>
          </a:prstGeom>
          <a:noFill/>
        </p:spPr>
        <p:txBody>
          <a:bodyPr wrap="square" anchor="t" lIns="0" rIns="0" tIns="0" bIns="0">
            <a:spAutoFit/>
          </a:bodyPr>
          <a:lstStyle/>
          <a:p>
            <a:pPr algn="l">
              <a:lnSpc>
                <a:spcPct val="125000"/>
              </a:lnSpc>
            </a:pPr>
            <a:r>
              <a:rPr sz="1200" b="0" i="0">
                <a:solidFill>
                  <a:srgbClr val="16212C"/>
                </a:solidFill>
                <a:latin typeface="Calibri"/>
              </a:rPr>
              <a:t>Docker Hub is a registry: storage and distribution for built images. kind is a way to run real Kubernetes. This project never uses a registry — images are built locally and copied straight into kind's containerd with kind load docker-image. A registry only enters the picture once more than one machine needs the same image.</a:t>
            </a:r>
          </a:p>
        </p:txBody>
      </p:sp>
      <p:sp>
        <p:nvSpPr>
          <p:cNvPr id="10" name="TextBox 9"/>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08 / 16</a:t>
            </a:r>
          </a:p>
        </p:txBody>
      </p:sp>
      <p:sp>
        <p:nvSpPr>
          <p:cNvPr id="11" name="TextBox 10"/>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08 · DEPLOYMENT FLOW</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400" b="1" i="0">
                <a:solidFill>
                  <a:srgbClr val="16212C"/>
                </a:solidFill>
                <a:latin typeface="Consolas"/>
              </a:rPr>
              <a:t>Build local, load direct, apply in two phases.</a:t>
            </a:r>
          </a:p>
        </p:txBody>
      </p:sp>
      <p:sp>
        <p:nvSpPr>
          <p:cNvPr id="6" name="Rounded Rectangle 5"/>
          <p:cNvSpPr/>
          <p:nvPr/>
        </p:nvSpPr>
        <p:spPr>
          <a:xfrm>
            <a:off x="640080"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docker build</a:t>
            </a:r>
          </a:p>
          <a:p>
            <a:pPr algn="ctr">
              <a:lnSpc>
                <a:spcPct val="105000"/>
              </a:lnSpc>
            </a:pPr>
            <a:r>
              <a:rPr sz="1100" b="0" i="0">
                <a:solidFill>
                  <a:srgbClr val="16212C"/>
                </a:solidFill>
                <a:latin typeface="Consolas"/>
              </a:rPr>
              <a:t>(3 images, local only)</a:t>
            </a:r>
          </a:p>
        </p:txBody>
      </p:sp>
      <p:cxnSp>
        <p:nvCxnSpPr>
          <p:cNvPr id="7" name="Connector 6"/>
          <p:cNvCxnSpPr/>
          <p:nvPr/>
        </p:nvCxnSpPr>
        <p:spPr>
          <a:xfrm>
            <a:off x="2606039" y="3794760"/>
            <a:ext cx="256033"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62072"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kind load</a:t>
            </a:r>
          </a:p>
          <a:p>
            <a:pPr algn="ctr">
              <a:lnSpc>
                <a:spcPct val="105000"/>
              </a:lnSpc>
            </a:pPr>
            <a:r>
              <a:rPr sz="1100" b="0" i="0">
                <a:solidFill>
                  <a:srgbClr val="16212C"/>
                </a:solidFill>
                <a:latin typeface="Consolas"/>
              </a:rPr>
              <a:t>docker-image</a:t>
            </a:r>
          </a:p>
        </p:txBody>
      </p:sp>
      <p:cxnSp>
        <p:nvCxnSpPr>
          <p:cNvPr id="9" name="Connector 8"/>
          <p:cNvCxnSpPr/>
          <p:nvPr/>
        </p:nvCxnSpPr>
        <p:spPr>
          <a:xfrm>
            <a:off x="4828031" y="3794760"/>
            <a:ext cx="256033"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84064"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terraform apply</a:t>
            </a:r>
          </a:p>
          <a:p>
            <a:pPr algn="ctr">
              <a:lnSpc>
                <a:spcPct val="105000"/>
              </a:lnSpc>
            </a:pPr>
            <a:r>
              <a:rPr sz="1100" b="0" i="0">
                <a:solidFill>
                  <a:srgbClr val="16212C"/>
                </a:solidFill>
                <a:latin typeface="Consolas"/>
              </a:rPr>
              <a:t>namespace + app + istio</a:t>
            </a:r>
          </a:p>
        </p:txBody>
      </p:sp>
      <p:cxnSp>
        <p:nvCxnSpPr>
          <p:cNvPr id="11" name="Connector 10"/>
          <p:cNvCxnSpPr/>
          <p:nvPr/>
        </p:nvCxnSpPr>
        <p:spPr>
          <a:xfrm>
            <a:off x="7050023" y="3794760"/>
            <a:ext cx="256032"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06055"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terraform apply</a:t>
            </a:r>
          </a:p>
          <a:p>
            <a:pPr algn="ctr">
              <a:lnSpc>
                <a:spcPct val="105000"/>
              </a:lnSpc>
            </a:pPr>
            <a:r>
              <a:rPr sz="1100" b="0" i="0">
                <a:solidFill>
                  <a:srgbClr val="16212C"/>
                </a:solidFill>
                <a:latin typeface="Consolas"/>
              </a:rPr>
              <a:t>mesh policies + rollout</a:t>
            </a:r>
          </a:p>
        </p:txBody>
      </p:sp>
      <p:cxnSp>
        <p:nvCxnSpPr>
          <p:cNvPr id="13" name="Connector 12"/>
          <p:cNvCxnSpPr/>
          <p:nvPr/>
        </p:nvCxnSpPr>
        <p:spPr>
          <a:xfrm>
            <a:off x="9272015" y="3794760"/>
            <a:ext cx="256032"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528047"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100" b="1" i="0">
                <a:solidFill>
                  <a:srgbClr val="16212C"/>
                </a:solidFill>
                <a:latin typeface="Consolas"/>
              </a:rPr>
              <a:t>kubectl get pods</a:t>
            </a:r>
          </a:p>
          <a:p>
            <a:pPr algn="ctr">
              <a:lnSpc>
                <a:spcPct val="105000"/>
              </a:lnSpc>
            </a:pPr>
            <a:r>
              <a:rPr sz="1100" b="0" i="0">
                <a:solidFill>
                  <a:srgbClr val="16212C"/>
                </a:solidFill>
                <a:latin typeface="Consolas"/>
              </a:rPr>
              <a:t>verify 2/2 Ready</a:t>
            </a:r>
          </a:p>
        </p:txBody>
      </p:sp>
      <p:sp>
        <p:nvSpPr>
          <p:cNvPr id="15" name="TextBox 14"/>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09 / 16</a:t>
            </a:r>
          </a:p>
        </p:txBody>
      </p:sp>
      <p:sp>
        <p:nvSpPr>
          <p:cNvPr id="16" name="TextBox 15"/>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09 · SERVICE MESH</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200" b="1" i="0">
                <a:solidFill>
                  <a:srgbClr val="16212C"/>
                </a:solidFill>
                <a:latin typeface="Consolas"/>
              </a:rPr>
              <a:t>Istio: mTLS, identity-based authorization, and rate</a:t>
            </a:r>
          </a:p>
          <a:p>
            <a:pPr algn="l">
              <a:lnSpc>
                <a:spcPct val="105000"/>
              </a:lnSpc>
            </a:pPr>
            <a:r>
              <a:rPr sz="2200" b="1" i="0">
                <a:solidFill>
                  <a:srgbClr val="16212C"/>
                </a:solidFill>
                <a:latin typeface="Consolas"/>
              </a:rPr>
              <a:t>limiting from one control plane.</a:t>
            </a:r>
          </a:p>
        </p:txBody>
      </p:sp>
      <p:graphicFrame>
        <p:nvGraphicFramePr>
          <p:cNvPr id="6" name="Table 5"/>
          <p:cNvGraphicFramePr>
            <a:graphicFrameLocks noGrp="1"/>
          </p:cNvGraphicFramePr>
          <p:nvPr/>
        </p:nvGraphicFramePr>
        <p:xfrm>
          <a:off x="640080" y="2468880"/>
          <a:ext cx="6858000" cy="3566160"/>
        </p:xfrm>
        <a:graphic>
          <a:graphicData uri="http://schemas.openxmlformats.org/drawingml/2006/table">
            <a:tbl>
              <a:tblPr firstRow="0" bandRow="0">
                <a:tableStyleId>{5C22544A-7EE6-4342-B048-85BDC9FD1C3A}</a:tableStyleId>
              </a:tblPr>
              <a:tblGrid>
                <a:gridCol w="1828800"/>
                <a:gridCol w="5029200"/>
              </a:tblGrid>
              <a:tr h="594360">
                <a:tc>
                  <a:txBody>
                    <a:bodyPr/>
                    <a:lstStyle/>
                    <a:p>
                      <a:r>
                        <a:rPr sz="950" b="1" i="0" spc="50">
                          <a:solidFill>
                            <a:srgbClr val="8A97A2"/>
                          </a:solidFill>
                          <a:latin typeface="Consolas"/>
                        </a:rPr>
                        <a:t>COMPONENT</a:t>
                      </a:r>
                    </a:p>
                  </a:txBody>
                  <a:tcPr marL="73152" marR="73152" marT="36576" marB="36576" anchor="ctr">
                    <a:solidFill>
                      <a:srgbClr val="E9EEF1"/>
                    </a:solidFill>
                  </a:tcPr>
                </a:tc>
                <a:tc>
                  <a:txBody>
                    <a:bodyPr/>
                    <a:lstStyle/>
                    <a:p>
                      <a:r>
                        <a:rPr sz="950" b="1" i="0" spc="50">
                          <a:solidFill>
                            <a:srgbClr val="8A97A2"/>
                          </a:solidFill>
                          <a:latin typeface="Consolas"/>
                        </a:rPr>
                        <a:t>ROLE</a:t>
                      </a:r>
                    </a:p>
                  </a:txBody>
                  <a:tcPr marL="73152" marR="73152" marT="36576" marB="36576" anchor="ctr">
                    <a:solidFill>
                      <a:srgbClr val="E9EEF1"/>
                    </a:solidFill>
                  </a:tcPr>
                </a:tc>
              </a:tr>
              <a:tr h="594360">
                <a:tc>
                  <a:txBody>
                    <a:bodyPr/>
                    <a:lstStyle/>
                    <a:p>
                      <a:r>
                        <a:rPr sz="1100" b="0" i="0">
                          <a:solidFill>
                            <a:srgbClr val="16212C"/>
                          </a:solidFill>
                          <a:latin typeface="Consolas"/>
                        </a:rPr>
                        <a:t>istiod</a:t>
                      </a:r>
                    </a:p>
                  </a:txBody>
                  <a:tcPr marL="73152" marR="73152" marT="36576" marB="36576" anchor="ctr">
                    <a:solidFill>
                      <a:srgbClr val="FFFFFF"/>
                    </a:solidFill>
                  </a:tcPr>
                </a:tc>
                <a:tc>
                  <a:txBody>
                    <a:bodyPr/>
                    <a:lstStyle/>
                    <a:p>
                      <a:r>
                        <a:rPr sz="1100" b="0" i="0">
                          <a:solidFill>
                            <a:srgbClr val="16212C"/>
                          </a:solidFill>
                          <a:latin typeface="Calibri"/>
                        </a:rPr>
                        <a:t>Config distribution (xDS) + short-lived mTLS cert issuance</a:t>
                      </a:r>
                    </a:p>
                  </a:txBody>
                  <a:tcPr marL="73152" marR="73152" marT="36576" marB="36576" anchor="ctr">
                    <a:solidFill>
                      <a:srgbClr val="FFFFFF"/>
                    </a:solidFill>
                  </a:tcPr>
                </a:tc>
              </a:tr>
              <a:tr h="594360">
                <a:tc>
                  <a:txBody>
                    <a:bodyPr/>
                    <a:lstStyle/>
                    <a:p>
                      <a:r>
                        <a:rPr sz="1100" b="0" i="0">
                          <a:solidFill>
                            <a:srgbClr val="16212C"/>
                          </a:solidFill>
                          <a:latin typeface="Consolas"/>
                        </a:rPr>
                        <a:t>istio-cni</a:t>
                      </a:r>
                    </a:p>
                  </a:txBody>
                  <a:tcPr marL="73152" marR="73152" marT="36576" marB="36576" anchor="ctr">
                    <a:solidFill>
                      <a:srgbClr val="FFFFFF"/>
                    </a:solidFill>
                  </a:tcPr>
                </a:tc>
                <a:tc>
                  <a:txBody>
                    <a:bodyPr/>
                    <a:lstStyle/>
                    <a:p>
                      <a:r>
                        <a:rPr sz="1100" b="0" i="0">
                          <a:solidFill>
                            <a:srgbClr val="16212C"/>
                          </a:solidFill>
                          <a:latin typeface="Calibri"/>
                        </a:rPr>
                        <a:t>Node-level traffic redirection — no privileged per-pod init container</a:t>
                      </a:r>
                    </a:p>
                  </a:txBody>
                  <a:tcPr marL="73152" marR="73152" marT="36576" marB="36576" anchor="ctr">
                    <a:solidFill>
                      <a:srgbClr val="FFFFFF"/>
                    </a:solidFill>
                  </a:tcPr>
                </a:tc>
              </a:tr>
              <a:tr h="594360">
                <a:tc>
                  <a:txBody>
                    <a:bodyPr/>
                    <a:lstStyle/>
                    <a:p>
                      <a:r>
                        <a:rPr sz="1100" b="0" i="0">
                          <a:solidFill>
                            <a:srgbClr val="16212C"/>
                          </a:solidFill>
                          <a:latin typeface="Consolas"/>
                        </a:rPr>
                        <a:t>PeerAuthentication</a:t>
                      </a:r>
                    </a:p>
                  </a:txBody>
                  <a:tcPr marL="73152" marR="73152" marT="36576" marB="36576" anchor="ctr">
                    <a:solidFill>
                      <a:srgbClr val="FFFFFF"/>
                    </a:solidFill>
                  </a:tcPr>
                </a:tc>
                <a:tc>
                  <a:txBody>
                    <a:bodyPr/>
                    <a:lstStyle/>
                    <a:p>
                      <a:r>
                        <a:rPr sz="1100" b="0" i="0">
                          <a:solidFill>
                            <a:srgbClr val="16212C"/>
                          </a:solidFill>
                          <a:latin typeface="Calibri"/>
                        </a:rPr>
                        <a:t>STRICT mTLS mesh-wide; PERMISSIVE override on the NodePort-facing port</a:t>
                      </a:r>
                    </a:p>
                  </a:txBody>
                  <a:tcPr marL="73152" marR="73152" marT="36576" marB="36576" anchor="ctr">
                    <a:solidFill>
                      <a:srgbClr val="FFFFFF"/>
                    </a:solidFill>
                  </a:tcPr>
                </a:tc>
              </a:tr>
              <a:tr h="594360">
                <a:tc>
                  <a:txBody>
                    <a:bodyPr/>
                    <a:lstStyle/>
                    <a:p>
                      <a:r>
                        <a:rPr sz="1100" b="0" i="0">
                          <a:solidFill>
                            <a:srgbClr val="16212C"/>
                          </a:solidFill>
                          <a:latin typeface="Consolas"/>
                        </a:rPr>
                        <a:t>AuthorizationPolicy</a:t>
                      </a:r>
                    </a:p>
                  </a:txBody>
                  <a:tcPr marL="73152" marR="73152" marT="36576" marB="36576" anchor="ctr">
                    <a:solidFill>
                      <a:srgbClr val="FFFFFF"/>
                    </a:solidFill>
                  </a:tcPr>
                </a:tc>
                <a:tc>
                  <a:txBody>
                    <a:bodyPr/>
                    <a:lstStyle/>
                    <a:p>
                      <a:r>
                        <a:rPr sz="1100" b="0" i="0">
                          <a:solidFill>
                            <a:srgbClr val="16212C"/>
                          </a:solidFill>
                          <a:latin typeface="Calibri"/>
                        </a:rPr>
                        <a:t>SPIFFE-identity allow-list: frontend→backend, backend→each mock</a:t>
                      </a:r>
                    </a:p>
                  </a:txBody>
                  <a:tcPr marL="73152" marR="73152" marT="36576" marB="36576" anchor="ctr">
                    <a:solidFill>
                      <a:srgbClr val="FFFFFF"/>
                    </a:solidFill>
                  </a:tcPr>
                </a:tc>
              </a:tr>
              <a:tr h="594360">
                <a:tc>
                  <a:txBody>
                    <a:bodyPr/>
                    <a:lstStyle/>
                    <a:p>
                      <a:r>
                        <a:rPr sz="1100" b="0" i="0">
                          <a:solidFill>
                            <a:srgbClr val="16212C"/>
                          </a:solidFill>
                          <a:latin typeface="Consolas"/>
                        </a:rPr>
                        <a:t>EnvoyFilter</a:t>
                      </a:r>
                    </a:p>
                  </a:txBody>
                  <a:tcPr marL="73152" marR="73152" marT="36576" marB="36576" anchor="ctr">
                    <a:solidFill>
                      <a:srgbClr val="FFFFFF"/>
                    </a:solidFill>
                  </a:tcPr>
                </a:tc>
                <a:tc>
                  <a:txBody>
                    <a:bodyPr/>
                    <a:lstStyle/>
                    <a:p>
                      <a:r>
                        <a:rPr sz="1100" b="0" i="0">
                          <a:solidFill>
                            <a:srgbClr val="16212C"/>
                          </a:solidFill>
                          <a:latin typeface="Calibri"/>
                        </a:rPr>
                        <a:t>Local rate limit — 20 requests / 10s on backend's inbound listener</a:t>
                      </a:r>
                    </a:p>
                  </a:txBody>
                  <a:tcPr marL="73152" marR="73152" marT="36576" marB="36576" anchor="ctr">
                    <a:solidFill>
                      <a:srgbClr val="FFFFFF"/>
                    </a:solidFill>
                  </a:tcPr>
                </a:tc>
              </a:tr>
            </a:tbl>
          </a:graphicData>
        </a:graphic>
      </p:graphicFrame>
      <p:sp>
        <p:nvSpPr>
          <p:cNvPr id="7" name="Rounded Rectangle 6"/>
          <p:cNvSpPr/>
          <p:nvPr/>
        </p:nvSpPr>
        <p:spPr>
          <a:xfrm>
            <a:off x="8001000" y="2468880"/>
            <a:ext cx="3520440" cy="35661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2168" y="2615184"/>
            <a:ext cx="311810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“ISN'T THIS OVERKILL FOR THREE MOCKS?”</a:t>
            </a:r>
          </a:p>
        </p:txBody>
      </p:sp>
      <p:sp>
        <p:nvSpPr>
          <p:cNvPr id="9" name="TextBox 8"/>
          <p:cNvSpPr txBox="1"/>
          <p:nvPr/>
        </p:nvSpPr>
        <p:spPr>
          <a:xfrm>
            <a:off x="8202168" y="2926080"/>
            <a:ext cx="3118104" cy="2962656"/>
          </a:xfrm>
          <a:prstGeom prst="rect">
            <a:avLst/>
          </a:prstGeom>
          <a:noFill/>
        </p:spPr>
        <p:txBody>
          <a:bodyPr wrap="square" anchor="t" lIns="0" rIns="0" tIns="0" bIns="0">
            <a:spAutoFit/>
          </a:bodyPr>
          <a:lstStyle/>
          <a:p>
            <a:pPr algn="l">
              <a:lnSpc>
                <a:spcPct val="125000"/>
              </a:lnSpc>
            </a:pPr>
            <a:r>
              <a:rPr sz="1150" b="0" i="0">
                <a:solidFill>
                  <a:srgbClr val="16212C"/>
                </a:solidFill>
                <a:latin typeface="Calibri"/>
              </a:rPr>
              <a:t>Fair question. The exercise explicitly asks for rate limiting, and Istio delivers mTLS, authz, and rate limiting from one control plane rather than three bespoke mechanisms. The real value demonstrated is operating a mesh under genuine constraints — PSA, network policy interaction, cert lifecycle.</a:t>
            </a:r>
          </a:p>
        </p:txBody>
      </p:sp>
      <p:sp>
        <p:nvSpPr>
          <p:cNvPr id="10" name="TextBox 9"/>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10 / 16</a:t>
            </a:r>
          </a:p>
        </p:txBody>
      </p:sp>
      <p:sp>
        <p:nvSpPr>
          <p:cNvPr id="11" name="TextBox 10"/>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10 · SECURITY ARCHITECTURE</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300" b="1" i="0">
                <a:solidFill>
                  <a:srgbClr val="16212C"/>
                </a:solidFill>
                <a:latin typeface="Consolas"/>
              </a:rPr>
              <a:t>Five independent layers between a request and the application.</a:t>
            </a:r>
          </a:p>
        </p:txBody>
      </p:sp>
      <p:sp>
        <p:nvSpPr>
          <p:cNvPr id="6" name="Rounded Rectangle 5"/>
          <p:cNvSpPr/>
          <p:nvPr/>
        </p:nvSpPr>
        <p:spPr>
          <a:xfrm>
            <a:off x="2194560" y="2331720"/>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200" b="1" i="0">
                <a:solidFill>
                  <a:srgbClr val="16212C"/>
                </a:solidFill>
                <a:latin typeface="Calibri"/>
              </a:rPr>
              <a:t>Restricted Pod Security Standard — non-root · no priv-escalation · capabilities dropped · seccomp</a:t>
            </a:r>
          </a:p>
        </p:txBody>
      </p:sp>
      <p:cxnSp>
        <p:nvCxnSpPr>
          <p:cNvPr id="7" name="Connector 6"/>
          <p:cNvCxnSpPr/>
          <p:nvPr/>
        </p:nvCxnSpPr>
        <p:spPr>
          <a:xfrm>
            <a:off x="6080760" y="2953512"/>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4560" y="3081528"/>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200" b="1" i="0">
                <a:solidFill>
                  <a:srgbClr val="16212C"/>
                </a:solidFill>
                <a:latin typeface="Calibri"/>
              </a:rPr>
              <a:t>NetworkPolicy — default-deny + explicit allow-list</a:t>
            </a:r>
          </a:p>
        </p:txBody>
      </p:sp>
      <p:cxnSp>
        <p:nvCxnSpPr>
          <p:cNvPr id="9" name="Connector 8"/>
          <p:cNvCxnSpPr/>
          <p:nvPr/>
        </p:nvCxnSpPr>
        <p:spPr>
          <a:xfrm>
            <a:off x="6080760" y="3703320"/>
            <a:ext cx="0" cy="128015"/>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94560" y="3831336"/>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200" b="1" i="0">
                <a:solidFill>
                  <a:srgbClr val="16212C"/>
                </a:solidFill>
                <a:latin typeface="Calibri"/>
              </a:rPr>
              <a:t>Mutual TLS (STRICT) — every in-mesh hop encrypted + authenticated</a:t>
            </a:r>
          </a:p>
        </p:txBody>
      </p:sp>
      <p:cxnSp>
        <p:nvCxnSpPr>
          <p:cNvPr id="11" name="Connector 10"/>
          <p:cNvCxnSpPr/>
          <p:nvPr/>
        </p:nvCxnSpPr>
        <p:spPr>
          <a:xfrm>
            <a:off x="6080760" y="4453128"/>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94560" y="4581144"/>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200" b="1" i="0">
                <a:solidFill>
                  <a:srgbClr val="16212C"/>
                </a:solidFill>
                <a:latin typeface="Calibri"/>
              </a:rPr>
              <a:t>AuthorizationPolicy — SPIFFE workload identity, not IP</a:t>
            </a:r>
          </a:p>
        </p:txBody>
      </p:sp>
      <p:cxnSp>
        <p:nvCxnSpPr>
          <p:cNvPr id="13" name="Connector 12"/>
          <p:cNvCxnSpPr/>
          <p:nvPr/>
        </p:nvCxnSpPr>
        <p:spPr>
          <a:xfrm>
            <a:off x="6080760" y="5202936"/>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194560" y="5330952"/>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200" b="1" i="0">
                <a:solidFill>
                  <a:srgbClr val="16212C"/>
                </a:solidFill>
                <a:latin typeface="Calibri"/>
              </a:rPr>
              <a:t>Local rate limit — 20 req / 10s token bucket</a:t>
            </a:r>
          </a:p>
        </p:txBody>
      </p:sp>
      <p:cxnSp>
        <p:nvCxnSpPr>
          <p:cNvPr id="15" name="Connector 14"/>
          <p:cNvCxnSpPr/>
          <p:nvPr/>
        </p:nvCxnSpPr>
        <p:spPr>
          <a:xfrm>
            <a:off x="6080760" y="5952744"/>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194560" y="6080760"/>
            <a:ext cx="7772400" cy="621792"/>
          </a:xfrm>
          <a:prstGeom prst="roundRect">
            <a:avLst>
              <a:gd name="adj" fmla="val 12000"/>
            </a:avLst>
          </a:prstGeom>
          <a:solidFill>
            <a:srgbClr val="F4E3D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05000"/>
              </a:lnSpc>
            </a:pPr>
            <a:r>
              <a:rPr sz="1200" b="1" i="0">
                <a:solidFill>
                  <a:srgbClr val="16212C"/>
                </a:solidFill>
                <a:latin typeface="Calibri"/>
              </a:rPr>
              <a:t>Application container</a:t>
            </a:r>
          </a:p>
        </p:txBody>
      </p:sp>
      <p:sp>
        <p:nvSpPr>
          <p:cNvPr id="17" name="TextBox 16"/>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11 / 16</a:t>
            </a:r>
          </a:p>
        </p:txBody>
      </p:sp>
      <p:sp>
        <p:nvSpPr>
          <p:cNvPr id="18" name="TextBox 17"/>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11 · SECURITY TOOLING &amp; CI/CD</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200" b="1" i="0">
                <a:solidFill>
                  <a:srgbClr val="16212C"/>
                </a:solidFill>
                <a:latin typeface="Consolas"/>
              </a:rPr>
              <a:t>Three GitHub Actions workflows. Findings gate</a:t>
            </a:r>
          </a:p>
          <a:p>
            <a:pPr algn="l">
              <a:lnSpc>
                <a:spcPct val="105000"/>
              </a:lnSpc>
            </a:pPr>
            <a:r>
              <a:rPr sz="2200" b="1" i="0">
                <a:solidFill>
                  <a:srgbClr val="16212C"/>
                </a:solidFill>
                <a:latin typeface="Consolas"/>
              </a:rPr>
              <a:t>the build — they don't just get logged.</a:t>
            </a:r>
          </a:p>
        </p:txBody>
      </p:sp>
      <p:graphicFrame>
        <p:nvGraphicFramePr>
          <p:cNvPr id="6" name="Table 5"/>
          <p:cNvGraphicFramePr>
            <a:graphicFrameLocks noGrp="1"/>
          </p:cNvGraphicFramePr>
          <p:nvPr/>
        </p:nvGraphicFramePr>
        <p:xfrm>
          <a:off x="640080" y="2423160"/>
          <a:ext cx="6675120" cy="1874519"/>
        </p:xfrm>
        <a:graphic>
          <a:graphicData uri="http://schemas.openxmlformats.org/drawingml/2006/table">
            <a:tbl>
              <a:tblPr firstRow="0" bandRow="0">
                <a:tableStyleId>{5C22544A-7EE6-4342-B048-85BDC9FD1C3A}</a:tableStyleId>
              </a:tblPr>
              <a:tblGrid>
                <a:gridCol w="2286000"/>
                <a:gridCol w="4389120"/>
              </a:tblGrid>
              <a:tr h="468629">
                <a:tc>
                  <a:txBody>
                    <a:bodyPr/>
                    <a:lstStyle/>
                    <a:p>
                      <a:r>
                        <a:rPr sz="950" b="1" i="0" spc="50">
                          <a:solidFill>
                            <a:srgbClr val="8A97A2"/>
                          </a:solidFill>
                          <a:latin typeface="Consolas"/>
                        </a:rPr>
                        <a:t>WORKFLOW</a:t>
                      </a:r>
                    </a:p>
                  </a:txBody>
                  <a:tcPr marL="73152" marR="73152" marT="36576" marB="36576" anchor="ctr">
                    <a:solidFill>
                      <a:srgbClr val="E9EEF1"/>
                    </a:solidFill>
                  </a:tcPr>
                </a:tc>
                <a:tc>
                  <a:txBody>
                    <a:bodyPr/>
                    <a:lstStyle/>
                    <a:p>
                      <a:r>
                        <a:rPr sz="950" b="1" i="0" spc="50">
                          <a:solidFill>
                            <a:srgbClr val="8A97A2"/>
                          </a:solidFill>
                          <a:latin typeface="Consolas"/>
                        </a:rPr>
                        <a:t>GATES</a:t>
                      </a:r>
                    </a:p>
                  </a:txBody>
                  <a:tcPr marL="73152" marR="73152" marT="36576" marB="36576" anchor="ctr">
                    <a:solidFill>
                      <a:srgbClr val="E9EEF1"/>
                    </a:solidFill>
                  </a:tcPr>
                </a:tc>
              </a:tr>
              <a:tr h="468629">
                <a:tc>
                  <a:txBody>
                    <a:bodyPr/>
                    <a:lstStyle/>
                    <a:p>
                      <a:r>
                        <a:rPr sz="1050" b="0" i="0">
                          <a:solidFill>
                            <a:srgbClr val="16212C"/>
                          </a:solidFill>
                          <a:latin typeface="Consolas"/>
                        </a:rPr>
                        <a:t>ci.yml</a:t>
                      </a:r>
                    </a:p>
                  </a:txBody>
                  <a:tcPr marL="73152" marR="73152" marT="36576" marB="36576" anchor="ctr">
                    <a:solidFill>
                      <a:srgbClr val="FFFFFF"/>
                    </a:solidFill>
                  </a:tcPr>
                </a:tc>
                <a:tc>
                  <a:txBody>
                    <a:bodyPr/>
                    <a:lstStyle/>
                    <a:p>
                      <a:r>
                        <a:rPr sz="1050" b="0" i="0">
                          <a:solidFill>
                            <a:srgbClr val="16212C"/>
                          </a:solidFill>
                          <a:latin typeface="Calibri"/>
                        </a:rPr>
                        <a:t>ruff, black, mypy, pytest · eslint, build, vitest</a:t>
                      </a:r>
                    </a:p>
                  </a:txBody>
                  <a:tcPr marL="73152" marR="73152" marT="36576" marB="36576" anchor="ctr">
                    <a:solidFill>
                      <a:srgbClr val="FFFFFF"/>
                    </a:solidFill>
                  </a:tcPr>
                </a:tc>
              </a:tr>
              <a:tr h="468629">
                <a:tc>
                  <a:txBody>
                    <a:bodyPr/>
                    <a:lstStyle/>
                    <a:p>
                      <a:r>
                        <a:rPr sz="1050" b="0" i="0">
                          <a:solidFill>
                            <a:srgbClr val="16212C"/>
                          </a:solidFill>
                          <a:latin typeface="Consolas"/>
                        </a:rPr>
                        <a:t>security-scan.yml</a:t>
                      </a:r>
                    </a:p>
                  </a:txBody>
                  <a:tcPr marL="73152" marR="73152" marT="36576" marB="36576" anchor="ctr">
                    <a:solidFill>
                      <a:srgbClr val="FFFFFF"/>
                    </a:solidFill>
                  </a:tcPr>
                </a:tc>
                <a:tc>
                  <a:txBody>
                    <a:bodyPr/>
                    <a:lstStyle/>
                    <a:p>
                      <a:r>
                        <a:rPr sz="1050" b="0" i="0">
                          <a:solidFill>
                            <a:srgbClr val="16212C"/>
                          </a:solidFill>
                          <a:latin typeface="Calibri"/>
                        </a:rPr>
                        <a:t>gitleaks · Semgrep+Bandit · pip-audit+npm audit · tfsec · kube-linter</a:t>
                      </a:r>
                    </a:p>
                  </a:txBody>
                  <a:tcPr marL="73152" marR="73152" marT="36576" marB="36576" anchor="ctr">
                    <a:solidFill>
                      <a:srgbClr val="FFFFFF"/>
                    </a:solidFill>
                  </a:tcPr>
                </a:tc>
              </a:tr>
              <a:tr h="468632">
                <a:tc>
                  <a:txBody>
                    <a:bodyPr/>
                    <a:lstStyle/>
                    <a:p>
                      <a:r>
                        <a:rPr sz="1050" b="0" i="0">
                          <a:solidFill>
                            <a:srgbClr val="16212C"/>
                          </a:solidFill>
                          <a:latin typeface="Consolas"/>
                        </a:rPr>
                        <a:t>docker-build-scan.yml</a:t>
                      </a:r>
                    </a:p>
                  </a:txBody>
                  <a:tcPr marL="73152" marR="73152" marT="36576" marB="36576" anchor="ctr">
                    <a:solidFill>
                      <a:srgbClr val="FFFFFF"/>
                    </a:solidFill>
                  </a:tcPr>
                </a:tc>
                <a:tc>
                  <a:txBody>
                    <a:bodyPr/>
                    <a:lstStyle/>
                    <a:p>
                      <a:r>
                        <a:rPr sz="1050" b="0" i="0">
                          <a:solidFill>
                            <a:srgbClr val="16212C"/>
                          </a:solidFill>
                          <a:latin typeface="Calibri"/>
                        </a:rPr>
                        <a:t>Trivy (HIGH/CRITICAL) · SBOM via Syft, all 3 images</a:t>
                      </a:r>
                    </a:p>
                  </a:txBody>
                  <a:tcPr marL="73152" marR="73152" marT="36576" marB="36576" anchor="ctr">
                    <a:solidFill>
                      <a:srgbClr val="FFFFFF"/>
                    </a:solidFill>
                  </a:tcPr>
                </a:tc>
              </a:tr>
            </a:tbl>
          </a:graphicData>
        </a:graphic>
      </p:graphicFrame>
      <p:sp>
        <p:nvSpPr>
          <p:cNvPr id="7" name="Rounded Rectangle 6"/>
          <p:cNvSpPr/>
          <p:nvPr/>
        </p:nvSpPr>
        <p:spPr>
          <a:xfrm>
            <a:off x="640080" y="4526280"/>
            <a:ext cx="1344168"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gitleaks</a:t>
            </a:r>
          </a:p>
        </p:txBody>
      </p:sp>
      <p:sp>
        <p:nvSpPr>
          <p:cNvPr id="8" name="Rounded Rectangle 7"/>
          <p:cNvSpPr/>
          <p:nvPr/>
        </p:nvSpPr>
        <p:spPr>
          <a:xfrm>
            <a:off x="2093976" y="4526280"/>
            <a:ext cx="1216152"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Semgrep</a:t>
            </a:r>
          </a:p>
        </p:txBody>
      </p:sp>
      <p:sp>
        <p:nvSpPr>
          <p:cNvPr id="9" name="Rounded Rectangle 8"/>
          <p:cNvSpPr/>
          <p:nvPr/>
        </p:nvSpPr>
        <p:spPr>
          <a:xfrm>
            <a:off x="3419856" y="4526280"/>
            <a:ext cx="1088136"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Bandit</a:t>
            </a:r>
          </a:p>
        </p:txBody>
      </p:sp>
      <p:sp>
        <p:nvSpPr>
          <p:cNvPr id="10" name="Rounded Rectangle 9"/>
          <p:cNvSpPr/>
          <p:nvPr/>
        </p:nvSpPr>
        <p:spPr>
          <a:xfrm>
            <a:off x="4617720" y="4526280"/>
            <a:ext cx="1472184"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pip-audit</a:t>
            </a:r>
          </a:p>
        </p:txBody>
      </p:sp>
      <p:sp>
        <p:nvSpPr>
          <p:cNvPr id="11" name="Rounded Rectangle 10"/>
          <p:cNvSpPr/>
          <p:nvPr/>
        </p:nvSpPr>
        <p:spPr>
          <a:xfrm>
            <a:off x="640080" y="4965192"/>
            <a:ext cx="1472184"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npm audit</a:t>
            </a:r>
          </a:p>
        </p:txBody>
      </p:sp>
      <p:sp>
        <p:nvSpPr>
          <p:cNvPr id="12" name="Rounded Rectangle 11"/>
          <p:cNvSpPr/>
          <p:nvPr/>
        </p:nvSpPr>
        <p:spPr>
          <a:xfrm>
            <a:off x="2221992" y="4965192"/>
            <a:ext cx="960120"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tfsec</a:t>
            </a:r>
          </a:p>
        </p:txBody>
      </p:sp>
      <p:sp>
        <p:nvSpPr>
          <p:cNvPr id="13" name="Rounded Rectangle 12"/>
          <p:cNvSpPr/>
          <p:nvPr/>
        </p:nvSpPr>
        <p:spPr>
          <a:xfrm>
            <a:off x="3291840" y="4965192"/>
            <a:ext cx="1728216"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kube-linter</a:t>
            </a:r>
          </a:p>
        </p:txBody>
      </p:sp>
      <p:sp>
        <p:nvSpPr>
          <p:cNvPr id="14" name="Rounded Rectangle 13"/>
          <p:cNvSpPr/>
          <p:nvPr/>
        </p:nvSpPr>
        <p:spPr>
          <a:xfrm>
            <a:off x="5129784" y="4965192"/>
            <a:ext cx="960120"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Trivy</a:t>
            </a:r>
          </a:p>
        </p:txBody>
      </p:sp>
      <p:sp>
        <p:nvSpPr>
          <p:cNvPr id="15" name="Rounded Rectangle 14"/>
          <p:cNvSpPr/>
          <p:nvPr/>
        </p:nvSpPr>
        <p:spPr>
          <a:xfrm>
            <a:off x="640080" y="5404104"/>
            <a:ext cx="1472184"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Syft SBOM</a:t>
            </a:r>
          </a:p>
        </p:txBody>
      </p:sp>
      <p:sp>
        <p:nvSpPr>
          <p:cNvPr id="16" name="Rounded Rectangle 15"/>
          <p:cNvSpPr/>
          <p:nvPr/>
        </p:nvSpPr>
        <p:spPr>
          <a:xfrm>
            <a:off x="2221992" y="5404104"/>
            <a:ext cx="1600200"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lIns="0" tIns="0"/>
          <a:lstStyle/>
          <a:p>
            <a:pPr algn="ctr"/>
            <a:r>
              <a:rPr sz="1000" b="1" i="0">
                <a:solidFill>
                  <a:srgbClr val="5B6B78"/>
                </a:solidFill>
                <a:latin typeface="Consolas"/>
              </a:rPr>
              <a:t>Dependabot</a:t>
            </a:r>
          </a:p>
        </p:txBody>
      </p:sp>
      <p:sp>
        <p:nvSpPr>
          <p:cNvPr id="17" name="TextBox 16"/>
          <p:cNvSpPr txBox="1"/>
          <p:nvPr/>
        </p:nvSpPr>
        <p:spPr>
          <a:xfrm>
            <a:off x="8001000" y="2423160"/>
            <a:ext cx="3566160" cy="3749039"/>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150" b="1" i="0">
                <a:solidFill>
                  <a:srgbClr val="B5661F"/>
                </a:solidFill>
                <a:latin typeface="Calibri"/>
              </a:rPr>
              <a:t>  </a:t>
            </a:r>
            <a:r>
              <a:rPr sz="1150" b="1" i="0">
                <a:solidFill>
                  <a:srgbClr val="16212C"/>
                </a:solidFill>
                <a:latin typeface="Calibri"/>
              </a:rPr>
              <a:t>Every Action pinned </a:t>
            </a:r>
            <a:r>
              <a:rPr sz="1150" b="0" i="0">
                <a:solidFill>
                  <a:srgbClr val="5B6B78"/>
                </a:solidFill>
                <a:latin typeface="Calibri"/>
              </a:rPr>
              <a:t>to an exact version — never @main.</a:t>
            </a:r>
          </a:p>
          <a:p>
            <a:pPr indent="-182880" marL="182880">
              <a:lnSpc>
                <a:spcPct val="122000"/>
              </a:lnSpc>
              <a:spcAft>
                <a:spcPts val="1008"/>
              </a:spcAft>
              <a:buFont typeface="Arial"/>
              <a:buChar char="•"/>
            </a:pPr>
            <a:r>
              <a:rPr sz="1150" b="1" i="0">
                <a:solidFill>
                  <a:srgbClr val="B5661F"/>
                </a:solidFill>
                <a:latin typeface="Calibri"/>
              </a:rPr>
              <a:t>  </a:t>
            </a:r>
            <a:r>
              <a:rPr sz="1150" b="1" i="0">
                <a:solidFill>
                  <a:srgbClr val="16212C"/>
                </a:solidFill>
                <a:latin typeface="Calibri"/>
              </a:rPr>
              <a:t>Dependabot, </a:t>
            </a:r>
            <a:r>
              <a:rPr sz="1150" b="0" i="0">
                <a:solidFill>
                  <a:srgbClr val="5B6B78"/>
                </a:solidFill>
                <a:latin typeface="Calibri"/>
              </a:rPr>
              <a:t>five ecosystems, weekly.</a:t>
            </a:r>
          </a:p>
          <a:p>
            <a:pPr indent="-182880" marL="182880">
              <a:lnSpc>
                <a:spcPct val="122000"/>
              </a:lnSpc>
              <a:spcAft>
                <a:spcPts val="1008"/>
              </a:spcAft>
              <a:buFont typeface="Arial"/>
              <a:buChar char="•"/>
            </a:pPr>
            <a:r>
              <a:rPr sz="1150" b="1" i="0">
                <a:solidFill>
                  <a:srgbClr val="B5661F"/>
                </a:solidFill>
                <a:latin typeface="Calibri"/>
              </a:rPr>
              <a:t>  </a:t>
            </a:r>
            <a:r>
              <a:rPr sz="1150" b="1" i="0">
                <a:solidFill>
                  <a:srgbClr val="16212C"/>
                </a:solidFill>
                <a:latin typeface="Calibri"/>
              </a:rPr>
              <a:t>Two scoping decisions, </a:t>
            </a:r>
            <a:r>
              <a:rPr sz="1150" b="0" i="0">
                <a:solidFill>
                  <a:srgbClr val="5B6B78"/>
                </a:solidFill>
                <a:latin typeface="Calibri"/>
              </a:rPr>
              <a:t>both documented: npm audit --omit=dev and Trivy's ignore-unfixed.</a:t>
            </a:r>
          </a:p>
          <a:p>
            <a:pPr indent="-182880" marL="182880">
              <a:lnSpc>
                <a:spcPct val="122000"/>
              </a:lnSpc>
              <a:spcAft>
                <a:spcPts val="1008"/>
              </a:spcAft>
              <a:buFont typeface="Arial"/>
              <a:buChar char="•"/>
            </a:pPr>
            <a:r>
              <a:rPr sz="1150" b="1" i="0">
                <a:solidFill>
                  <a:srgbClr val="B5661F"/>
                </a:solidFill>
                <a:latin typeface="Calibri"/>
              </a:rPr>
              <a:t>  </a:t>
            </a:r>
            <a:r>
              <a:rPr sz="1150" b="1" i="0">
                <a:solidFill>
                  <a:srgbClr val="16212C"/>
                </a:solidFill>
                <a:latin typeface="Calibri"/>
              </a:rPr>
              <a:t>No CD job: </a:t>
            </a:r>
            <a:r>
              <a:rPr sz="1150" b="0" i="0">
                <a:solidFill>
                  <a:srgbClr val="5B6B78"/>
                </a:solidFill>
                <a:latin typeface="Calibri"/>
              </a:rPr>
              <a:t>a GitHub-hosted runner can't reach a laptop's kind cluster.</a:t>
            </a:r>
          </a:p>
        </p:txBody>
      </p:sp>
      <p:sp>
        <p:nvSpPr>
          <p:cNvPr id="18" name="TextBox 17"/>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12 / 16</a:t>
            </a:r>
          </a:p>
        </p:txBody>
      </p:sp>
      <p:sp>
        <p:nvSpPr>
          <p:cNvPr id="19" name="TextBox 18"/>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12 · COMPLIANCE &amp; STANDARDS ALIGNMENT</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300" b="1" i="0">
                <a:solidFill>
                  <a:srgbClr val="16212C"/>
                </a:solidFill>
                <a:latin typeface="Consolas"/>
              </a:rPr>
              <a:t>Referenced frameworks and standards —</a:t>
            </a:r>
          </a:p>
          <a:p>
            <a:pPr algn="l">
              <a:lnSpc>
                <a:spcPct val="105000"/>
              </a:lnSpc>
            </a:pPr>
            <a:r>
              <a:rPr sz="2300" b="1" i="0">
                <a:solidFill>
                  <a:srgbClr val="16212C"/>
                </a:solidFill>
                <a:latin typeface="Consolas"/>
              </a:rPr>
              <a:t>not a claimed certification.</a:t>
            </a:r>
          </a:p>
        </p:txBody>
      </p:sp>
      <p:graphicFrame>
        <p:nvGraphicFramePr>
          <p:cNvPr id="6" name="Table 5"/>
          <p:cNvGraphicFramePr>
            <a:graphicFrameLocks noGrp="1"/>
          </p:cNvGraphicFramePr>
          <p:nvPr/>
        </p:nvGraphicFramePr>
        <p:xfrm>
          <a:off x="640080" y="2377440"/>
          <a:ext cx="6675120" cy="3291840"/>
        </p:xfrm>
        <a:graphic>
          <a:graphicData uri="http://schemas.openxmlformats.org/drawingml/2006/table">
            <a:tbl>
              <a:tblPr firstRow="0" bandRow="0">
                <a:tableStyleId>{5C22544A-7EE6-4342-B048-85BDC9FD1C3A}</a:tableStyleId>
              </a:tblPr>
              <a:tblGrid>
                <a:gridCol w="1645920"/>
                <a:gridCol w="5029200"/>
              </a:tblGrid>
              <a:tr h="548640">
                <a:tc>
                  <a:txBody>
                    <a:bodyPr/>
                    <a:lstStyle/>
                    <a:p>
                      <a:r>
                        <a:rPr sz="950" b="1" i="0" spc="50">
                          <a:solidFill>
                            <a:srgbClr val="8A97A2"/>
                          </a:solidFill>
                          <a:latin typeface="Consolas"/>
                        </a:rPr>
                        <a:t>PILLAR</a:t>
                      </a:r>
                    </a:p>
                  </a:txBody>
                  <a:tcPr marL="73152" marR="73152" marT="36576" marB="36576" anchor="ctr">
                    <a:solidFill>
                      <a:srgbClr val="E9EEF1"/>
                    </a:solidFill>
                  </a:tcPr>
                </a:tc>
                <a:tc>
                  <a:txBody>
                    <a:bodyPr/>
                    <a:lstStyle/>
                    <a:p>
                      <a:r>
                        <a:rPr sz="950" b="1" i="0" spc="50">
                          <a:solidFill>
                            <a:srgbClr val="8A97A2"/>
                          </a:solidFill>
                          <a:latin typeface="Consolas"/>
                        </a:rPr>
                        <a:t>HOW IT'S ADDRESSED</a:t>
                      </a:r>
                    </a:p>
                  </a:txBody>
                  <a:tcPr marL="73152" marR="73152" marT="36576" marB="36576" anchor="ctr">
                    <a:solidFill>
                      <a:srgbClr val="E9EEF1"/>
                    </a:solidFill>
                  </a:tcPr>
                </a:tc>
              </a:tr>
              <a:tr h="548640">
                <a:tc>
                  <a:txBody>
                    <a:bodyPr/>
                    <a:lstStyle/>
                    <a:p>
                      <a:r>
                        <a:rPr sz="1100" b="0" i="0">
                          <a:solidFill>
                            <a:srgbClr val="16212C"/>
                          </a:solidFill>
                          <a:latin typeface="Consolas"/>
                        </a:rPr>
                        <a:t>Security</a:t>
                      </a:r>
                    </a:p>
                  </a:txBody>
                  <a:tcPr marL="73152" marR="73152" marT="36576" marB="36576" anchor="ctr">
                    <a:solidFill>
                      <a:srgbClr val="FFFFFF"/>
                    </a:solidFill>
                  </a:tcPr>
                </a:tc>
                <a:tc>
                  <a:txBody>
                    <a:bodyPr/>
                    <a:lstStyle/>
                    <a:p>
                      <a:r>
                        <a:rPr sz="1100" b="0" i="0">
                          <a:solidFill>
                            <a:srgbClr val="16212C"/>
                          </a:solidFill>
                          <a:latin typeface="Calibri"/>
                        </a:rPr>
                        <a:t>Shift-left scanning, mTLS, least privilege, default-deny networking</a:t>
                      </a:r>
                    </a:p>
                  </a:txBody>
                  <a:tcPr marL="73152" marR="73152" marT="36576" marB="36576" anchor="ctr">
                    <a:solidFill>
                      <a:srgbClr val="FFFFFF"/>
                    </a:solidFill>
                  </a:tcPr>
                </a:tc>
              </a:tr>
              <a:tr h="548640">
                <a:tc>
                  <a:txBody>
                    <a:bodyPr/>
                    <a:lstStyle/>
                    <a:p>
                      <a:r>
                        <a:rPr sz="1100" b="0" i="0">
                          <a:solidFill>
                            <a:srgbClr val="16212C"/>
                          </a:solidFill>
                          <a:latin typeface="Consolas"/>
                        </a:rPr>
                        <a:t>Reliability</a:t>
                      </a:r>
                    </a:p>
                  </a:txBody>
                  <a:tcPr marL="73152" marR="73152" marT="36576" marB="36576" anchor="ctr">
                    <a:solidFill>
                      <a:srgbClr val="FFFFFF"/>
                    </a:solidFill>
                  </a:tcPr>
                </a:tc>
                <a:tc>
                  <a:txBody>
                    <a:bodyPr/>
                    <a:lstStyle/>
                    <a:p>
                      <a:r>
                        <a:rPr sz="1100" b="0" i="0">
                          <a:solidFill>
                            <a:srgbClr val="16212C"/>
                          </a:solidFill>
                          <a:latin typeface="Calibri"/>
                        </a:rPr>
                        <a:t>Liveness/readiness split, resource limits, graceful degradation</a:t>
                      </a:r>
                    </a:p>
                  </a:txBody>
                  <a:tcPr marL="73152" marR="73152" marT="36576" marB="36576" anchor="ctr">
                    <a:solidFill>
                      <a:srgbClr val="FFFFFF"/>
                    </a:solidFill>
                  </a:tcPr>
                </a:tc>
              </a:tr>
              <a:tr h="548640">
                <a:tc>
                  <a:txBody>
                    <a:bodyPr/>
                    <a:lstStyle/>
                    <a:p>
                      <a:r>
                        <a:rPr sz="1100" b="0" i="0">
                          <a:solidFill>
                            <a:srgbClr val="16212C"/>
                          </a:solidFill>
                          <a:latin typeface="Consolas"/>
                        </a:rPr>
                        <a:t>Ops excellence</a:t>
                      </a:r>
                    </a:p>
                  </a:txBody>
                  <a:tcPr marL="73152" marR="73152" marT="36576" marB="36576" anchor="ctr">
                    <a:solidFill>
                      <a:srgbClr val="FFFFFF"/>
                    </a:solidFill>
                  </a:tcPr>
                </a:tc>
                <a:tc>
                  <a:txBody>
                    <a:bodyPr/>
                    <a:lstStyle/>
                    <a:p>
                      <a:r>
                        <a:rPr sz="1100" b="0" i="0">
                          <a:solidFill>
                            <a:srgbClr val="16212C"/>
                          </a:solidFill>
                          <a:latin typeface="Calibri"/>
                        </a:rPr>
                        <a:t>Structured logs, everything as code, two verified deploy paths</a:t>
                      </a:r>
                    </a:p>
                  </a:txBody>
                  <a:tcPr marL="73152" marR="73152" marT="36576" marB="36576" anchor="ctr">
                    <a:solidFill>
                      <a:srgbClr val="FFFFFF"/>
                    </a:solidFill>
                  </a:tcPr>
                </a:tc>
              </a:tr>
              <a:tr h="548640">
                <a:tc>
                  <a:txBody>
                    <a:bodyPr/>
                    <a:lstStyle/>
                    <a:p>
                      <a:r>
                        <a:rPr sz="1100" b="0" i="0">
                          <a:solidFill>
                            <a:srgbClr val="16212C"/>
                          </a:solidFill>
                          <a:latin typeface="Consolas"/>
                        </a:rPr>
                        <a:t>Performance</a:t>
                      </a:r>
                    </a:p>
                  </a:txBody>
                  <a:tcPr marL="73152" marR="73152" marT="36576" marB="36576" anchor="ctr">
                    <a:solidFill>
                      <a:srgbClr val="FFFFFF"/>
                    </a:solidFill>
                  </a:tcPr>
                </a:tc>
                <a:tc>
                  <a:txBody>
                    <a:bodyPr/>
                    <a:lstStyle/>
                    <a:p>
                      <a:r>
                        <a:rPr sz="1100" b="0" i="0">
                          <a:solidFill>
                            <a:srgbClr val="16212C"/>
                          </a:solidFill>
                          <a:latin typeface="Calibri"/>
                        </a:rPr>
                        <a:t>Concurrent timeout-bounded checks, slim multi-stage images</a:t>
                      </a:r>
                    </a:p>
                  </a:txBody>
                  <a:tcPr marL="73152" marR="73152" marT="36576" marB="36576" anchor="ctr">
                    <a:solidFill>
                      <a:srgbClr val="FFFFFF"/>
                    </a:solidFill>
                  </a:tcPr>
                </a:tc>
              </a:tr>
              <a:tr h="548640">
                <a:tc>
                  <a:txBody>
                    <a:bodyPr/>
                    <a:lstStyle/>
                    <a:p>
                      <a:r>
                        <a:rPr sz="1100" b="0" i="0">
                          <a:solidFill>
                            <a:srgbClr val="16212C"/>
                          </a:solidFill>
                          <a:latin typeface="Consolas"/>
                        </a:rPr>
                        <a:t>Cost</a:t>
                      </a:r>
                    </a:p>
                  </a:txBody>
                  <a:tcPr marL="73152" marR="73152" marT="36576" marB="36576" anchor="ctr">
                    <a:solidFill>
                      <a:srgbClr val="FFFFFF"/>
                    </a:solidFill>
                  </a:tcPr>
                </a:tc>
                <a:tc>
                  <a:txBody>
                    <a:bodyPr/>
                    <a:lstStyle/>
                    <a:p>
                      <a:r>
                        <a:rPr sz="1100" b="0" i="0">
                          <a:solidFill>
                            <a:srgbClr val="16212C"/>
                          </a:solidFill>
                          <a:latin typeface="Calibri"/>
                        </a:rPr>
                        <a:t>Minimal base images, explicit resource ceilings per workload</a:t>
                      </a:r>
                    </a:p>
                  </a:txBody>
                  <a:tcPr marL="73152" marR="73152" marT="36576" marB="36576" anchor="ctr">
                    <a:solidFill>
                      <a:srgbClr val="FFFFFF"/>
                    </a:solidFill>
                  </a:tcPr>
                </a:tc>
              </a:tr>
            </a:tbl>
          </a:graphicData>
        </a:graphic>
      </p:graphicFrame>
      <p:sp>
        <p:nvSpPr>
          <p:cNvPr id="7" name="Rounded Rectangle 6"/>
          <p:cNvSpPr/>
          <p:nvPr/>
        </p:nvSpPr>
        <p:spPr>
          <a:xfrm>
            <a:off x="8001000" y="2377440"/>
            <a:ext cx="3520440" cy="3749039"/>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2168" y="2523744"/>
            <a:ext cx="311810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STANDARDS THIS MAPS TO DIRECTLY</a:t>
            </a:r>
          </a:p>
        </p:txBody>
      </p:sp>
      <p:sp>
        <p:nvSpPr>
          <p:cNvPr id="9" name="TextBox 8"/>
          <p:cNvSpPr txBox="1"/>
          <p:nvPr/>
        </p:nvSpPr>
        <p:spPr>
          <a:xfrm>
            <a:off x="8202168" y="2834640"/>
            <a:ext cx="3118104" cy="3145535"/>
          </a:xfrm>
          <a:prstGeom prst="rect">
            <a:avLst/>
          </a:prstGeom>
          <a:noFill/>
        </p:spPr>
        <p:txBody>
          <a:bodyPr wrap="square" anchor="t" lIns="0" rIns="0" tIns="0" bIns="0">
            <a:spAutoFit/>
          </a:bodyPr>
          <a:lstStyle/>
          <a:p>
            <a:pPr algn="l">
              <a:lnSpc>
                <a:spcPct val="125000"/>
              </a:lnSpc>
            </a:pPr>
            <a:r>
              <a:rPr sz="1100" b="0" i="0">
                <a:solidFill>
                  <a:srgbClr val="16212C"/>
                </a:solidFill>
                <a:latin typeface="Calibri"/>
              </a:rPr>
              <a:t>• Kubernetes Pod Security Standards — restricted profile, enforced at admission</a:t>
            </a:r>
          </a:p>
          <a:p>
            <a:pPr algn="l">
              <a:lnSpc>
                <a:spcPct val="125000"/>
              </a:lnSpc>
            </a:pPr>
            <a:r>
              <a:rPr sz="1100" b="0" i="0">
                <a:solidFill>
                  <a:srgbClr val="16212C"/>
                </a:solidFill>
                <a:latin typeface="Calibri"/>
              </a:rPr>
              <a:t>• SPIFFE/SPIRE-style workload identity via Istio</a:t>
            </a:r>
          </a:p>
          <a:p>
            <a:pPr algn="l">
              <a:lnSpc>
                <a:spcPct val="125000"/>
              </a:lnSpc>
            </a:pPr>
            <a:r>
              <a:rPr sz="1100" b="0" i="0">
                <a:solidFill>
                  <a:srgbClr val="16212C"/>
                </a:solidFill>
                <a:latin typeface="Calibri"/>
              </a:rPr>
              <a:t>• OWASP-adjacent SAST via Semgrep + Bandit</a:t>
            </a:r>
          </a:p>
          <a:p>
            <a:pPr algn="l">
              <a:lnSpc>
                <a:spcPct val="125000"/>
              </a:lnSpc>
            </a:pPr>
            <a:r>
              <a:rPr sz="1100" b="0" i="0">
                <a:solidFill>
                  <a:srgbClr val="16212C"/>
                </a:solidFill>
                <a:latin typeface="Calibri"/>
              </a:rPr>
              <a:t>• SBOM generation (SPDX), per image</a:t>
            </a:r>
          </a:p>
          <a:p>
            <a:pPr algn="l">
              <a:lnSpc>
                <a:spcPct val="125000"/>
              </a:lnSpc>
            </a:pPr>
            <a:r>
              <a:rPr sz="1100" b="0" i="0">
                <a:solidFill>
                  <a:srgbClr val="16212C"/>
                </a:solidFill>
                <a:latin typeface="Calibri"/>
              </a:rPr>
              <a:t/>
            </a:r>
          </a:p>
          <a:p>
            <a:pPr algn="l">
              <a:lnSpc>
                <a:spcPct val="125000"/>
              </a:lnSpc>
            </a:pPr>
            <a:r>
              <a:rPr sz="1100" b="0" i="0">
                <a:solidFill>
                  <a:srgbClr val="16212C"/>
                </a:solidFill>
                <a:latin typeface="Calibri"/>
              </a:rPr>
              <a:t>No SOC 2 / PCI-DSS / ISO 27001 claim is made.</a:t>
            </a:r>
          </a:p>
        </p:txBody>
      </p:sp>
      <p:sp>
        <p:nvSpPr>
          <p:cNvPr id="10" name="TextBox 9"/>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13 / 16</a:t>
            </a:r>
          </a:p>
        </p:txBody>
      </p:sp>
      <p:sp>
        <p:nvSpPr>
          <p:cNvPr id="11" name="TextBox 10"/>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13 · INCIDENTS &amp; RESOLUTIONS</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200" b="1" i="0">
                <a:solidFill>
                  <a:srgbClr val="16212C"/>
                </a:solidFill>
                <a:latin typeface="Consolas"/>
              </a:rPr>
              <a:t>Real problems hit while operating this, not hypothetical ones.</a:t>
            </a:r>
          </a:p>
        </p:txBody>
      </p:sp>
      <p:sp>
        <p:nvSpPr>
          <p:cNvPr id="6" name="Rounded Rectangle 5"/>
          <p:cNvSpPr/>
          <p:nvPr/>
        </p:nvSpPr>
        <p:spPr>
          <a:xfrm>
            <a:off x="640080" y="2331720"/>
            <a:ext cx="292608" cy="292608"/>
          </a:xfrm>
          <a:prstGeom prst="roundRect">
            <a:avLst>
              <a:gd name="adj" fmla="val 25000"/>
            </a:avLst>
          </a:prstGeom>
          <a:solidFill>
            <a:srgbClr val="F4E3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a:lstStyle/>
          <a:p>
            <a:pPr algn="ctr"/>
            <a:r>
              <a:rPr sz="1100" b="1" i="0">
                <a:solidFill>
                  <a:srgbClr val="B5661F"/>
                </a:solidFill>
                <a:latin typeface="Consolas"/>
              </a:rPr>
              <a:t>1</a:t>
            </a:r>
          </a:p>
        </p:txBody>
      </p:sp>
      <p:sp>
        <p:nvSpPr>
          <p:cNvPr id="7" name="TextBox 6"/>
          <p:cNvSpPr txBox="1"/>
          <p:nvPr/>
        </p:nvSpPr>
        <p:spPr>
          <a:xfrm>
            <a:off x="1097280" y="2304288"/>
            <a:ext cx="10241280" cy="566928"/>
          </a:xfrm>
          <a:prstGeom prst="rect">
            <a:avLst/>
          </a:prstGeom>
          <a:noFill/>
        </p:spPr>
        <p:txBody>
          <a:bodyPr wrap="square" lIns="0" tIns="0">
            <a:spAutoFit/>
          </a:bodyPr>
          <a:lstStyle/>
          <a:p>
            <a:pPr>
              <a:lnSpc>
                <a:spcPct val="115000"/>
              </a:lnSpc>
            </a:pPr>
            <a:r>
              <a:rPr sz="1150" b="1" i="0">
                <a:solidFill>
                  <a:srgbClr val="16212C"/>
                </a:solidFill>
                <a:latin typeface="Calibri"/>
              </a:rPr>
              <a:t>PodSecurity rejected every workload — </a:t>
            </a:r>
            <a:r>
              <a:rPr sz="1150" b="0" i="0">
                <a:solidFill>
                  <a:srgbClr val="5B6B78"/>
                </a:solidFill>
                <a:latin typeface="Calibri"/>
              </a:rPr>
              <a:t>No security_context against a restricted namespace. Fixed with explicit non-root/no-priv-esc/dropped-capabilities blocks.</a:t>
            </a:r>
          </a:p>
        </p:txBody>
      </p:sp>
      <p:sp>
        <p:nvSpPr>
          <p:cNvPr id="8" name="Rounded Rectangle 7"/>
          <p:cNvSpPr/>
          <p:nvPr/>
        </p:nvSpPr>
        <p:spPr>
          <a:xfrm>
            <a:off x="640080" y="2990087"/>
            <a:ext cx="292608" cy="292608"/>
          </a:xfrm>
          <a:prstGeom prst="roundRect">
            <a:avLst>
              <a:gd name="adj" fmla="val 25000"/>
            </a:avLst>
          </a:prstGeom>
          <a:solidFill>
            <a:srgbClr val="F4E3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a:lstStyle/>
          <a:p>
            <a:pPr algn="ctr"/>
            <a:r>
              <a:rPr sz="1100" b="1" i="0">
                <a:solidFill>
                  <a:srgbClr val="B5661F"/>
                </a:solidFill>
                <a:latin typeface="Consolas"/>
              </a:rPr>
              <a:t>2</a:t>
            </a:r>
          </a:p>
        </p:txBody>
      </p:sp>
      <p:sp>
        <p:nvSpPr>
          <p:cNvPr id="9" name="TextBox 8"/>
          <p:cNvSpPr txBox="1"/>
          <p:nvPr/>
        </p:nvSpPr>
        <p:spPr>
          <a:xfrm>
            <a:off x="1097280" y="2962656"/>
            <a:ext cx="10241280" cy="566928"/>
          </a:xfrm>
          <a:prstGeom prst="rect">
            <a:avLst/>
          </a:prstGeom>
          <a:noFill/>
        </p:spPr>
        <p:txBody>
          <a:bodyPr wrap="square" lIns="0" tIns="0">
            <a:spAutoFit/>
          </a:bodyPr>
          <a:lstStyle/>
          <a:p>
            <a:pPr>
              <a:lnSpc>
                <a:spcPct val="115000"/>
              </a:lnSpc>
            </a:pPr>
            <a:r>
              <a:rPr sz="1150" b="1" i="0">
                <a:solidFill>
                  <a:srgbClr val="16212C"/>
                </a:solidFill>
                <a:latin typeface="Calibri"/>
              </a:rPr>
              <a:t>A mock service crash-looped forever — </a:t>
            </a:r>
            <a:r>
              <a:rPr sz="1150" b="0" i="0">
                <a:solidFill>
                  <a:srgbClr val="5B6B78"/>
                </a:solidFill>
                <a:latin typeface="Calibri"/>
              </a:rPr>
              <a:t>Its own liveness probe hit the same artificially slow endpoint the demo relies on. Fixed with TCP probes.</a:t>
            </a:r>
          </a:p>
        </p:txBody>
      </p:sp>
      <p:sp>
        <p:nvSpPr>
          <p:cNvPr id="10" name="Rounded Rectangle 9"/>
          <p:cNvSpPr/>
          <p:nvPr/>
        </p:nvSpPr>
        <p:spPr>
          <a:xfrm>
            <a:off x="640080" y="3648455"/>
            <a:ext cx="292608" cy="292608"/>
          </a:xfrm>
          <a:prstGeom prst="roundRect">
            <a:avLst>
              <a:gd name="adj" fmla="val 25000"/>
            </a:avLst>
          </a:prstGeom>
          <a:solidFill>
            <a:srgbClr val="F4E3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a:lstStyle/>
          <a:p>
            <a:pPr algn="ctr"/>
            <a:r>
              <a:rPr sz="1100" b="1" i="0">
                <a:solidFill>
                  <a:srgbClr val="B5661F"/>
                </a:solidFill>
                <a:latin typeface="Consolas"/>
              </a:rPr>
              <a:t>3</a:t>
            </a:r>
          </a:p>
        </p:txBody>
      </p:sp>
      <p:sp>
        <p:nvSpPr>
          <p:cNvPr id="11" name="TextBox 10"/>
          <p:cNvSpPr txBox="1"/>
          <p:nvPr/>
        </p:nvSpPr>
        <p:spPr>
          <a:xfrm>
            <a:off x="1097280" y="3621023"/>
            <a:ext cx="10241280" cy="566928"/>
          </a:xfrm>
          <a:prstGeom prst="rect">
            <a:avLst/>
          </a:prstGeom>
          <a:noFill/>
        </p:spPr>
        <p:txBody>
          <a:bodyPr wrap="square" lIns="0" tIns="0">
            <a:spAutoFit/>
          </a:bodyPr>
          <a:lstStyle/>
          <a:p>
            <a:pPr>
              <a:lnSpc>
                <a:spcPct val="115000"/>
              </a:lnSpc>
            </a:pPr>
            <a:r>
              <a:rPr sz="1150" b="1" i="0">
                <a:solidFill>
                  <a:srgbClr val="16212C"/>
                </a:solidFill>
                <a:latin typeface="Calibri"/>
              </a:rPr>
              <a:t>Sidecar injection incompatible with restricted PSA — </a:t>
            </a:r>
            <a:r>
              <a:rPr sz="1150" b="0" i="0">
                <a:solidFill>
                  <a:srgbClr val="5B6B78"/>
                </a:solidFill>
                <a:latin typeface="Calibri"/>
              </a:rPr>
              <a:t>istio-init needs root + NET_ADMIN. Fixed with the istio-cni plugin instead.</a:t>
            </a:r>
          </a:p>
        </p:txBody>
      </p:sp>
      <p:sp>
        <p:nvSpPr>
          <p:cNvPr id="12" name="Rounded Rectangle 11"/>
          <p:cNvSpPr/>
          <p:nvPr/>
        </p:nvSpPr>
        <p:spPr>
          <a:xfrm>
            <a:off x="640080" y="4306823"/>
            <a:ext cx="292608" cy="292608"/>
          </a:xfrm>
          <a:prstGeom prst="roundRect">
            <a:avLst>
              <a:gd name="adj" fmla="val 25000"/>
            </a:avLst>
          </a:prstGeom>
          <a:solidFill>
            <a:srgbClr val="F4E3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a:lstStyle/>
          <a:p>
            <a:pPr algn="ctr"/>
            <a:r>
              <a:rPr sz="1100" b="1" i="0">
                <a:solidFill>
                  <a:srgbClr val="B5661F"/>
                </a:solidFill>
                <a:latin typeface="Consolas"/>
              </a:rPr>
              <a:t>4</a:t>
            </a:r>
          </a:p>
        </p:txBody>
      </p:sp>
      <p:sp>
        <p:nvSpPr>
          <p:cNvPr id="13" name="TextBox 12"/>
          <p:cNvSpPr txBox="1"/>
          <p:nvPr/>
        </p:nvSpPr>
        <p:spPr>
          <a:xfrm>
            <a:off x="1097280" y="4279391"/>
            <a:ext cx="10241280" cy="566928"/>
          </a:xfrm>
          <a:prstGeom prst="rect">
            <a:avLst/>
          </a:prstGeom>
          <a:noFill/>
        </p:spPr>
        <p:txBody>
          <a:bodyPr wrap="square" lIns="0" tIns="0">
            <a:spAutoFit/>
          </a:bodyPr>
          <a:lstStyle/>
          <a:p>
            <a:pPr>
              <a:lnSpc>
                <a:spcPct val="115000"/>
              </a:lnSpc>
            </a:pPr>
            <a:r>
              <a:rPr sz="1150" b="1" i="0">
                <a:solidFill>
                  <a:srgbClr val="16212C"/>
                </a:solidFill>
                <a:latin typeface="Calibri"/>
              </a:rPr>
              <a:t>Sidecars couldn't reach istiod — </a:t>
            </a:r>
            <a:r>
              <a:rPr sz="1150" b="0" i="0">
                <a:solidFill>
                  <a:srgbClr val="5B6B78"/>
                </a:solidFill>
                <a:latin typeface="Calibri"/>
              </a:rPr>
              <a:t>Default-deny NetworkPolicy blocked cert/config sync. Fixed with an explicit egress rule.</a:t>
            </a:r>
          </a:p>
        </p:txBody>
      </p:sp>
      <p:sp>
        <p:nvSpPr>
          <p:cNvPr id="14" name="Rounded Rectangle 13"/>
          <p:cNvSpPr/>
          <p:nvPr/>
        </p:nvSpPr>
        <p:spPr>
          <a:xfrm>
            <a:off x="640080" y="4965191"/>
            <a:ext cx="292608" cy="292608"/>
          </a:xfrm>
          <a:prstGeom prst="roundRect">
            <a:avLst>
              <a:gd name="adj" fmla="val 25000"/>
            </a:avLst>
          </a:prstGeom>
          <a:solidFill>
            <a:srgbClr val="F4E3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a:lstStyle/>
          <a:p>
            <a:pPr algn="ctr"/>
            <a:r>
              <a:rPr sz="1100" b="1" i="0">
                <a:solidFill>
                  <a:srgbClr val="B5661F"/>
                </a:solidFill>
                <a:latin typeface="Consolas"/>
              </a:rPr>
              <a:t>5</a:t>
            </a:r>
          </a:p>
        </p:txBody>
      </p:sp>
      <p:sp>
        <p:nvSpPr>
          <p:cNvPr id="15" name="TextBox 14"/>
          <p:cNvSpPr txBox="1"/>
          <p:nvPr/>
        </p:nvSpPr>
        <p:spPr>
          <a:xfrm>
            <a:off x="1097280" y="4937759"/>
            <a:ext cx="10241280" cy="566928"/>
          </a:xfrm>
          <a:prstGeom prst="rect">
            <a:avLst/>
          </a:prstGeom>
          <a:noFill/>
        </p:spPr>
        <p:txBody>
          <a:bodyPr wrap="square" lIns="0" tIns="0">
            <a:spAutoFit/>
          </a:bodyPr>
          <a:lstStyle/>
          <a:p>
            <a:pPr>
              <a:lnSpc>
                <a:spcPct val="115000"/>
              </a:lnSpc>
            </a:pPr>
            <a:r>
              <a:rPr sz="1150" b="1" i="0">
                <a:solidFill>
                  <a:srgbClr val="16212C"/>
                </a:solidFill>
                <a:latin typeface="Calibri"/>
              </a:rPr>
              <a:t>Workload mTLS certs expired mid-project — </a:t>
            </a:r>
            <a:r>
              <a:rPr sz="1150" b="0" i="0">
                <a:solidFill>
                  <a:srgbClr val="5B6B78"/>
                </a:solidFill>
                <a:latin typeface="Calibri"/>
              </a:rPr>
              <a:t>Istio's 24h default TTL. Fixed via SECRET_TTL on istiod, extended to a week.</a:t>
            </a:r>
          </a:p>
        </p:txBody>
      </p:sp>
      <p:sp>
        <p:nvSpPr>
          <p:cNvPr id="16" name="Rounded Rectangle 15"/>
          <p:cNvSpPr/>
          <p:nvPr/>
        </p:nvSpPr>
        <p:spPr>
          <a:xfrm>
            <a:off x="640080" y="5623559"/>
            <a:ext cx="292608" cy="292608"/>
          </a:xfrm>
          <a:prstGeom prst="roundRect">
            <a:avLst>
              <a:gd name="adj" fmla="val 25000"/>
            </a:avLst>
          </a:prstGeom>
          <a:solidFill>
            <a:srgbClr val="F4E3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a:lstStyle/>
          <a:p>
            <a:pPr algn="ctr"/>
            <a:r>
              <a:rPr sz="1100" b="1" i="0">
                <a:solidFill>
                  <a:srgbClr val="B5661F"/>
                </a:solidFill>
                <a:latin typeface="Consolas"/>
              </a:rPr>
              <a:t>6</a:t>
            </a:r>
          </a:p>
        </p:txBody>
      </p:sp>
      <p:sp>
        <p:nvSpPr>
          <p:cNvPr id="17" name="TextBox 16"/>
          <p:cNvSpPr txBox="1"/>
          <p:nvPr/>
        </p:nvSpPr>
        <p:spPr>
          <a:xfrm>
            <a:off x="1097280" y="5596127"/>
            <a:ext cx="10241280" cy="566928"/>
          </a:xfrm>
          <a:prstGeom prst="rect">
            <a:avLst/>
          </a:prstGeom>
          <a:noFill/>
        </p:spPr>
        <p:txBody>
          <a:bodyPr wrap="square" lIns="0" tIns="0">
            <a:spAutoFit/>
          </a:bodyPr>
          <a:lstStyle/>
          <a:p>
            <a:pPr>
              <a:lnSpc>
                <a:spcPct val="115000"/>
              </a:lnSpc>
            </a:pPr>
            <a:r>
              <a:rPr sz="1150" b="1" i="0">
                <a:solidFill>
                  <a:srgbClr val="16212C"/>
                </a:solidFill>
                <a:latin typeface="Calibri"/>
              </a:rPr>
              <a:t>Host memory/CPU contention caused restart cycling — </a:t>
            </a:r>
            <a:r>
              <a:rPr sz="1150" b="0" i="0">
                <a:solidFill>
                  <a:srgbClr val="5B6B78"/>
                </a:solidFill>
                <a:latin typeface="Calibri"/>
              </a:rPr>
              <a:t>Reduced to a single-node cluster; widened probe timeouts and failure thresholds.</a:t>
            </a:r>
          </a:p>
        </p:txBody>
      </p:sp>
      <p:sp>
        <p:nvSpPr>
          <p:cNvPr id="18" name="TextBox 17"/>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14 / 16</a:t>
            </a:r>
          </a:p>
        </p:txBody>
      </p:sp>
      <p:sp>
        <p:nvSpPr>
          <p:cNvPr id="19" name="TextBox 18"/>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14 · PRODUCTION ROADMAP</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200" b="1" i="0">
                <a:solidFill>
                  <a:srgbClr val="16212C"/>
                </a:solidFill>
                <a:latin typeface="Consolas"/>
              </a:rPr>
              <a:t>What changes for a real, multi-tenant, enterprise deployment.</a:t>
            </a:r>
          </a:p>
        </p:txBody>
      </p:sp>
      <p:sp>
        <p:nvSpPr>
          <p:cNvPr id="6" name="TextBox 5"/>
          <p:cNvSpPr txBox="1"/>
          <p:nvPr/>
        </p:nvSpPr>
        <p:spPr>
          <a:xfrm>
            <a:off x="640080" y="2423160"/>
            <a:ext cx="5486400" cy="384048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Replicas &amp; autoscaling: </a:t>
            </a:r>
            <a:r>
              <a:rPr sz="1300" b="0" i="0">
                <a:solidFill>
                  <a:srgbClr val="5B6B78"/>
                </a:solidFill>
                <a:latin typeface="Calibri"/>
              </a:rPr>
              <a:t>real replica counts behind a HorizontalPodAutoscaler, plus a PodDisruptionBudget.</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Multi-node, multi-AZ: </a:t>
            </a:r>
            <a:r>
              <a:rPr sz="1300" b="0" i="0">
                <a:solidFill>
                  <a:srgbClr val="5B6B78"/>
                </a:solidFill>
                <a:latin typeface="Calibri"/>
              </a:rPr>
              <a:t>single-node here is a local memory-budget decision, not the target shape.</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A real registry + signing: </a:t>
            </a:r>
            <a:r>
              <a:rPr sz="1300" b="0" i="0">
                <a:solidFill>
                  <a:srgbClr val="5B6B78"/>
                </a:solidFill>
                <a:latin typeface="Calibri"/>
              </a:rPr>
              <a:t>push to ECR/GAR/GHCR, sign with cosign, verify at admission.</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CD, not just CI: </a:t>
            </a:r>
            <a:r>
              <a:rPr sz="1300" b="0" i="0">
                <a:solidFill>
                  <a:srgbClr val="5B6B78"/>
                </a:solidFill>
                <a:latin typeface="Calibri"/>
              </a:rPr>
              <a:t>a self-hosted runner or GitOps agent (Argo CD/Flux) with real promotion and rollback.</a:t>
            </a:r>
          </a:p>
        </p:txBody>
      </p:sp>
      <p:sp>
        <p:nvSpPr>
          <p:cNvPr id="7" name="TextBox 6"/>
          <p:cNvSpPr txBox="1"/>
          <p:nvPr/>
        </p:nvSpPr>
        <p:spPr>
          <a:xfrm>
            <a:off x="6492240" y="2423160"/>
            <a:ext cx="5029200" cy="3840480"/>
          </a:xfrm>
          <a:prstGeom prst="rect">
            <a:avLst/>
          </a:prstGeom>
          <a:noFill/>
        </p:spPr>
        <p:txBody>
          <a:bodyPr wrap="square" lIns="0" rIns="0" tIns="0" bIns="0">
            <a:spAutoFit/>
          </a:bodyPr>
          <a:lstStyle/>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Remote Terraform state: </a:t>
            </a:r>
            <a:r>
              <a:rPr sz="1300" b="0" i="0">
                <a:solidFill>
                  <a:srgbClr val="5B6B78"/>
                </a:solidFill>
                <a:latin typeface="Calibri"/>
              </a:rPr>
              <a:t>S3 + DynamoDB locking and SSE-KMS, or Terraform Cloud — split per environment.</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Observability beyond logs: </a:t>
            </a:r>
            <a:r>
              <a:rPr sz="1300" b="0" i="0">
                <a:solidFill>
                  <a:srgbClr val="5B6B78"/>
                </a:solidFill>
                <a:latin typeface="Calibri"/>
              </a:rPr>
              <a:t>Prometheus scraping Istio's sidecar metrics for free; distributed tracing via the same sidecars.</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Secrets management: </a:t>
            </a:r>
            <a:r>
              <a:rPr sz="1300" b="0" i="0">
                <a:solidFill>
                  <a:srgbClr val="5B6B78"/>
                </a:solidFill>
                <a:latin typeface="Calibri"/>
              </a:rPr>
              <a:t>External Secrets Operator or a cloud KMS-backed store, not a typed-in Kubernetes Secret.</a:t>
            </a:r>
          </a:p>
          <a:p>
            <a:pPr indent="-182880" marL="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DNS + TLS: </a:t>
            </a:r>
            <a:r>
              <a:rPr sz="1300" b="0" i="0">
                <a:solidFill>
                  <a:srgbClr val="5B6B78"/>
                </a:solidFill>
                <a:latin typeface="Calibri"/>
              </a:rPr>
              <a:t>a routable cluster, a LoadBalancer/Ingress, a real DNS record, and cert-manager + Let's Encrypt.</a:t>
            </a:r>
          </a:p>
        </p:txBody>
      </p:sp>
      <p:sp>
        <p:nvSpPr>
          <p:cNvPr id="8" name="TextBox 7"/>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15 / 16</a:t>
            </a:r>
          </a:p>
        </p:txBody>
      </p:sp>
      <p:sp>
        <p:nvSpPr>
          <p:cNvPr id="9" name="TextBox 8"/>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8229600" cy="320040"/>
          </a:xfrm>
          <a:prstGeom prst="rect">
            <a:avLst/>
          </a:prstGeom>
          <a:noFill/>
        </p:spPr>
        <p:txBody>
          <a:bodyPr wrap="square" anchor="t" lIns="0" rIns="0" tIns="0" bIns="0">
            <a:spAutoFit/>
          </a:bodyPr>
          <a:lstStyle/>
          <a:p>
            <a:pPr algn="l">
              <a:lnSpc>
                <a:spcPct val="100000"/>
              </a:lnSpc>
            </a:pPr>
            <a:r>
              <a:rPr sz="1100" b="1" i="0" spc="110">
                <a:solidFill>
                  <a:srgbClr val="B5661F"/>
                </a:solidFill>
                <a:latin typeface="Consolas"/>
              </a:rPr>
              <a:t>15 · CLOSING</a:t>
            </a:r>
          </a:p>
        </p:txBody>
      </p:sp>
      <p:sp>
        <p:nvSpPr>
          <p:cNvPr id="5" name="TextBox 4"/>
          <p:cNvSpPr txBox="1"/>
          <p:nvPr/>
        </p:nvSpPr>
        <p:spPr>
          <a:xfrm>
            <a:off x="640080" y="841248"/>
            <a:ext cx="10881360" cy="1005840"/>
          </a:xfrm>
          <a:prstGeom prst="rect">
            <a:avLst/>
          </a:prstGeom>
          <a:noFill/>
        </p:spPr>
        <p:txBody>
          <a:bodyPr wrap="square" anchor="t" lIns="0" rIns="0" tIns="0" bIns="0">
            <a:spAutoFit/>
          </a:bodyPr>
          <a:lstStyle/>
          <a:p>
            <a:pPr algn="l">
              <a:lnSpc>
                <a:spcPct val="105000"/>
              </a:lnSpc>
            </a:pPr>
            <a:r>
              <a:rPr sz="2600" b="1" i="0">
                <a:solidFill>
                  <a:srgbClr val="16212C"/>
                </a:solidFill>
                <a:latin typeface="Consolas"/>
              </a:rPr>
              <a:t>What this demonstrates, in one view.</a:t>
            </a:r>
          </a:p>
        </p:txBody>
      </p:sp>
      <p:sp>
        <p:nvSpPr>
          <p:cNvPr id="6" name="Rounded Rectangle 5"/>
          <p:cNvSpPr/>
          <p:nvPr/>
        </p:nvSpPr>
        <p:spPr>
          <a:xfrm>
            <a:off x="640080"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478024"/>
            <a:ext cx="220370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APPLICATION</a:t>
            </a:r>
          </a:p>
        </p:txBody>
      </p:sp>
      <p:sp>
        <p:nvSpPr>
          <p:cNvPr id="8" name="TextBox 7"/>
          <p:cNvSpPr txBox="1"/>
          <p:nvPr/>
        </p:nvSpPr>
        <p:spPr>
          <a:xfrm>
            <a:off x="841247" y="2788920"/>
            <a:ext cx="2203704" cy="1133855"/>
          </a:xfrm>
          <a:prstGeom prst="rect">
            <a:avLst/>
          </a:prstGeom>
          <a:noFill/>
        </p:spPr>
        <p:txBody>
          <a:bodyPr wrap="square" anchor="t" lIns="0" rIns="0" tIns="0" bIns="0">
            <a:spAutoFit/>
          </a:bodyPr>
          <a:lstStyle/>
          <a:p>
            <a:pPr algn="l">
              <a:lnSpc>
                <a:spcPct val="125000"/>
              </a:lnSpc>
            </a:pPr>
            <a:r>
              <a:rPr sz="1050" b="0" i="0">
                <a:solidFill>
                  <a:srgbClr val="16212C"/>
                </a:solidFill>
                <a:latin typeface="Calibri"/>
              </a:rPr>
              <a:t>Concurrent, timeout-bounded health checks with classified failures — correct, tested, stateless by design.</a:t>
            </a:r>
          </a:p>
        </p:txBody>
      </p:sp>
      <p:sp>
        <p:nvSpPr>
          <p:cNvPr id="9" name="Rounded Rectangle 8"/>
          <p:cNvSpPr/>
          <p:nvPr/>
        </p:nvSpPr>
        <p:spPr>
          <a:xfrm>
            <a:off x="3410712"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2478024"/>
            <a:ext cx="220370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PLATFORM</a:t>
            </a:r>
          </a:p>
        </p:txBody>
      </p:sp>
      <p:sp>
        <p:nvSpPr>
          <p:cNvPr id="11" name="TextBox 10"/>
          <p:cNvSpPr txBox="1"/>
          <p:nvPr/>
        </p:nvSpPr>
        <p:spPr>
          <a:xfrm>
            <a:off x="3611880" y="2788920"/>
            <a:ext cx="2203704" cy="1133855"/>
          </a:xfrm>
          <a:prstGeom prst="rect">
            <a:avLst/>
          </a:prstGeom>
          <a:noFill/>
        </p:spPr>
        <p:txBody>
          <a:bodyPr wrap="square" anchor="t" lIns="0" rIns="0" tIns="0" bIns="0">
            <a:spAutoFit/>
          </a:bodyPr>
          <a:lstStyle/>
          <a:p>
            <a:pPr algn="l">
              <a:lnSpc>
                <a:spcPct val="125000"/>
              </a:lnSpc>
            </a:pPr>
            <a:r>
              <a:rPr sz="1050" b="0" i="0">
                <a:solidFill>
                  <a:srgbClr val="16212C"/>
                </a:solidFill>
                <a:latin typeface="Calibri"/>
              </a:rPr>
              <a:t>Kubernetes via kind, Terraform-managed workloads and network policy, an Istio mesh enforcing mTLS and identity-based authz.</a:t>
            </a:r>
          </a:p>
        </p:txBody>
      </p:sp>
      <p:sp>
        <p:nvSpPr>
          <p:cNvPr id="12" name="Rounded Rectangle 11"/>
          <p:cNvSpPr/>
          <p:nvPr/>
        </p:nvSpPr>
        <p:spPr>
          <a:xfrm>
            <a:off x="6181344"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2478024"/>
            <a:ext cx="220370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SECURITY</a:t>
            </a:r>
          </a:p>
        </p:txBody>
      </p:sp>
      <p:sp>
        <p:nvSpPr>
          <p:cNvPr id="14" name="TextBox 13"/>
          <p:cNvSpPr txBox="1"/>
          <p:nvPr/>
        </p:nvSpPr>
        <p:spPr>
          <a:xfrm>
            <a:off x="6382512" y="2788920"/>
            <a:ext cx="2203704" cy="1133855"/>
          </a:xfrm>
          <a:prstGeom prst="rect">
            <a:avLst/>
          </a:prstGeom>
          <a:noFill/>
        </p:spPr>
        <p:txBody>
          <a:bodyPr wrap="square" anchor="t" lIns="0" rIns="0" tIns="0" bIns="0">
            <a:spAutoFit/>
          </a:bodyPr>
          <a:lstStyle/>
          <a:p>
            <a:pPr algn="l">
              <a:lnSpc>
                <a:spcPct val="125000"/>
              </a:lnSpc>
            </a:pPr>
            <a:r>
              <a:rPr sz="1050" b="0" i="0">
                <a:solidFill>
                  <a:srgbClr val="16212C"/>
                </a:solidFill>
                <a:latin typeface="Calibri"/>
              </a:rPr>
              <a:t>A shift-left pipeline that gates on real findings — secrets, SAST, SCA, IaC, container scanning, SBOM.</a:t>
            </a:r>
          </a:p>
        </p:txBody>
      </p:sp>
      <p:sp>
        <p:nvSpPr>
          <p:cNvPr id="15" name="Rounded Rectangle 14"/>
          <p:cNvSpPr/>
          <p:nvPr/>
        </p:nvSpPr>
        <p:spPr>
          <a:xfrm>
            <a:off x="8951976"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53144" y="2478024"/>
            <a:ext cx="2203704" cy="274320"/>
          </a:xfrm>
          <a:prstGeom prst="rect">
            <a:avLst/>
          </a:prstGeom>
          <a:noFill/>
        </p:spPr>
        <p:txBody>
          <a:bodyPr wrap="square" anchor="t" lIns="0" rIns="0" tIns="0" bIns="0">
            <a:spAutoFit/>
          </a:bodyPr>
          <a:lstStyle/>
          <a:p>
            <a:pPr algn="l">
              <a:lnSpc>
                <a:spcPct val="100000"/>
              </a:lnSpc>
            </a:pPr>
            <a:r>
              <a:rPr sz="1000" b="1" i="0" spc="80">
                <a:solidFill>
                  <a:srgbClr val="8A97A2"/>
                </a:solidFill>
                <a:latin typeface="Consolas"/>
              </a:rPr>
              <a:t>JUDGMENT</a:t>
            </a:r>
          </a:p>
        </p:txBody>
      </p:sp>
      <p:sp>
        <p:nvSpPr>
          <p:cNvPr id="17" name="TextBox 16"/>
          <p:cNvSpPr txBox="1"/>
          <p:nvPr/>
        </p:nvSpPr>
        <p:spPr>
          <a:xfrm>
            <a:off x="9153144" y="2788920"/>
            <a:ext cx="2203704" cy="1133855"/>
          </a:xfrm>
          <a:prstGeom prst="rect">
            <a:avLst/>
          </a:prstGeom>
          <a:noFill/>
        </p:spPr>
        <p:txBody>
          <a:bodyPr wrap="square" anchor="t" lIns="0" rIns="0" tIns="0" bIns="0">
            <a:spAutoFit/>
          </a:bodyPr>
          <a:lstStyle/>
          <a:p>
            <a:pPr algn="l">
              <a:lnSpc>
                <a:spcPct val="125000"/>
              </a:lnSpc>
            </a:pPr>
            <a:r>
              <a:rPr sz="1050" b="0" i="0">
                <a:solidFill>
                  <a:srgbClr val="16212C"/>
                </a:solidFill>
                <a:latin typeface="Calibri"/>
              </a:rPr>
              <a:t>Tradeoffs named out loud — local state, single-node, scoped CI gates — with a specific production path for each.</a:t>
            </a:r>
          </a:p>
        </p:txBody>
      </p:sp>
      <p:sp>
        <p:nvSpPr>
          <p:cNvPr id="18" name="Rounded Rectangle 17"/>
          <p:cNvSpPr/>
          <p:nvPr/>
        </p:nvSpPr>
        <p:spPr>
          <a:xfrm>
            <a:off x="640080"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4453128"/>
            <a:ext cx="2276856" cy="502920"/>
          </a:xfrm>
          <a:prstGeom prst="rect">
            <a:avLst/>
          </a:prstGeom>
          <a:noFill/>
        </p:spPr>
        <p:txBody>
          <a:bodyPr wrap="square" anchor="t" lIns="0" rIns="0" tIns="0" bIns="0">
            <a:spAutoFit/>
          </a:bodyPr>
          <a:lstStyle/>
          <a:p>
            <a:pPr algn="l">
              <a:lnSpc>
                <a:spcPct val="100000"/>
              </a:lnSpc>
            </a:pPr>
            <a:r>
              <a:rPr sz="2600" b="1" i="0">
                <a:solidFill>
                  <a:srgbClr val="B5661F"/>
                </a:solidFill>
                <a:latin typeface="Consolas"/>
              </a:rPr>
              <a:t>3</a:t>
            </a:r>
          </a:p>
        </p:txBody>
      </p:sp>
      <p:sp>
        <p:nvSpPr>
          <p:cNvPr id="20" name="TextBox 19"/>
          <p:cNvSpPr txBox="1"/>
          <p:nvPr/>
        </p:nvSpPr>
        <p:spPr>
          <a:xfrm>
            <a:off x="804671" y="4937760"/>
            <a:ext cx="2276856" cy="457200"/>
          </a:xfrm>
          <a:prstGeom prst="rect">
            <a:avLst/>
          </a:prstGeom>
          <a:noFill/>
        </p:spPr>
        <p:txBody>
          <a:bodyPr wrap="square" anchor="t" lIns="0" rIns="0" tIns="0" bIns="0">
            <a:spAutoFit/>
          </a:bodyPr>
          <a:lstStyle/>
          <a:p>
            <a:pPr algn="l">
              <a:lnSpc>
                <a:spcPct val="115000"/>
              </a:lnSpc>
            </a:pPr>
            <a:r>
              <a:rPr sz="1050" b="0" i="0">
                <a:solidFill>
                  <a:srgbClr val="5B6B78"/>
                </a:solidFill>
                <a:latin typeface="Calibri"/>
              </a:rPr>
              <a:t>CI/CD workflows</a:t>
            </a:r>
          </a:p>
        </p:txBody>
      </p:sp>
      <p:sp>
        <p:nvSpPr>
          <p:cNvPr id="21" name="Rounded Rectangle 20"/>
          <p:cNvSpPr/>
          <p:nvPr/>
        </p:nvSpPr>
        <p:spPr>
          <a:xfrm>
            <a:off x="3410712"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75304" y="4453128"/>
            <a:ext cx="2276856" cy="502920"/>
          </a:xfrm>
          <a:prstGeom prst="rect">
            <a:avLst/>
          </a:prstGeom>
          <a:noFill/>
        </p:spPr>
        <p:txBody>
          <a:bodyPr wrap="square" anchor="t" lIns="0" rIns="0" tIns="0" bIns="0">
            <a:spAutoFit/>
          </a:bodyPr>
          <a:lstStyle/>
          <a:p>
            <a:pPr algn="l">
              <a:lnSpc>
                <a:spcPct val="100000"/>
              </a:lnSpc>
            </a:pPr>
            <a:r>
              <a:rPr sz="2600" b="1" i="0">
                <a:solidFill>
                  <a:srgbClr val="B5661F"/>
                </a:solidFill>
                <a:latin typeface="Consolas"/>
              </a:rPr>
              <a:t>10</a:t>
            </a:r>
          </a:p>
        </p:txBody>
      </p:sp>
      <p:sp>
        <p:nvSpPr>
          <p:cNvPr id="23" name="TextBox 22"/>
          <p:cNvSpPr txBox="1"/>
          <p:nvPr/>
        </p:nvSpPr>
        <p:spPr>
          <a:xfrm>
            <a:off x="3575304" y="4937760"/>
            <a:ext cx="2276856" cy="457200"/>
          </a:xfrm>
          <a:prstGeom prst="rect">
            <a:avLst/>
          </a:prstGeom>
          <a:noFill/>
        </p:spPr>
        <p:txBody>
          <a:bodyPr wrap="square" anchor="t" lIns="0" rIns="0" tIns="0" bIns="0">
            <a:spAutoFit/>
          </a:bodyPr>
          <a:lstStyle/>
          <a:p>
            <a:pPr algn="l">
              <a:lnSpc>
                <a:spcPct val="115000"/>
              </a:lnSpc>
            </a:pPr>
            <a:r>
              <a:rPr sz="1050" b="0" i="0">
                <a:solidFill>
                  <a:srgbClr val="5B6B78"/>
                </a:solidFill>
                <a:latin typeface="Calibri"/>
              </a:rPr>
              <a:t>security tools gating the build</a:t>
            </a:r>
          </a:p>
        </p:txBody>
      </p:sp>
      <p:sp>
        <p:nvSpPr>
          <p:cNvPr id="24" name="Rounded Rectangle 23"/>
          <p:cNvSpPr/>
          <p:nvPr/>
        </p:nvSpPr>
        <p:spPr>
          <a:xfrm>
            <a:off x="6181344"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5936" y="4453128"/>
            <a:ext cx="2276856" cy="502920"/>
          </a:xfrm>
          <a:prstGeom prst="rect">
            <a:avLst/>
          </a:prstGeom>
          <a:noFill/>
        </p:spPr>
        <p:txBody>
          <a:bodyPr wrap="square" anchor="t" lIns="0" rIns="0" tIns="0" bIns="0">
            <a:spAutoFit/>
          </a:bodyPr>
          <a:lstStyle/>
          <a:p>
            <a:pPr algn="l">
              <a:lnSpc>
                <a:spcPct val="100000"/>
              </a:lnSpc>
            </a:pPr>
            <a:r>
              <a:rPr sz="2600" b="1" i="0">
                <a:solidFill>
                  <a:srgbClr val="B5661F"/>
                </a:solidFill>
                <a:latin typeface="Consolas"/>
              </a:rPr>
              <a:t>5</a:t>
            </a:r>
          </a:p>
        </p:txBody>
      </p:sp>
      <p:sp>
        <p:nvSpPr>
          <p:cNvPr id="26" name="TextBox 25"/>
          <p:cNvSpPr txBox="1"/>
          <p:nvPr/>
        </p:nvSpPr>
        <p:spPr>
          <a:xfrm>
            <a:off x="6345936" y="4937760"/>
            <a:ext cx="2276856" cy="457200"/>
          </a:xfrm>
          <a:prstGeom prst="rect">
            <a:avLst/>
          </a:prstGeom>
          <a:noFill/>
        </p:spPr>
        <p:txBody>
          <a:bodyPr wrap="square" anchor="t" lIns="0" rIns="0" tIns="0" bIns="0">
            <a:spAutoFit/>
          </a:bodyPr>
          <a:lstStyle/>
          <a:p>
            <a:pPr algn="l">
              <a:lnSpc>
                <a:spcPct val="115000"/>
              </a:lnSpc>
            </a:pPr>
            <a:r>
              <a:rPr sz="1050" b="0" i="0">
                <a:solidFill>
                  <a:srgbClr val="5B6B78"/>
                </a:solidFill>
                <a:latin typeface="Calibri"/>
              </a:rPr>
              <a:t>defense-in-depth layers</a:t>
            </a:r>
          </a:p>
        </p:txBody>
      </p:sp>
      <p:sp>
        <p:nvSpPr>
          <p:cNvPr id="27" name="Rounded Rectangle 26"/>
          <p:cNvSpPr/>
          <p:nvPr/>
        </p:nvSpPr>
        <p:spPr>
          <a:xfrm>
            <a:off x="8951976"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16568" y="4453128"/>
            <a:ext cx="2276856" cy="502920"/>
          </a:xfrm>
          <a:prstGeom prst="rect">
            <a:avLst/>
          </a:prstGeom>
          <a:noFill/>
        </p:spPr>
        <p:txBody>
          <a:bodyPr wrap="square" anchor="t" lIns="0" rIns="0" tIns="0" bIns="0">
            <a:spAutoFit/>
          </a:bodyPr>
          <a:lstStyle/>
          <a:p>
            <a:pPr algn="l">
              <a:lnSpc>
                <a:spcPct val="100000"/>
              </a:lnSpc>
            </a:pPr>
            <a:r>
              <a:rPr sz="2600" b="1" i="0">
                <a:solidFill>
                  <a:srgbClr val="B5661F"/>
                </a:solidFill>
                <a:latin typeface="Consolas"/>
              </a:rPr>
              <a:t>6</a:t>
            </a:r>
          </a:p>
        </p:txBody>
      </p:sp>
      <p:sp>
        <p:nvSpPr>
          <p:cNvPr id="29" name="TextBox 28"/>
          <p:cNvSpPr txBox="1"/>
          <p:nvPr/>
        </p:nvSpPr>
        <p:spPr>
          <a:xfrm>
            <a:off x="9116568" y="4937760"/>
            <a:ext cx="2276856" cy="457200"/>
          </a:xfrm>
          <a:prstGeom prst="rect">
            <a:avLst/>
          </a:prstGeom>
          <a:noFill/>
        </p:spPr>
        <p:txBody>
          <a:bodyPr wrap="square" anchor="t" lIns="0" rIns="0" tIns="0" bIns="0">
            <a:spAutoFit/>
          </a:bodyPr>
          <a:lstStyle/>
          <a:p>
            <a:pPr algn="l">
              <a:lnSpc>
                <a:spcPct val="115000"/>
              </a:lnSpc>
            </a:pPr>
            <a:r>
              <a:rPr sz="1050" b="0" i="0">
                <a:solidFill>
                  <a:srgbClr val="5B6B78"/>
                </a:solidFill>
                <a:latin typeface="Calibri"/>
              </a:rPr>
              <a:t>real incidents diagnosed &amp; fixed</a:t>
            </a:r>
          </a:p>
        </p:txBody>
      </p:sp>
      <p:sp>
        <p:nvSpPr>
          <p:cNvPr id="30" name="TextBox 29"/>
          <p:cNvSpPr txBox="1"/>
          <p:nvPr/>
        </p:nvSpPr>
        <p:spPr>
          <a:xfrm>
            <a:off x="10820095" y="6446520"/>
            <a:ext cx="1005840" cy="274320"/>
          </a:xfrm>
          <a:prstGeom prst="rect">
            <a:avLst/>
          </a:prstGeom>
          <a:noFill/>
        </p:spPr>
        <p:txBody>
          <a:bodyPr wrap="square" anchor="t" lIns="0" rIns="0" tIns="0" bIns="0">
            <a:spAutoFit/>
          </a:bodyPr>
          <a:lstStyle/>
          <a:p>
            <a:pPr algn="r">
              <a:lnSpc>
                <a:spcPct val="100000"/>
              </a:lnSpc>
            </a:pPr>
            <a:r>
              <a:rPr sz="900" b="0" i="0">
                <a:solidFill>
                  <a:srgbClr val="8A97A2"/>
                </a:solidFill>
                <a:latin typeface="Consolas"/>
              </a:rPr>
              <a:t>16 / 16</a:t>
            </a:r>
          </a:p>
        </p:txBody>
      </p:sp>
      <p:sp>
        <p:nvSpPr>
          <p:cNvPr id="31" name="TextBox 30"/>
          <p:cNvSpPr txBox="1"/>
          <p:nvPr/>
        </p:nvSpPr>
        <p:spPr>
          <a:xfrm>
            <a:off x="640080" y="6446520"/>
            <a:ext cx="3657600" cy="274320"/>
          </a:xfrm>
          <a:prstGeom prst="rect">
            <a:avLst/>
          </a:prstGeom>
          <a:noFill/>
        </p:spPr>
        <p:txBody>
          <a:bodyPr wrap="square" anchor="t" lIns="0" rIns="0" tIns="0" bIns="0">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